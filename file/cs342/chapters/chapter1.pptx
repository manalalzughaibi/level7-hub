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3"/>
  </p:notesMasterIdLst>
  <p:sldIdLst>
    <p:sldId id="257" r:id="rId2"/>
    <p:sldId id="258" r:id="rId3"/>
    <p:sldId id="260" r:id="rId4"/>
    <p:sldId id="279" r:id="rId5"/>
    <p:sldId id="261" r:id="rId6"/>
    <p:sldId id="297" r:id="rId7"/>
    <p:sldId id="280" r:id="rId8"/>
    <p:sldId id="281" r:id="rId9"/>
    <p:sldId id="282" r:id="rId10"/>
    <p:sldId id="283" r:id="rId11"/>
    <p:sldId id="285" r:id="rId12"/>
    <p:sldId id="286" r:id="rId13"/>
    <p:sldId id="287" r:id="rId14"/>
    <p:sldId id="288" r:id="rId15"/>
    <p:sldId id="290" r:id="rId16"/>
    <p:sldId id="292" r:id="rId17"/>
    <p:sldId id="293" r:id="rId18"/>
    <p:sldId id="294" r:id="rId19"/>
    <p:sldId id="554" r:id="rId20"/>
    <p:sldId id="556" r:id="rId21"/>
    <p:sldId id="555" r:id="rId22"/>
    <p:sldId id="557" r:id="rId23"/>
    <p:sldId id="295" r:id="rId24"/>
    <p:sldId id="296" r:id="rId25"/>
    <p:sldId id="298" r:id="rId26"/>
    <p:sldId id="299" r:id="rId27"/>
    <p:sldId id="300" r:id="rId28"/>
    <p:sldId id="301" r:id="rId29"/>
    <p:sldId id="306" r:id="rId30"/>
    <p:sldId id="553" r:id="rId31"/>
    <p:sldId id="558" r:id="rId32"/>
    <p:sldId id="559" r:id="rId33"/>
    <p:sldId id="319" r:id="rId34"/>
    <p:sldId id="320" r:id="rId35"/>
    <p:sldId id="563" r:id="rId36"/>
    <p:sldId id="564" r:id="rId37"/>
    <p:sldId id="565" r:id="rId38"/>
    <p:sldId id="321" r:id="rId39"/>
    <p:sldId id="323" r:id="rId40"/>
    <p:sldId id="322" r:id="rId41"/>
    <p:sldId id="328" r:id="rId42"/>
    <p:sldId id="329" r:id="rId43"/>
    <p:sldId id="330" r:id="rId44"/>
    <p:sldId id="326" r:id="rId45"/>
    <p:sldId id="337" r:id="rId46"/>
    <p:sldId id="338" r:id="rId47"/>
    <p:sldId id="339" r:id="rId48"/>
    <p:sldId id="340" r:id="rId49"/>
    <p:sldId id="341" r:id="rId50"/>
    <p:sldId id="342" r:id="rId51"/>
    <p:sldId id="343" r:id="rId52"/>
    <p:sldId id="344" r:id="rId53"/>
    <p:sldId id="345" r:id="rId54"/>
    <p:sldId id="514" r:id="rId55"/>
    <p:sldId id="515" r:id="rId56"/>
    <p:sldId id="516" r:id="rId57"/>
    <p:sldId id="517" r:id="rId58"/>
    <p:sldId id="518" r:id="rId59"/>
    <p:sldId id="519" r:id="rId60"/>
    <p:sldId id="520" r:id="rId61"/>
    <p:sldId id="521" r:id="rId62"/>
    <p:sldId id="522" r:id="rId63"/>
    <p:sldId id="523" r:id="rId64"/>
    <p:sldId id="524" r:id="rId65"/>
    <p:sldId id="525" r:id="rId66"/>
    <p:sldId id="526" r:id="rId67"/>
    <p:sldId id="527" r:id="rId68"/>
    <p:sldId id="528" r:id="rId69"/>
    <p:sldId id="529" r:id="rId70"/>
    <p:sldId id="530" r:id="rId71"/>
    <p:sldId id="531" r:id="rId72"/>
    <p:sldId id="532" r:id="rId73"/>
    <p:sldId id="533" r:id="rId74"/>
    <p:sldId id="534" r:id="rId75"/>
    <p:sldId id="535" r:id="rId76"/>
    <p:sldId id="536" r:id="rId77"/>
    <p:sldId id="537" r:id="rId78"/>
    <p:sldId id="538" r:id="rId79"/>
    <p:sldId id="539" r:id="rId80"/>
    <p:sldId id="540" r:id="rId81"/>
    <p:sldId id="541" r:id="rId82"/>
    <p:sldId id="542" r:id="rId83"/>
    <p:sldId id="543" r:id="rId84"/>
    <p:sldId id="544" r:id="rId85"/>
    <p:sldId id="545" r:id="rId86"/>
    <p:sldId id="546" r:id="rId87"/>
    <p:sldId id="547" r:id="rId88"/>
    <p:sldId id="548" r:id="rId89"/>
    <p:sldId id="549" r:id="rId90"/>
    <p:sldId id="550" r:id="rId91"/>
    <p:sldId id="551" r:id="rId92"/>
  </p:sldIdLst>
  <p:sldSz cx="12192000" cy="6858000"/>
  <p:notesSz cx="6858000" cy="9144000"/>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9" d="100"/>
          <a:sy n="69" d="100"/>
        </p:scale>
        <p:origin x="564" y="1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982E3E98-F584-4B37-BC27-3A545E804543}" type="datetimeFigureOut">
              <a:rPr lang="ar-SA" smtClean="0"/>
              <a:t>01/04/1448</a:t>
            </a:fld>
            <a:endParaRPr lang="ar-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8D624396-3925-45F1-B518-603D9531730E}" type="slidenum">
              <a:rPr lang="ar-SA" smtClean="0"/>
              <a:t>‹#›</a:t>
            </a:fld>
            <a:endParaRPr lang="ar-SA"/>
          </a:p>
        </p:txBody>
      </p:sp>
    </p:spTree>
    <p:extLst>
      <p:ext uri="{BB962C8B-B14F-4D97-AF65-F5344CB8AC3E}">
        <p14:creationId xmlns:p14="http://schemas.microsoft.com/office/powerpoint/2010/main" val="2978055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eb3beea3e5_7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eb3beea3e5_7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e873d12ea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e873d12ea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eb3beea3e5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eb3beea3e5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eb3beea3e5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eb3beea3e5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3610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Si </a:t>
            </a:r>
            <a:r>
              <a:rPr lang="en-US" dirty="0" err="1"/>
              <a:t>une</a:t>
            </a:r>
            <a:r>
              <a:rPr lang="en-US" dirty="0"/>
              <a:t> </a:t>
            </a:r>
            <a:r>
              <a:rPr lang="en-US" dirty="0" err="1"/>
              <a:t>methode</a:t>
            </a:r>
            <a:r>
              <a:rPr lang="en-US" dirty="0"/>
              <a:t> </a:t>
            </a:r>
            <a:r>
              <a:rPr lang="en-US" dirty="0" err="1"/>
              <a:t>redefinie</a:t>
            </a:r>
            <a:r>
              <a:rPr lang="en-US" dirty="0"/>
              <a:t> dans lawyer , on </a:t>
            </a:r>
            <a:r>
              <a:rPr lang="en-US" dirty="0" err="1"/>
              <a:t>peut</a:t>
            </a:r>
            <a:r>
              <a:rPr lang="en-US" dirty="0"/>
              <a:t> </a:t>
            </a:r>
            <a:r>
              <a:rPr lang="en-US" dirty="0" err="1"/>
              <a:t>lappeler</a:t>
            </a:r>
            <a:r>
              <a:rPr lang="en-US" dirty="0"/>
              <a:t> a travers ed </a:t>
            </a:r>
          </a:p>
          <a:p>
            <a:r>
              <a:rPr lang="en-US" dirty="0"/>
              <a:t>Si la </a:t>
            </a:r>
            <a:r>
              <a:rPr lang="en-US" dirty="0" err="1"/>
              <a:t>methode</a:t>
            </a:r>
            <a:r>
              <a:rPr lang="en-US" dirty="0"/>
              <a:t> </a:t>
            </a:r>
            <a:r>
              <a:rPr lang="en-US" dirty="0" err="1"/>
              <a:t>existe</a:t>
            </a:r>
            <a:r>
              <a:rPr lang="en-US" dirty="0"/>
              <a:t> </a:t>
            </a:r>
            <a:r>
              <a:rPr lang="en-US" dirty="0" err="1"/>
              <a:t>seulement</a:t>
            </a:r>
            <a:r>
              <a:rPr lang="en-US" dirty="0"/>
              <a:t> dans lawyer, on ne </a:t>
            </a:r>
            <a:r>
              <a:rPr lang="en-US" dirty="0" err="1"/>
              <a:t>peut</a:t>
            </a:r>
            <a:r>
              <a:rPr lang="en-US" dirty="0"/>
              <a:t> pas </a:t>
            </a:r>
            <a:r>
              <a:rPr lang="en-US" dirty="0" err="1"/>
              <a:t>lappeler</a:t>
            </a:r>
            <a:r>
              <a:rPr lang="en-US" dirty="0"/>
              <a:t> a travers ed </a:t>
            </a:r>
            <a:endParaRPr lang="ar-SA" dirty="0"/>
          </a:p>
        </p:txBody>
      </p:sp>
    </p:spTree>
    <p:extLst>
      <p:ext uri="{BB962C8B-B14F-4D97-AF65-F5344CB8AC3E}">
        <p14:creationId xmlns:p14="http://schemas.microsoft.com/office/powerpoint/2010/main" val="2695590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 name="Google Shape;11;p2"/>
          <p:cNvGrpSpPr/>
          <p:nvPr/>
        </p:nvGrpSpPr>
        <p:grpSpPr>
          <a:xfrm>
            <a:off x="1107190" y="1588342"/>
            <a:ext cx="994351" cy="61101"/>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 name="Google Shape;14;p2"/>
          <p:cNvSpPr txBox="1">
            <a:spLocks noGrp="1"/>
          </p:cNvSpPr>
          <p:nvPr>
            <p:ph type="ctrTitle"/>
          </p:nvPr>
        </p:nvSpPr>
        <p:spPr>
          <a:xfrm>
            <a:off x="972600" y="1763267"/>
            <a:ext cx="10250800" cy="22196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5600"/>
            </a:lvl1pPr>
            <a:lvl2pPr lvl="1">
              <a:spcBef>
                <a:spcPts val="0"/>
              </a:spcBef>
              <a:spcAft>
                <a:spcPts val="0"/>
              </a:spcAft>
              <a:buSzPts val="4200"/>
              <a:buNone/>
              <a:defRPr sz="5600"/>
            </a:lvl2pPr>
            <a:lvl3pPr lvl="2">
              <a:spcBef>
                <a:spcPts val="0"/>
              </a:spcBef>
              <a:spcAft>
                <a:spcPts val="0"/>
              </a:spcAft>
              <a:buSzPts val="4200"/>
              <a:buNone/>
              <a:defRPr sz="5600"/>
            </a:lvl3pPr>
            <a:lvl4pPr lvl="3">
              <a:spcBef>
                <a:spcPts val="0"/>
              </a:spcBef>
              <a:spcAft>
                <a:spcPts val="0"/>
              </a:spcAft>
              <a:buSzPts val="4200"/>
              <a:buNone/>
              <a:defRPr sz="5600"/>
            </a:lvl4pPr>
            <a:lvl5pPr lvl="4">
              <a:spcBef>
                <a:spcPts val="0"/>
              </a:spcBef>
              <a:spcAft>
                <a:spcPts val="0"/>
              </a:spcAft>
              <a:buSzPts val="4200"/>
              <a:buNone/>
              <a:defRPr sz="5600"/>
            </a:lvl5pPr>
            <a:lvl6pPr lvl="5">
              <a:spcBef>
                <a:spcPts val="0"/>
              </a:spcBef>
              <a:spcAft>
                <a:spcPts val="0"/>
              </a:spcAft>
              <a:buSzPts val="4200"/>
              <a:buNone/>
              <a:defRPr sz="5600"/>
            </a:lvl6pPr>
            <a:lvl7pPr lvl="6">
              <a:spcBef>
                <a:spcPts val="0"/>
              </a:spcBef>
              <a:spcAft>
                <a:spcPts val="0"/>
              </a:spcAft>
              <a:buSzPts val="4200"/>
              <a:buNone/>
              <a:defRPr sz="5600"/>
            </a:lvl7pPr>
            <a:lvl8pPr lvl="7">
              <a:spcBef>
                <a:spcPts val="0"/>
              </a:spcBef>
              <a:spcAft>
                <a:spcPts val="0"/>
              </a:spcAft>
              <a:buSzPts val="4200"/>
              <a:buNone/>
              <a:defRPr sz="5600"/>
            </a:lvl8pPr>
            <a:lvl9pPr lvl="8">
              <a:spcBef>
                <a:spcPts val="0"/>
              </a:spcBef>
              <a:spcAft>
                <a:spcPts val="0"/>
              </a:spcAft>
              <a:buSzPts val="4200"/>
              <a:buNone/>
              <a:defRPr sz="5600"/>
            </a:lvl9pPr>
          </a:lstStyle>
          <a:p>
            <a:endParaRPr/>
          </a:p>
        </p:txBody>
      </p:sp>
      <p:sp>
        <p:nvSpPr>
          <p:cNvPr id="15" name="Google Shape;15;p2"/>
          <p:cNvSpPr txBox="1">
            <a:spLocks noGrp="1"/>
          </p:cNvSpPr>
          <p:nvPr>
            <p:ph type="subTitle" idx="1"/>
          </p:nvPr>
        </p:nvSpPr>
        <p:spPr>
          <a:xfrm>
            <a:off x="972836" y="4230533"/>
            <a:ext cx="10250800" cy="721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2133"/>
            </a:lvl1pPr>
            <a:lvl2pPr lvl="1">
              <a:lnSpc>
                <a:spcPct val="100000"/>
              </a:lnSpc>
              <a:spcBef>
                <a:spcPts val="0"/>
              </a:spcBef>
              <a:spcAft>
                <a:spcPts val="0"/>
              </a:spcAft>
              <a:buSzPts val="1600"/>
              <a:buNone/>
              <a:defRPr sz="2133"/>
            </a:lvl2pPr>
            <a:lvl3pPr lvl="2">
              <a:lnSpc>
                <a:spcPct val="100000"/>
              </a:lnSpc>
              <a:spcBef>
                <a:spcPts val="0"/>
              </a:spcBef>
              <a:spcAft>
                <a:spcPts val="0"/>
              </a:spcAft>
              <a:buSzPts val="1600"/>
              <a:buNone/>
              <a:defRPr sz="2133"/>
            </a:lvl3pPr>
            <a:lvl4pPr lvl="3">
              <a:lnSpc>
                <a:spcPct val="100000"/>
              </a:lnSpc>
              <a:spcBef>
                <a:spcPts val="0"/>
              </a:spcBef>
              <a:spcAft>
                <a:spcPts val="0"/>
              </a:spcAft>
              <a:buSzPts val="1600"/>
              <a:buNone/>
              <a:defRPr sz="2133"/>
            </a:lvl4pPr>
            <a:lvl5pPr lvl="4">
              <a:lnSpc>
                <a:spcPct val="100000"/>
              </a:lnSpc>
              <a:spcBef>
                <a:spcPts val="0"/>
              </a:spcBef>
              <a:spcAft>
                <a:spcPts val="0"/>
              </a:spcAft>
              <a:buSzPts val="1600"/>
              <a:buNone/>
              <a:defRPr sz="2133"/>
            </a:lvl5pPr>
            <a:lvl6pPr lvl="5">
              <a:lnSpc>
                <a:spcPct val="100000"/>
              </a:lnSpc>
              <a:spcBef>
                <a:spcPts val="0"/>
              </a:spcBef>
              <a:spcAft>
                <a:spcPts val="0"/>
              </a:spcAft>
              <a:buSzPts val="1600"/>
              <a:buNone/>
              <a:defRPr sz="2133"/>
            </a:lvl6pPr>
            <a:lvl7pPr lvl="6">
              <a:lnSpc>
                <a:spcPct val="100000"/>
              </a:lnSpc>
              <a:spcBef>
                <a:spcPts val="0"/>
              </a:spcBef>
              <a:spcAft>
                <a:spcPts val="0"/>
              </a:spcAft>
              <a:buSzPts val="1600"/>
              <a:buNone/>
              <a:defRPr sz="2133"/>
            </a:lvl7pPr>
            <a:lvl8pPr lvl="7">
              <a:lnSpc>
                <a:spcPct val="100000"/>
              </a:lnSpc>
              <a:spcBef>
                <a:spcPts val="0"/>
              </a:spcBef>
              <a:spcAft>
                <a:spcPts val="0"/>
              </a:spcAft>
              <a:buSzPts val="1600"/>
              <a:buNone/>
              <a:defRPr sz="2133"/>
            </a:lvl8pPr>
            <a:lvl9pPr lvl="8">
              <a:lnSpc>
                <a:spcPct val="100000"/>
              </a:lnSpc>
              <a:spcBef>
                <a:spcPts val="0"/>
              </a:spcBef>
              <a:spcAft>
                <a:spcPts val="0"/>
              </a:spcAft>
              <a:buSzPts val="1600"/>
              <a:buNone/>
              <a:defRPr sz="2133"/>
            </a:lvl9pPr>
          </a:lstStyle>
          <a:p>
            <a:endParaRPr/>
          </a:p>
        </p:txBody>
      </p:sp>
      <p:sp>
        <p:nvSpPr>
          <p:cNvPr id="16" name="Google Shape;16;p2"/>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25100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1107190" y="1588342"/>
            <a:ext cx="994351" cy="61101"/>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 name="Google Shape;21;p3"/>
          <p:cNvSpPr txBox="1">
            <a:spLocks noGrp="1"/>
          </p:cNvSpPr>
          <p:nvPr>
            <p:ph type="title"/>
          </p:nvPr>
        </p:nvSpPr>
        <p:spPr>
          <a:xfrm>
            <a:off x="972600" y="1763267"/>
            <a:ext cx="10251200" cy="20248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endParaRPr/>
          </a:p>
        </p:txBody>
      </p:sp>
      <p:sp>
        <p:nvSpPr>
          <p:cNvPr id="22" name="Google Shape;22;p3"/>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73405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 name="Google Shape;25;p4"/>
          <p:cNvGrpSpPr/>
          <p:nvPr/>
        </p:nvGrpSpPr>
        <p:grpSpPr>
          <a:xfrm>
            <a:off x="1107190" y="1588342"/>
            <a:ext cx="994351" cy="61101"/>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 name="Google Shape;28;p4"/>
          <p:cNvSpPr txBox="1">
            <a:spLocks noGrp="1"/>
          </p:cNvSpPr>
          <p:nvPr>
            <p:ph type="title"/>
          </p:nvPr>
        </p:nvSpPr>
        <p:spPr>
          <a:xfrm>
            <a:off x="972600" y="1758200"/>
            <a:ext cx="10251600" cy="713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3467"/>
            </a:lvl1pPr>
            <a:lvl2pPr lvl="1">
              <a:spcBef>
                <a:spcPts val="0"/>
              </a:spcBef>
              <a:spcAft>
                <a:spcPts val="0"/>
              </a:spcAft>
              <a:buSzPts val="2600"/>
              <a:buNone/>
              <a:defRPr sz="3467"/>
            </a:lvl2pPr>
            <a:lvl3pPr lvl="2">
              <a:spcBef>
                <a:spcPts val="0"/>
              </a:spcBef>
              <a:spcAft>
                <a:spcPts val="0"/>
              </a:spcAft>
              <a:buSzPts val="2600"/>
              <a:buNone/>
              <a:defRPr sz="3467"/>
            </a:lvl3pPr>
            <a:lvl4pPr lvl="3">
              <a:spcBef>
                <a:spcPts val="0"/>
              </a:spcBef>
              <a:spcAft>
                <a:spcPts val="0"/>
              </a:spcAft>
              <a:buSzPts val="2600"/>
              <a:buNone/>
              <a:defRPr sz="3467"/>
            </a:lvl4pPr>
            <a:lvl5pPr lvl="4">
              <a:spcBef>
                <a:spcPts val="0"/>
              </a:spcBef>
              <a:spcAft>
                <a:spcPts val="0"/>
              </a:spcAft>
              <a:buSzPts val="2600"/>
              <a:buNone/>
              <a:defRPr sz="3467"/>
            </a:lvl5pPr>
            <a:lvl6pPr lvl="5">
              <a:spcBef>
                <a:spcPts val="0"/>
              </a:spcBef>
              <a:spcAft>
                <a:spcPts val="0"/>
              </a:spcAft>
              <a:buSzPts val="2600"/>
              <a:buNone/>
              <a:defRPr sz="3467"/>
            </a:lvl6pPr>
            <a:lvl7pPr lvl="6">
              <a:spcBef>
                <a:spcPts val="0"/>
              </a:spcBef>
              <a:spcAft>
                <a:spcPts val="0"/>
              </a:spcAft>
              <a:buSzPts val="2600"/>
              <a:buNone/>
              <a:defRPr sz="3467"/>
            </a:lvl7pPr>
            <a:lvl8pPr lvl="7">
              <a:spcBef>
                <a:spcPts val="0"/>
              </a:spcBef>
              <a:spcAft>
                <a:spcPts val="0"/>
              </a:spcAft>
              <a:buSzPts val="2600"/>
              <a:buNone/>
              <a:defRPr sz="3467"/>
            </a:lvl8pPr>
            <a:lvl9pPr lvl="8">
              <a:spcBef>
                <a:spcPts val="0"/>
              </a:spcBef>
              <a:spcAft>
                <a:spcPts val="0"/>
              </a:spcAft>
              <a:buSzPts val="2600"/>
              <a:buNone/>
              <a:defRPr sz="3467"/>
            </a:lvl9pPr>
          </a:lstStyle>
          <a:p>
            <a:endParaRPr/>
          </a:p>
        </p:txBody>
      </p:sp>
      <p:sp>
        <p:nvSpPr>
          <p:cNvPr id="29" name="Google Shape;29;p4"/>
          <p:cNvSpPr txBox="1">
            <a:spLocks noGrp="1"/>
          </p:cNvSpPr>
          <p:nvPr>
            <p:ph type="body" idx="1"/>
          </p:nvPr>
        </p:nvSpPr>
        <p:spPr>
          <a:xfrm>
            <a:off x="972600" y="2771833"/>
            <a:ext cx="10251600" cy="30148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35321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1"/>
        <p:cNvGrpSpPr/>
        <p:nvPr/>
      </p:nvGrpSpPr>
      <p:grpSpPr>
        <a:xfrm>
          <a:off x="0" y="0"/>
          <a:ext cx="0" cy="0"/>
          <a:chOff x="0" y="0"/>
          <a:chExt cx="0" cy="0"/>
        </a:xfrm>
      </p:grpSpPr>
      <p:sp>
        <p:nvSpPr>
          <p:cNvPr id="32" name="Google Shape;32;p5"/>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3" name="Google Shape;33;p5"/>
          <p:cNvGrpSpPr/>
          <p:nvPr/>
        </p:nvGrpSpPr>
        <p:grpSpPr>
          <a:xfrm>
            <a:off x="1107190" y="1588342"/>
            <a:ext cx="994351" cy="61101"/>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6" name="Google Shape;36;p5"/>
          <p:cNvSpPr txBox="1">
            <a:spLocks noGrp="1"/>
          </p:cNvSpPr>
          <p:nvPr>
            <p:ph type="title"/>
          </p:nvPr>
        </p:nvSpPr>
        <p:spPr>
          <a:xfrm>
            <a:off x="972600" y="1758200"/>
            <a:ext cx="10251200" cy="713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3467"/>
            </a:lvl1pPr>
            <a:lvl2pPr lvl="1">
              <a:spcBef>
                <a:spcPts val="0"/>
              </a:spcBef>
              <a:spcAft>
                <a:spcPts val="0"/>
              </a:spcAft>
              <a:buSzPts val="2600"/>
              <a:buNone/>
              <a:defRPr sz="3467"/>
            </a:lvl2pPr>
            <a:lvl3pPr lvl="2">
              <a:spcBef>
                <a:spcPts val="0"/>
              </a:spcBef>
              <a:spcAft>
                <a:spcPts val="0"/>
              </a:spcAft>
              <a:buSzPts val="2600"/>
              <a:buNone/>
              <a:defRPr sz="3467"/>
            </a:lvl3pPr>
            <a:lvl4pPr lvl="3">
              <a:spcBef>
                <a:spcPts val="0"/>
              </a:spcBef>
              <a:spcAft>
                <a:spcPts val="0"/>
              </a:spcAft>
              <a:buSzPts val="2600"/>
              <a:buNone/>
              <a:defRPr sz="3467"/>
            </a:lvl4pPr>
            <a:lvl5pPr lvl="4">
              <a:spcBef>
                <a:spcPts val="0"/>
              </a:spcBef>
              <a:spcAft>
                <a:spcPts val="0"/>
              </a:spcAft>
              <a:buSzPts val="2600"/>
              <a:buNone/>
              <a:defRPr sz="3467"/>
            </a:lvl5pPr>
            <a:lvl6pPr lvl="5">
              <a:spcBef>
                <a:spcPts val="0"/>
              </a:spcBef>
              <a:spcAft>
                <a:spcPts val="0"/>
              </a:spcAft>
              <a:buSzPts val="2600"/>
              <a:buNone/>
              <a:defRPr sz="3467"/>
            </a:lvl6pPr>
            <a:lvl7pPr lvl="6">
              <a:spcBef>
                <a:spcPts val="0"/>
              </a:spcBef>
              <a:spcAft>
                <a:spcPts val="0"/>
              </a:spcAft>
              <a:buSzPts val="2600"/>
              <a:buNone/>
              <a:defRPr sz="3467"/>
            </a:lvl7pPr>
            <a:lvl8pPr lvl="7">
              <a:spcBef>
                <a:spcPts val="0"/>
              </a:spcBef>
              <a:spcAft>
                <a:spcPts val="0"/>
              </a:spcAft>
              <a:buSzPts val="2600"/>
              <a:buNone/>
              <a:defRPr sz="3467"/>
            </a:lvl8pPr>
            <a:lvl9pPr lvl="8">
              <a:spcBef>
                <a:spcPts val="0"/>
              </a:spcBef>
              <a:spcAft>
                <a:spcPts val="0"/>
              </a:spcAft>
              <a:buSzPts val="2600"/>
              <a:buNone/>
              <a:defRPr sz="3467"/>
            </a:lvl9pPr>
          </a:lstStyle>
          <a:p>
            <a:endParaRPr/>
          </a:p>
        </p:txBody>
      </p:sp>
      <p:sp>
        <p:nvSpPr>
          <p:cNvPr id="37" name="Google Shape;37;p5"/>
          <p:cNvSpPr txBox="1">
            <a:spLocks noGrp="1"/>
          </p:cNvSpPr>
          <p:nvPr>
            <p:ph type="body" idx="1"/>
          </p:nvPr>
        </p:nvSpPr>
        <p:spPr>
          <a:xfrm>
            <a:off x="972433" y="2771833"/>
            <a:ext cx="5032400" cy="30148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6191472" y="2771833"/>
            <a:ext cx="5032400" cy="30148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2854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0"/>
        <p:cNvGrpSpPr/>
        <p:nvPr/>
      </p:nvGrpSpPr>
      <p:grpSpPr>
        <a:xfrm>
          <a:off x="0" y="0"/>
          <a:ext cx="0" cy="0"/>
          <a:chOff x="0" y="0"/>
          <a:chExt cx="0" cy="0"/>
        </a:xfrm>
      </p:grpSpPr>
      <p:sp>
        <p:nvSpPr>
          <p:cNvPr id="41" name="Google Shape;41;p6"/>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2" name="Google Shape;42;p6"/>
          <p:cNvGrpSpPr/>
          <p:nvPr/>
        </p:nvGrpSpPr>
        <p:grpSpPr>
          <a:xfrm>
            <a:off x="1107190" y="1588342"/>
            <a:ext cx="994351" cy="61101"/>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 name="Google Shape;45;p6"/>
          <p:cNvSpPr txBox="1">
            <a:spLocks noGrp="1"/>
          </p:cNvSpPr>
          <p:nvPr>
            <p:ph type="title"/>
          </p:nvPr>
        </p:nvSpPr>
        <p:spPr>
          <a:xfrm>
            <a:off x="972600" y="1758200"/>
            <a:ext cx="10251200" cy="713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3467"/>
            </a:lvl1pPr>
            <a:lvl2pPr lvl="1">
              <a:spcBef>
                <a:spcPts val="0"/>
              </a:spcBef>
              <a:spcAft>
                <a:spcPts val="0"/>
              </a:spcAft>
              <a:buSzPts val="2600"/>
              <a:buNone/>
              <a:defRPr sz="3467"/>
            </a:lvl2pPr>
            <a:lvl3pPr lvl="2">
              <a:spcBef>
                <a:spcPts val="0"/>
              </a:spcBef>
              <a:spcAft>
                <a:spcPts val="0"/>
              </a:spcAft>
              <a:buSzPts val="2600"/>
              <a:buNone/>
              <a:defRPr sz="3467"/>
            </a:lvl3pPr>
            <a:lvl4pPr lvl="3">
              <a:spcBef>
                <a:spcPts val="0"/>
              </a:spcBef>
              <a:spcAft>
                <a:spcPts val="0"/>
              </a:spcAft>
              <a:buSzPts val="2600"/>
              <a:buNone/>
              <a:defRPr sz="3467"/>
            </a:lvl4pPr>
            <a:lvl5pPr lvl="4">
              <a:spcBef>
                <a:spcPts val="0"/>
              </a:spcBef>
              <a:spcAft>
                <a:spcPts val="0"/>
              </a:spcAft>
              <a:buSzPts val="2600"/>
              <a:buNone/>
              <a:defRPr sz="3467"/>
            </a:lvl5pPr>
            <a:lvl6pPr lvl="5">
              <a:spcBef>
                <a:spcPts val="0"/>
              </a:spcBef>
              <a:spcAft>
                <a:spcPts val="0"/>
              </a:spcAft>
              <a:buSzPts val="2600"/>
              <a:buNone/>
              <a:defRPr sz="3467"/>
            </a:lvl6pPr>
            <a:lvl7pPr lvl="6">
              <a:spcBef>
                <a:spcPts val="0"/>
              </a:spcBef>
              <a:spcAft>
                <a:spcPts val="0"/>
              </a:spcAft>
              <a:buSzPts val="2600"/>
              <a:buNone/>
              <a:defRPr sz="3467"/>
            </a:lvl7pPr>
            <a:lvl8pPr lvl="7">
              <a:spcBef>
                <a:spcPts val="0"/>
              </a:spcBef>
              <a:spcAft>
                <a:spcPts val="0"/>
              </a:spcAft>
              <a:buSzPts val="2600"/>
              <a:buNone/>
              <a:defRPr sz="3467"/>
            </a:lvl8pPr>
            <a:lvl9pPr lvl="8">
              <a:spcBef>
                <a:spcPts val="0"/>
              </a:spcBef>
              <a:spcAft>
                <a:spcPts val="0"/>
              </a:spcAft>
              <a:buSzPts val="2600"/>
              <a:buNone/>
              <a:defRPr sz="3467"/>
            </a:lvl9pPr>
          </a:lstStyle>
          <a:p>
            <a:endParaRPr/>
          </a:p>
        </p:txBody>
      </p:sp>
      <p:sp>
        <p:nvSpPr>
          <p:cNvPr id="46" name="Google Shape;46;p6"/>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40898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7"/>
        <p:cNvGrpSpPr/>
        <p:nvPr/>
      </p:nvGrpSpPr>
      <p:grpSpPr>
        <a:xfrm>
          <a:off x="0" y="0"/>
          <a:ext cx="0" cy="0"/>
          <a:chOff x="0" y="0"/>
          <a:chExt cx="0" cy="0"/>
        </a:xfrm>
      </p:grpSpPr>
      <p:sp>
        <p:nvSpPr>
          <p:cNvPr id="48" name="Google Shape;48;p7"/>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9" name="Google Shape;49;p7"/>
          <p:cNvGrpSpPr/>
          <p:nvPr/>
        </p:nvGrpSpPr>
        <p:grpSpPr>
          <a:xfrm>
            <a:off x="1107190" y="1588342"/>
            <a:ext cx="994351" cy="61101"/>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 name="Google Shape;52;p7"/>
          <p:cNvSpPr txBox="1">
            <a:spLocks noGrp="1"/>
          </p:cNvSpPr>
          <p:nvPr>
            <p:ph type="title"/>
          </p:nvPr>
        </p:nvSpPr>
        <p:spPr>
          <a:xfrm>
            <a:off x="973333" y="1758200"/>
            <a:ext cx="4401200" cy="18420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3467"/>
            </a:lvl1pPr>
            <a:lvl2pPr lvl="1">
              <a:spcBef>
                <a:spcPts val="0"/>
              </a:spcBef>
              <a:spcAft>
                <a:spcPts val="0"/>
              </a:spcAft>
              <a:buSzPts val="2600"/>
              <a:buNone/>
              <a:defRPr sz="3467"/>
            </a:lvl2pPr>
            <a:lvl3pPr lvl="2">
              <a:spcBef>
                <a:spcPts val="0"/>
              </a:spcBef>
              <a:spcAft>
                <a:spcPts val="0"/>
              </a:spcAft>
              <a:buSzPts val="2600"/>
              <a:buNone/>
              <a:defRPr sz="3467"/>
            </a:lvl3pPr>
            <a:lvl4pPr lvl="3">
              <a:spcBef>
                <a:spcPts val="0"/>
              </a:spcBef>
              <a:spcAft>
                <a:spcPts val="0"/>
              </a:spcAft>
              <a:buSzPts val="2600"/>
              <a:buNone/>
              <a:defRPr sz="3467"/>
            </a:lvl4pPr>
            <a:lvl5pPr lvl="4">
              <a:spcBef>
                <a:spcPts val="0"/>
              </a:spcBef>
              <a:spcAft>
                <a:spcPts val="0"/>
              </a:spcAft>
              <a:buSzPts val="2600"/>
              <a:buNone/>
              <a:defRPr sz="3467"/>
            </a:lvl5pPr>
            <a:lvl6pPr lvl="5">
              <a:spcBef>
                <a:spcPts val="0"/>
              </a:spcBef>
              <a:spcAft>
                <a:spcPts val="0"/>
              </a:spcAft>
              <a:buSzPts val="2600"/>
              <a:buNone/>
              <a:defRPr sz="3467"/>
            </a:lvl6pPr>
            <a:lvl7pPr lvl="6">
              <a:spcBef>
                <a:spcPts val="0"/>
              </a:spcBef>
              <a:spcAft>
                <a:spcPts val="0"/>
              </a:spcAft>
              <a:buSzPts val="2600"/>
              <a:buNone/>
              <a:defRPr sz="3467"/>
            </a:lvl7pPr>
            <a:lvl8pPr lvl="7">
              <a:spcBef>
                <a:spcPts val="0"/>
              </a:spcBef>
              <a:spcAft>
                <a:spcPts val="0"/>
              </a:spcAft>
              <a:buSzPts val="2600"/>
              <a:buNone/>
              <a:defRPr sz="3467"/>
            </a:lvl8pPr>
            <a:lvl9pPr lvl="8">
              <a:spcBef>
                <a:spcPts val="0"/>
              </a:spcBef>
              <a:spcAft>
                <a:spcPts val="0"/>
              </a:spcAft>
              <a:buSzPts val="2600"/>
              <a:buNone/>
              <a:defRPr sz="3467"/>
            </a:lvl9pPr>
          </a:lstStyle>
          <a:p>
            <a:endParaRPr/>
          </a:p>
        </p:txBody>
      </p:sp>
      <p:sp>
        <p:nvSpPr>
          <p:cNvPr id="53" name="Google Shape;53;p7"/>
          <p:cNvSpPr txBox="1">
            <a:spLocks noGrp="1"/>
          </p:cNvSpPr>
          <p:nvPr>
            <p:ph type="body" idx="1"/>
          </p:nvPr>
        </p:nvSpPr>
        <p:spPr>
          <a:xfrm>
            <a:off x="961633" y="3708967"/>
            <a:ext cx="4401200" cy="21300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94937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1107190" y="5558840"/>
            <a:ext cx="994351" cy="61101"/>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9" name="Google Shape;59;p8"/>
          <p:cNvSpPr txBox="1">
            <a:spLocks noGrp="1"/>
          </p:cNvSpPr>
          <p:nvPr>
            <p:ph type="title"/>
          </p:nvPr>
        </p:nvSpPr>
        <p:spPr>
          <a:xfrm>
            <a:off x="972600" y="1152400"/>
            <a:ext cx="9361600" cy="3980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endParaRPr/>
          </a:p>
        </p:txBody>
      </p:sp>
      <p:sp>
        <p:nvSpPr>
          <p:cNvPr id="60" name="Google Shape;60;p8"/>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15268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1"/>
        <p:cNvGrpSpPr/>
        <p:nvPr/>
      </p:nvGrpSpPr>
      <p:grpSpPr>
        <a:xfrm>
          <a:off x="0" y="0"/>
          <a:ext cx="0" cy="0"/>
          <a:chOff x="0" y="0"/>
          <a:chExt cx="0" cy="0"/>
        </a:xfrm>
      </p:grpSpPr>
      <p:sp>
        <p:nvSpPr>
          <p:cNvPr id="62" name="Google Shape;62;p9"/>
          <p:cNvSpPr/>
          <p:nvPr/>
        </p:nvSpPr>
        <p:spPr>
          <a:xfrm>
            <a:off x="0" y="0"/>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3" name="Google Shape;63;p9"/>
          <p:cNvGrpSpPr/>
          <p:nvPr/>
        </p:nvGrpSpPr>
        <p:grpSpPr>
          <a:xfrm>
            <a:off x="1107190" y="1588342"/>
            <a:ext cx="994351" cy="61101"/>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6" name="Google Shape;66;p9"/>
          <p:cNvSpPr txBox="1">
            <a:spLocks noGrp="1"/>
          </p:cNvSpPr>
          <p:nvPr>
            <p:ph type="title"/>
          </p:nvPr>
        </p:nvSpPr>
        <p:spPr>
          <a:xfrm>
            <a:off x="973333" y="1758200"/>
            <a:ext cx="4401200" cy="22496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3467"/>
            </a:lvl1pPr>
            <a:lvl2pPr lvl="1">
              <a:spcBef>
                <a:spcPts val="0"/>
              </a:spcBef>
              <a:spcAft>
                <a:spcPts val="0"/>
              </a:spcAft>
              <a:buSzPts val="2600"/>
              <a:buNone/>
              <a:defRPr sz="3467"/>
            </a:lvl2pPr>
            <a:lvl3pPr lvl="2">
              <a:spcBef>
                <a:spcPts val="0"/>
              </a:spcBef>
              <a:spcAft>
                <a:spcPts val="0"/>
              </a:spcAft>
              <a:buSzPts val="2600"/>
              <a:buNone/>
              <a:defRPr sz="3467"/>
            </a:lvl3pPr>
            <a:lvl4pPr lvl="3">
              <a:spcBef>
                <a:spcPts val="0"/>
              </a:spcBef>
              <a:spcAft>
                <a:spcPts val="0"/>
              </a:spcAft>
              <a:buSzPts val="2600"/>
              <a:buNone/>
              <a:defRPr sz="3467"/>
            </a:lvl4pPr>
            <a:lvl5pPr lvl="4">
              <a:spcBef>
                <a:spcPts val="0"/>
              </a:spcBef>
              <a:spcAft>
                <a:spcPts val="0"/>
              </a:spcAft>
              <a:buSzPts val="2600"/>
              <a:buNone/>
              <a:defRPr sz="3467"/>
            </a:lvl5pPr>
            <a:lvl6pPr lvl="5">
              <a:spcBef>
                <a:spcPts val="0"/>
              </a:spcBef>
              <a:spcAft>
                <a:spcPts val="0"/>
              </a:spcAft>
              <a:buSzPts val="2600"/>
              <a:buNone/>
              <a:defRPr sz="3467"/>
            </a:lvl6pPr>
            <a:lvl7pPr lvl="6">
              <a:spcBef>
                <a:spcPts val="0"/>
              </a:spcBef>
              <a:spcAft>
                <a:spcPts val="0"/>
              </a:spcAft>
              <a:buSzPts val="2600"/>
              <a:buNone/>
              <a:defRPr sz="3467"/>
            </a:lvl7pPr>
            <a:lvl8pPr lvl="7">
              <a:spcBef>
                <a:spcPts val="0"/>
              </a:spcBef>
              <a:spcAft>
                <a:spcPts val="0"/>
              </a:spcAft>
              <a:buSzPts val="2600"/>
              <a:buNone/>
              <a:defRPr sz="3467"/>
            </a:lvl8pPr>
            <a:lvl9pPr lvl="8">
              <a:spcBef>
                <a:spcPts val="0"/>
              </a:spcBef>
              <a:spcAft>
                <a:spcPts val="0"/>
              </a:spcAft>
              <a:buSzPts val="2600"/>
              <a:buNone/>
              <a:defRPr sz="3467"/>
            </a:lvl9pPr>
          </a:lstStyle>
          <a:p>
            <a:endParaRPr/>
          </a:p>
        </p:txBody>
      </p:sp>
      <p:sp>
        <p:nvSpPr>
          <p:cNvPr id="67" name="Google Shape;67;p9"/>
          <p:cNvSpPr txBox="1">
            <a:spLocks noGrp="1"/>
          </p:cNvSpPr>
          <p:nvPr>
            <p:ph type="subTitle" idx="1"/>
          </p:nvPr>
        </p:nvSpPr>
        <p:spPr>
          <a:xfrm>
            <a:off x="966600" y="4215367"/>
            <a:ext cx="4401200" cy="1012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2133"/>
            </a:lvl1pPr>
            <a:lvl2pPr lvl="1">
              <a:lnSpc>
                <a:spcPct val="100000"/>
              </a:lnSpc>
              <a:spcBef>
                <a:spcPts val="0"/>
              </a:spcBef>
              <a:spcAft>
                <a:spcPts val="0"/>
              </a:spcAft>
              <a:buSzPts val="1600"/>
              <a:buNone/>
              <a:defRPr sz="2133"/>
            </a:lvl2pPr>
            <a:lvl3pPr lvl="2">
              <a:lnSpc>
                <a:spcPct val="100000"/>
              </a:lnSpc>
              <a:spcBef>
                <a:spcPts val="0"/>
              </a:spcBef>
              <a:spcAft>
                <a:spcPts val="0"/>
              </a:spcAft>
              <a:buSzPts val="1600"/>
              <a:buNone/>
              <a:defRPr sz="2133"/>
            </a:lvl3pPr>
            <a:lvl4pPr lvl="3">
              <a:lnSpc>
                <a:spcPct val="100000"/>
              </a:lnSpc>
              <a:spcBef>
                <a:spcPts val="0"/>
              </a:spcBef>
              <a:spcAft>
                <a:spcPts val="0"/>
              </a:spcAft>
              <a:buSzPts val="1600"/>
              <a:buNone/>
              <a:defRPr sz="2133"/>
            </a:lvl4pPr>
            <a:lvl5pPr lvl="4">
              <a:lnSpc>
                <a:spcPct val="100000"/>
              </a:lnSpc>
              <a:spcBef>
                <a:spcPts val="0"/>
              </a:spcBef>
              <a:spcAft>
                <a:spcPts val="0"/>
              </a:spcAft>
              <a:buSzPts val="1600"/>
              <a:buNone/>
              <a:defRPr sz="2133"/>
            </a:lvl5pPr>
            <a:lvl6pPr lvl="5">
              <a:lnSpc>
                <a:spcPct val="100000"/>
              </a:lnSpc>
              <a:spcBef>
                <a:spcPts val="0"/>
              </a:spcBef>
              <a:spcAft>
                <a:spcPts val="0"/>
              </a:spcAft>
              <a:buSzPts val="1600"/>
              <a:buNone/>
              <a:defRPr sz="2133"/>
            </a:lvl6pPr>
            <a:lvl7pPr lvl="6">
              <a:lnSpc>
                <a:spcPct val="100000"/>
              </a:lnSpc>
              <a:spcBef>
                <a:spcPts val="0"/>
              </a:spcBef>
              <a:spcAft>
                <a:spcPts val="0"/>
              </a:spcAft>
              <a:buSzPts val="1600"/>
              <a:buNone/>
              <a:defRPr sz="2133"/>
            </a:lvl7pPr>
            <a:lvl8pPr lvl="7">
              <a:lnSpc>
                <a:spcPct val="100000"/>
              </a:lnSpc>
              <a:spcBef>
                <a:spcPts val="0"/>
              </a:spcBef>
              <a:spcAft>
                <a:spcPts val="0"/>
              </a:spcAft>
              <a:buSzPts val="1600"/>
              <a:buNone/>
              <a:defRPr sz="2133"/>
            </a:lvl8pPr>
            <a:lvl9pPr lvl="8">
              <a:lnSpc>
                <a:spcPct val="100000"/>
              </a:lnSpc>
              <a:spcBef>
                <a:spcPts val="0"/>
              </a:spcBef>
              <a:spcAft>
                <a:spcPts val="0"/>
              </a:spcAft>
              <a:buSzPts val="1600"/>
              <a:buNone/>
              <a:defRPr sz="2133"/>
            </a:lvl9pPr>
          </a:lstStyle>
          <a:p>
            <a:endParaRPr/>
          </a:p>
        </p:txBody>
      </p:sp>
      <p:sp>
        <p:nvSpPr>
          <p:cNvPr id="68" name="Google Shape;68;p9"/>
          <p:cNvSpPr txBox="1">
            <a:spLocks noGrp="1"/>
          </p:cNvSpPr>
          <p:nvPr>
            <p:ph type="body" idx="2"/>
          </p:nvPr>
        </p:nvSpPr>
        <p:spPr>
          <a:xfrm>
            <a:off x="6898967" y="1803500"/>
            <a:ext cx="4499200" cy="40340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SzPts val="1300"/>
              <a:buChar char="●"/>
              <a:defRPr/>
            </a:lvl1pPr>
            <a:lvl2pPr marL="1219170" lvl="1" indent="-397923">
              <a:spcBef>
                <a:spcPts val="0"/>
              </a:spcBef>
              <a:spcAft>
                <a:spcPts val="0"/>
              </a:spcAft>
              <a:buSzPts val="1100"/>
              <a:buChar char="○"/>
              <a:defRPr/>
            </a:lvl2pPr>
            <a:lvl3pPr marL="1828754" lvl="2" indent="-397923">
              <a:spcBef>
                <a:spcPts val="0"/>
              </a:spcBef>
              <a:spcAft>
                <a:spcPts val="0"/>
              </a:spcAft>
              <a:buSzPts val="1100"/>
              <a:buChar char="■"/>
              <a:defRPr/>
            </a:lvl3pPr>
            <a:lvl4pPr marL="2438339" lvl="3" indent="-397923">
              <a:spcBef>
                <a:spcPts val="0"/>
              </a:spcBef>
              <a:spcAft>
                <a:spcPts val="0"/>
              </a:spcAft>
              <a:buSzPts val="1100"/>
              <a:buChar char="●"/>
              <a:defRPr/>
            </a:lvl4pPr>
            <a:lvl5pPr marL="3047924" lvl="4" indent="-397923">
              <a:spcBef>
                <a:spcPts val="0"/>
              </a:spcBef>
              <a:spcAft>
                <a:spcPts val="0"/>
              </a:spcAft>
              <a:buSzPts val="1100"/>
              <a:buChar char="○"/>
              <a:defRPr/>
            </a:lvl5pPr>
            <a:lvl6pPr marL="3657509" lvl="5" indent="-397923">
              <a:spcBef>
                <a:spcPts val="0"/>
              </a:spcBef>
              <a:spcAft>
                <a:spcPts val="0"/>
              </a:spcAft>
              <a:buSzPts val="1100"/>
              <a:buChar char="■"/>
              <a:defRPr/>
            </a:lvl6pPr>
            <a:lvl7pPr marL="4267093" lvl="6" indent="-397923">
              <a:spcBef>
                <a:spcPts val="0"/>
              </a:spcBef>
              <a:spcAft>
                <a:spcPts val="0"/>
              </a:spcAft>
              <a:buSzPts val="1100"/>
              <a:buChar char="●"/>
              <a:defRPr/>
            </a:lvl7pPr>
            <a:lvl8pPr marL="4876678" lvl="7" indent="-397923">
              <a:spcBef>
                <a:spcPts val="0"/>
              </a:spcBef>
              <a:spcAft>
                <a:spcPts val="0"/>
              </a:spcAft>
              <a:buSzPts val="1100"/>
              <a:buChar char="○"/>
              <a:defRPr/>
            </a:lvl8pPr>
            <a:lvl9pPr marL="5486263" lvl="8" indent="-397923">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34698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966600" y="5830068"/>
            <a:ext cx="10263200" cy="6140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18992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1107190" y="5558840"/>
            <a:ext cx="994351" cy="61101"/>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7" name="Google Shape;77;p11"/>
          <p:cNvSpPr txBox="1">
            <a:spLocks noGrp="1"/>
          </p:cNvSpPr>
          <p:nvPr>
            <p:ph type="title" hasCustomPrompt="1"/>
          </p:nvPr>
        </p:nvSpPr>
        <p:spPr>
          <a:xfrm>
            <a:off x="972600" y="978600"/>
            <a:ext cx="10251200" cy="165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10666">
                <a:solidFill>
                  <a:schemeClr val="lt1"/>
                </a:solidFill>
              </a:defRPr>
            </a:lvl1pPr>
            <a:lvl2pPr lvl="1">
              <a:spcBef>
                <a:spcPts val="0"/>
              </a:spcBef>
              <a:spcAft>
                <a:spcPts val="0"/>
              </a:spcAft>
              <a:buClr>
                <a:schemeClr val="lt1"/>
              </a:buClr>
              <a:buSzPts val="8000"/>
              <a:buNone/>
              <a:defRPr sz="10666">
                <a:solidFill>
                  <a:schemeClr val="lt1"/>
                </a:solidFill>
              </a:defRPr>
            </a:lvl2pPr>
            <a:lvl3pPr lvl="2">
              <a:spcBef>
                <a:spcPts val="0"/>
              </a:spcBef>
              <a:spcAft>
                <a:spcPts val="0"/>
              </a:spcAft>
              <a:buClr>
                <a:schemeClr val="lt1"/>
              </a:buClr>
              <a:buSzPts val="8000"/>
              <a:buNone/>
              <a:defRPr sz="10666">
                <a:solidFill>
                  <a:schemeClr val="lt1"/>
                </a:solidFill>
              </a:defRPr>
            </a:lvl3pPr>
            <a:lvl4pPr lvl="3">
              <a:spcBef>
                <a:spcPts val="0"/>
              </a:spcBef>
              <a:spcAft>
                <a:spcPts val="0"/>
              </a:spcAft>
              <a:buClr>
                <a:schemeClr val="lt1"/>
              </a:buClr>
              <a:buSzPts val="8000"/>
              <a:buNone/>
              <a:defRPr sz="10666">
                <a:solidFill>
                  <a:schemeClr val="lt1"/>
                </a:solidFill>
              </a:defRPr>
            </a:lvl4pPr>
            <a:lvl5pPr lvl="4">
              <a:spcBef>
                <a:spcPts val="0"/>
              </a:spcBef>
              <a:spcAft>
                <a:spcPts val="0"/>
              </a:spcAft>
              <a:buClr>
                <a:schemeClr val="lt1"/>
              </a:buClr>
              <a:buSzPts val="8000"/>
              <a:buNone/>
              <a:defRPr sz="10666">
                <a:solidFill>
                  <a:schemeClr val="lt1"/>
                </a:solidFill>
              </a:defRPr>
            </a:lvl5pPr>
            <a:lvl6pPr lvl="5">
              <a:spcBef>
                <a:spcPts val="0"/>
              </a:spcBef>
              <a:spcAft>
                <a:spcPts val="0"/>
              </a:spcAft>
              <a:buClr>
                <a:schemeClr val="lt1"/>
              </a:buClr>
              <a:buSzPts val="8000"/>
              <a:buNone/>
              <a:defRPr sz="10666">
                <a:solidFill>
                  <a:schemeClr val="lt1"/>
                </a:solidFill>
              </a:defRPr>
            </a:lvl6pPr>
            <a:lvl7pPr lvl="6">
              <a:spcBef>
                <a:spcPts val="0"/>
              </a:spcBef>
              <a:spcAft>
                <a:spcPts val="0"/>
              </a:spcAft>
              <a:buClr>
                <a:schemeClr val="lt1"/>
              </a:buClr>
              <a:buSzPts val="8000"/>
              <a:buNone/>
              <a:defRPr sz="10666">
                <a:solidFill>
                  <a:schemeClr val="lt1"/>
                </a:solidFill>
              </a:defRPr>
            </a:lvl7pPr>
            <a:lvl8pPr lvl="7">
              <a:spcBef>
                <a:spcPts val="0"/>
              </a:spcBef>
              <a:spcAft>
                <a:spcPts val="0"/>
              </a:spcAft>
              <a:buClr>
                <a:schemeClr val="lt1"/>
              </a:buClr>
              <a:buSzPts val="8000"/>
              <a:buNone/>
              <a:defRPr sz="10666">
                <a:solidFill>
                  <a:schemeClr val="lt1"/>
                </a:solidFill>
              </a:defRPr>
            </a:lvl8pPr>
            <a:lvl9pPr lvl="8">
              <a:spcBef>
                <a:spcPts val="0"/>
              </a:spcBef>
              <a:spcAft>
                <a:spcPts val="0"/>
              </a:spcAft>
              <a:buClr>
                <a:schemeClr val="lt1"/>
              </a:buClr>
              <a:buSzPts val="8000"/>
              <a:buNone/>
              <a:defRPr sz="10666">
                <a:solidFill>
                  <a:schemeClr val="lt1"/>
                </a:solidFill>
              </a:defRPr>
            </a:lvl9pPr>
          </a:lstStyle>
          <a:p>
            <a:r>
              <a:t>xx%</a:t>
            </a:r>
          </a:p>
        </p:txBody>
      </p:sp>
      <p:sp>
        <p:nvSpPr>
          <p:cNvPr id="78" name="Google Shape;78;p11"/>
          <p:cNvSpPr txBox="1">
            <a:spLocks noGrp="1"/>
          </p:cNvSpPr>
          <p:nvPr>
            <p:ph type="body" idx="1"/>
          </p:nvPr>
        </p:nvSpPr>
        <p:spPr>
          <a:xfrm>
            <a:off x="972600" y="3030517"/>
            <a:ext cx="10251200" cy="2107200"/>
          </a:xfrm>
          <a:prstGeom prst="rect">
            <a:avLst/>
          </a:prstGeom>
        </p:spPr>
        <p:txBody>
          <a:bodyPr spcFirstLastPara="1" wrap="square" lIns="91425" tIns="91425" rIns="91425" bIns="91425" anchor="t" anchorCtr="0">
            <a:normAutofit/>
          </a:bodyPr>
          <a:lstStyle>
            <a:lvl1pPr marL="609585" lvl="0" indent="-414856">
              <a:spcBef>
                <a:spcPts val="0"/>
              </a:spcBef>
              <a:spcAft>
                <a:spcPts val="0"/>
              </a:spcAft>
              <a:buClr>
                <a:schemeClr val="lt1"/>
              </a:buClr>
              <a:buSzPts val="1300"/>
              <a:buChar char="●"/>
              <a:defRPr>
                <a:solidFill>
                  <a:schemeClr val="lt1"/>
                </a:solidFill>
              </a:defRPr>
            </a:lvl1pPr>
            <a:lvl2pPr marL="1219170" lvl="1" indent="-397923">
              <a:spcBef>
                <a:spcPts val="0"/>
              </a:spcBef>
              <a:spcAft>
                <a:spcPts val="0"/>
              </a:spcAft>
              <a:buClr>
                <a:schemeClr val="lt1"/>
              </a:buClr>
              <a:buSzPts val="1100"/>
              <a:buChar char="○"/>
              <a:defRPr>
                <a:solidFill>
                  <a:schemeClr val="lt1"/>
                </a:solidFill>
              </a:defRPr>
            </a:lvl2pPr>
            <a:lvl3pPr marL="1828754" lvl="2" indent="-397923">
              <a:spcBef>
                <a:spcPts val="0"/>
              </a:spcBef>
              <a:spcAft>
                <a:spcPts val="0"/>
              </a:spcAft>
              <a:buClr>
                <a:schemeClr val="lt1"/>
              </a:buClr>
              <a:buSzPts val="1100"/>
              <a:buChar char="■"/>
              <a:defRPr>
                <a:solidFill>
                  <a:schemeClr val="lt1"/>
                </a:solidFill>
              </a:defRPr>
            </a:lvl3pPr>
            <a:lvl4pPr marL="2438339" lvl="3" indent="-397923">
              <a:spcBef>
                <a:spcPts val="0"/>
              </a:spcBef>
              <a:spcAft>
                <a:spcPts val="0"/>
              </a:spcAft>
              <a:buClr>
                <a:schemeClr val="lt1"/>
              </a:buClr>
              <a:buSzPts val="1100"/>
              <a:buChar char="●"/>
              <a:defRPr>
                <a:solidFill>
                  <a:schemeClr val="lt1"/>
                </a:solidFill>
              </a:defRPr>
            </a:lvl4pPr>
            <a:lvl5pPr marL="3047924" lvl="4" indent="-397923">
              <a:spcBef>
                <a:spcPts val="0"/>
              </a:spcBef>
              <a:spcAft>
                <a:spcPts val="0"/>
              </a:spcAft>
              <a:buClr>
                <a:schemeClr val="lt1"/>
              </a:buClr>
              <a:buSzPts val="1100"/>
              <a:buChar char="○"/>
              <a:defRPr>
                <a:solidFill>
                  <a:schemeClr val="lt1"/>
                </a:solidFill>
              </a:defRPr>
            </a:lvl5pPr>
            <a:lvl6pPr marL="3657509" lvl="5" indent="-397923">
              <a:spcBef>
                <a:spcPts val="0"/>
              </a:spcBef>
              <a:spcAft>
                <a:spcPts val="0"/>
              </a:spcAft>
              <a:buClr>
                <a:schemeClr val="lt1"/>
              </a:buClr>
              <a:buSzPts val="1100"/>
              <a:buChar char="■"/>
              <a:defRPr>
                <a:solidFill>
                  <a:schemeClr val="lt1"/>
                </a:solidFill>
              </a:defRPr>
            </a:lvl6pPr>
            <a:lvl7pPr marL="4267093" lvl="6" indent="-397923">
              <a:spcBef>
                <a:spcPts val="0"/>
              </a:spcBef>
              <a:spcAft>
                <a:spcPts val="0"/>
              </a:spcAft>
              <a:buClr>
                <a:schemeClr val="lt1"/>
              </a:buClr>
              <a:buSzPts val="1100"/>
              <a:buChar char="●"/>
              <a:defRPr>
                <a:solidFill>
                  <a:schemeClr val="lt1"/>
                </a:solidFill>
              </a:defRPr>
            </a:lvl7pPr>
            <a:lvl8pPr marL="4876678" lvl="7" indent="-397923">
              <a:spcBef>
                <a:spcPts val="0"/>
              </a:spcBef>
              <a:spcAft>
                <a:spcPts val="0"/>
              </a:spcAft>
              <a:buClr>
                <a:schemeClr val="lt1"/>
              </a:buClr>
              <a:buSzPts val="1100"/>
              <a:buChar char="○"/>
              <a:defRPr>
                <a:solidFill>
                  <a:schemeClr val="lt1"/>
                </a:solidFill>
              </a:defRPr>
            </a:lvl8pPr>
            <a:lvl9pPr marL="5486263" lvl="8" indent="-397923">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35834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75576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E643E-18A8-4BE3-99EC-BBEDE38F3C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FF2391-5FA5-450D-92CE-6DF15D3E55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2A137C-7642-45DB-B2C7-18CEB51AA6BF}"/>
              </a:ext>
            </a:extLst>
          </p:cNvPr>
          <p:cNvSpPr>
            <a:spLocks noGrp="1"/>
          </p:cNvSpPr>
          <p:nvPr>
            <p:ph type="dt" sz="half" idx="10"/>
          </p:nvPr>
        </p:nvSpPr>
        <p:spPr/>
        <p:txBody>
          <a:bodyPr/>
          <a:lstStyle/>
          <a:p>
            <a:endParaRPr lang="en-US" altLang="en-US"/>
          </a:p>
        </p:txBody>
      </p:sp>
      <p:sp>
        <p:nvSpPr>
          <p:cNvPr id="5" name="Footer Placeholder 4">
            <a:extLst>
              <a:ext uri="{FF2B5EF4-FFF2-40B4-BE49-F238E27FC236}">
                <a16:creationId xmlns:a16="http://schemas.microsoft.com/office/drawing/2014/main" id="{3EF349EE-8176-4B96-929B-716F8CBF1E11}"/>
              </a:ext>
            </a:extLst>
          </p:cNvPr>
          <p:cNvSpPr>
            <a:spLocks noGrp="1"/>
          </p:cNvSpPr>
          <p:nvPr>
            <p:ph type="ftr" sz="quarter" idx="11"/>
          </p:nvPr>
        </p:nvSpPr>
        <p:spPr/>
        <p:txBody>
          <a:bodyPr/>
          <a:lstStyle/>
          <a:p>
            <a:endParaRPr lang="en-US" altLang="en-US"/>
          </a:p>
        </p:txBody>
      </p:sp>
      <p:sp>
        <p:nvSpPr>
          <p:cNvPr id="6" name="Slide Number Placeholder 5">
            <a:extLst>
              <a:ext uri="{FF2B5EF4-FFF2-40B4-BE49-F238E27FC236}">
                <a16:creationId xmlns:a16="http://schemas.microsoft.com/office/drawing/2014/main" id="{94725932-E1AF-41F6-B38B-45E93829B027}"/>
              </a:ext>
            </a:extLst>
          </p:cNvPr>
          <p:cNvSpPr>
            <a:spLocks noGrp="1"/>
          </p:cNvSpPr>
          <p:nvPr>
            <p:ph type="sldNum" sz="quarter" idx="12"/>
          </p:nvPr>
        </p:nvSpPr>
        <p:spPr/>
        <p:txBody>
          <a:bodyPr/>
          <a:lstStyle/>
          <a:p>
            <a:fld id="{0F291FCB-DF33-43F2-BB04-2926E6CA137D}" type="slidenum">
              <a:rPr lang="en-US" altLang="en-US" smtClean="0"/>
              <a:pPr/>
              <a:t>‹#›</a:t>
            </a:fld>
            <a:endParaRPr lang="en-US" altLang="en-US"/>
          </a:p>
        </p:txBody>
      </p:sp>
    </p:spTree>
    <p:extLst>
      <p:ext uri="{BB962C8B-B14F-4D97-AF65-F5344CB8AC3E}">
        <p14:creationId xmlns:p14="http://schemas.microsoft.com/office/powerpoint/2010/main" val="862956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accent1"/>
                </a:solidFill>
                <a:latin typeface="Lato"/>
                <a:ea typeface="Lato"/>
                <a:cs typeface="Lato"/>
                <a:sym typeface="Lato"/>
              </a:defRPr>
            </a:lvl1pPr>
            <a:lvl2pPr lvl="1" algn="r">
              <a:buNone/>
              <a:defRPr sz="1333">
                <a:solidFill>
                  <a:schemeClr val="accent1"/>
                </a:solidFill>
                <a:latin typeface="Lato"/>
                <a:ea typeface="Lato"/>
                <a:cs typeface="Lato"/>
                <a:sym typeface="Lato"/>
              </a:defRPr>
            </a:lvl2pPr>
            <a:lvl3pPr lvl="2" algn="r">
              <a:buNone/>
              <a:defRPr sz="1333">
                <a:solidFill>
                  <a:schemeClr val="accent1"/>
                </a:solidFill>
                <a:latin typeface="Lato"/>
                <a:ea typeface="Lato"/>
                <a:cs typeface="Lato"/>
                <a:sym typeface="Lato"/>
              </a:defRPr>
            </a:lvl3pPr>
            <a:lvl4pPr lvl="3" algn="r">
              <a:buNone/>
              <a:defRPr sz="1333">
                <a:solidFill>
                  <a:schemeClr val="accent1"/>
                </a:solidFill>
                <a:latin typeface="Lato"/>
                <a:ea typeface="Lato"/>
                <a:cs typeface="Lato"/>
                <a:sym typeface="Lato"/>
              </a:defRPr>
            </a:lvl4pPr>
            <a:lvl5pPr lvl="4" algn="r">
              <a:buNone/>
              <a:defRPr sz="1333">
                <a:solidFill>
                  <a:schemeClr val="accent1"/>
                </a:solidFill>
                <a:latin typeface="Lato"/>
                <a:ea typeface="Lato"/>
                <a:cs typeface="Lato"/>
                <a:sym typeface="Lato"/>
              </a:defRPr>
            </a:lvl5pPr>
            <a:lvl6pPr lvl="5" algn="r">
              <a:buNone/>
              <a:defRPr sz="1333">
                <a:solidFill>
                  <a:schemeClr val="accent1"/>
                </a:solidFill>
                <a:latin typeface="Lato"/>
                <a:ea typeface="Lato"/>
                <a:cs typeface="Lato"/>
                <a:sym typeface="Lato"/>
              </a:defRPr>
            </a:lvl6pPr>
            <a:lvl7pPr lvl="6" algn="r">
              <a:buNone/>
              <a:defRPr sz="1333">
                <a:solidFill>
                  <a:schemeClr val="accent1"/>
                </a:solidFill>
                <a:latin typeface="Lato"/>
                <a:ea typeface="Lato"/>
                <a:cs typeface="Lato"/>
                <a:sym typeface="Lato"/>
              </a:defRPr>
            </a:lvl7pPr>
            <a:lvl8pPr lvl="7" algn="r">
              <a:buNone/>
              <a:defRPr sz="1333">
                <a:solidFill>
                  <a:schemeClr val="accent1"/>
                </a:solidFill>
                <a:latin typeface="Lato"/>
                <a:ea typeface="Lato"/>
                <a:cs typeface="Lato"/>
                <a:sym typeface="Lato"/>
              </a:defRPr>
            </a:lvl8pPr>
            <a:lvl9pPr lvl="8" algn="r">
              <a:buNone/>
              <a:defRPr sz="1333">
                <a:solidFill>
                  <a:schemeClr val="accent1"/>
                </a:solidFill>
                <a:latin typeface="Lato"/>
                <a:ea typeface="Lato"/>
                <a:cs typeface="Lato"/>
                <a:sym typeface="Lato"/>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1532876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96"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w.karamti@qu.edu.sa"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mailto:w.karamti@qu.edu.sa"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hyperlink" Target="https://liveexample.pearsoncmg.com/html/Quotient.html" TargetMode="External"/><Relationship Id="rId7" Type="http://schemas.openxmlformats.org/officeDocument/2006/relationships/hyperlink" Target="https://liveexample.pearsoncmg.com/html/QuotientWithMethod.html" TargetMode="External"/><Relationship Id="rId2" Type="http://schemas.openxmlformats.org/officeDocument/2006/relationships/hyperlink" Target="html/Quotient.bat" TargetMode="External"/><Relationship Id="rId1" Type="http://schemas.openxmlformats.org/officeDocument/2006/relationships/slideLayout" Target="../slideLayouts/slideLayout3.xml"/><Relationship Id="rId6" Type="http://schemas.openxmlformats.org/officeDocument/2006/relationships/hyperlink" Target="html/QuotientWithMethod.bat" TargetMode="External"/><Relationship Id="rId5" Type="http://schemas.openxmlformats.org/officeDocument/2006/relationships/hyperlink" Target="https://liveexample.pearsoncmg.com/html/QuotientWithIf.html" TargetMode="External"/><Relationship Id="rId4" Type="http://schemas.openxmlformats.org/officeDocument/2006/relationships/hyperlink" Target="html/QuotientWithIf.bat"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liveexample.pearsoncmg.com/html/QuotientWithException.html" TargetMode="External"/><Relationship Id="rId2" Type="http://schemas.openxmlformats.org/officeDocument/2006/relationships/hyperlink" Target="html/QuotientWithException.bat" TargetMode="Externa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hyperlink" Target="https://liveexample.pearsoncmg.com/html/InputMismatchExceptionDemo.html" TargetMode="External"/><Relationship Id="rId2" Type="http://schemas.openxmlformats.org/officeDocument/2006/relationships/hyperlink" Target="html/InputMismatchExceptionDemo.bat" TargetMode="Externa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4.bin"/><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5.bin"/><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6.bin"/><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7.bin"/><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8.bin"/><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9.bin"/><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hyperlink" Target="https://liveexample.pearsoncmg.com/html/TestCircleWithException.html" TargetMode="External"/><Relationship Id="rId2" Type="http://schemas.openxmlformats.org/officeDocument/2006/relationships/hyperlink" Target="html/TestCircleWithException.bat" TargetMode="External"/><Relationship Id="rId1" Type="http://schemas.openxmlformats.org/officeDocument/2006/relationships/slideLayout" Target="../slideLayouts/slideLayout3.xml"/><Relationship Id="rId4" Type="http://schemas.openxmlformats.org/officeDocument/2006/relationships/hyperlink" Target="https://liveexample.pearsoncmg.com/html/CircleWithException.html"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hyperlink" Target="https://liveexample.pearsoncmg.com/html/TestCircleWithRadiusException.html" TargetMode="External"/><Relationship Id="rId2" Type="http://schemas.openxmlformats.org/officeDocument/2006/relationships/hyperlink" Target="html/TestCircleWithRadiusException.bat" TargetMode="External"/><Relationship Id="rId1" Type="http://schemas.openxmlformats.org/officeDocument/2006/relationships/slideLayout" Target="../slideLayouts/slideLayout3.xml"/><Relationship Id="rId5" Type="http://schemas.openxmlformats.org/officeDocument/2006/relationships/hyperlink" Target="https://liveexample.pearsoncmg.com/html/InvalidRadiusException.html" TargetMode="External"/><Relationship Id="rId4" Type="http://schemas.openxmlformats.org/officeDocument/2006/relationships/hyperlink" Target="https://liveexample.pearsoncmg.com/html/CircleWithRadiusExcepti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ctrTitle"/>
          </p:nvPr>
        </p:nvSpPr>
        <p:spPr>
          <a:xfrm>
            <a:off x="951981" y="1905165"/>
            <a:ext cx="10589200" cy="2219600"/>
          </a:xfrm>
          <a:prstGeom prst="rect">
            <a:avLst/>
          </a:prstGeom>
        </p:spPr>
        <p:txBody>
          <a:bodyPr spcFirstLastPara="1" wrap="square" lIns="121900" tIns="121900" rIns="121900" bIns="121900" anchor="t" anchorCtr="0">
            <a:normAutofit/>
          </a:bodyPr>
          <a:lstStyle/>
          <a:p>
            <a:pPr algn="ctr"/>
            <a:r>
              <a:rPr lang="en" dirty="0"/>
              <a:t>CS 342 – Visual Programming</a:t>
            </a:r>
            <a:endParaRPr dirty="0"/>
          </a:p>
        </p:txBody>
      </p:sp>
      <p:pic>
        <p:nvPicPr>
          <p:cNvPr id="165" name="Google Shape;165;p25"/>
          <p:cNvPicPr preferRelativeResize="0"/>
          <p:nvPr/>
        </p:nvPicPr>
        <p:blipFill>
          <a:blip r:embed="rId3">
            <a:alphaModFix/>
          </a:blip>
          <a:stretch>
            <a:fillRect/>
          </a:stretch>
        </p:blipFill>
        <p:spPr>
          <a:xfrm>
            <a:off x="10009467" y="1"/>
            <a:ext cx="2182533" cy="646567"/>
          </a:xfrm>
          <a:prstGeom prst="rect">
            <a:avLst/>
          </a:prstGeom>
          <a:noFill/>
          <a:ln>
            <a:noFill/>
          </a:ln>
        </p:spPr>
      </p:pic>
      <p:sp>
        <p:nvSpPr>
          <p:cNvPr id="166" name="Google Shape;166;p25"/>
          <p:cNvSpPr txBox="1">
            <a:spLocks noGrp="1"/>
          </p:cNvSpPr>
          <p:nvPr>
            <p:ph type="subTitle" idx="1"/>
          </p:nvPr>
        </p:nvSpPr>
        <p:spPr>
          <a:xfrm>
            <a:off x="4892182" y="4118483"/>
            <a:ext cx="2649847" cy="744140"/>
          </a:xfrm>
          <a:prstGeom prst="rect">
            <a:avLst/>
          </a:prstGeom>
        </p:spPr>
        <p:txBody>
          <a:bodyPr spcFirstLastPara="1" wrap="square" lIns="121900" tIns="121900" rIns="121900" bIns="121900" anchor="t" anchorCtr="0">
            <a:normAutofit/>
          </a:bodyPr>
          <a:lstStyle/>
          <a:p>
            <a:pPr marL="0" indent="0" algn="ctr"/>
            <a:r>
              <a:rPr lang="en-US" dirty="0"/>
              <a:t>Chapter 1</a:t>
            </a:r>
            <a:endParaRPr dirty="0"/>
          </a:p>
        </p:txBody>
      </p:sp>
      <p:sp>
        <p:nvSpPr>
          <p:cNvPr id="168" name="Google Shape;168;p25"/>
          <p:cNvSpPr txBox="1">
            <a:spLocks noGrp="1"/>
          </p:cNvSpPr>
          <p:nvPr>
            <p:ph type="subTitle" idx="1"/>
          </p:nvPr>
        </p:nvSpPr>
        <p:spPr>
          <a:xfrm>
            <a:off x="4461304" y="5041540"/>
            <a:ext cx="3511600" cy="1154267"/>
          </a:xfrm>
          <a:prstGeom prst="rect">
            <a:avLst/>
          </a:prstGeom>
        </p:spPr>
        <p:txBody>
          <a:bodyPr spcFirstLastPara="1" wrap="square" lIns="121900" tIns="121900" rIns="121900" bIns="121900" anchor="t" anchorCtr="0">
            <a:normAutofit/>
          </a:bodyPr>
          <a:lstStyle/>
          <a:p>
            <a:pPr marL="0" indent="0" algn="ctr">
              <a:lnSpc>
                <a:spcPct val="70000"/>
              </a:lnSpc>
            </a:pPr>
            <a:r>
              <a:rPr lang="en" dirty="0"/>
              <a:t>Dr. </a:t>
            </a:r>
            <a:r>
              <a:rPr lang="en-US" dirty="0" err="1"/>
              <a:t>Hedia</a:t>
            </a:r>
            <a:r>
              <a:rPr lang="en-US" dirty="0"/>
              <a:t> ZARDI</a:t>
            </a:r>
            <a:endParaRPr dirty="0"/>
          </a:p>
          <a:p>
            <a:pPr marL="0" indent="0" algn="ctr">
              <a:lnSpc>
                <a:spcPct val="70000"/>
              </a:lnSpc>
            </a:pPr>
            <a:endParaRPr dirty="0"/>
          </a:p>
          <a:p>
            <a:pPr marL="0" indent="0" algn="ctr">
              <a:lnSpc>
                <a:spcPct val="70000"/>
              </a:lnSpc>
            </a:pPr>
            <a:r>
              <a:rPr lang="en" u="sng" dirty="0">
                <a:solidFill>
                  <a:schemeClr val="hlink"/>
                </a:solidFill>
                <a:hlinkClick r:id="rId4"/>
              </a:rPr>
              <a:t>h.zardi@qu.edu.sa</a:t>
            </a:r>
            <a:r>
              <a:rPr lang="en" dirty="0"/>
              <a:t> </a:t>
            </a:r>
            <a:endParaRPr dirty="0"/>
          </a:p>
          <a:p>
            <a:pPr marL="0" indent="0" algn="ctr">
              <a:lnSpc>
                <a:spcPct val="70000"/>
              </a:lnSpc>
            </a:pPr>
            <a:endParaRPr dirty="0"/>
          </a:p>
        </p:txBody>
      </p:sp>
      <p:sp>
        <p:nvSpPr>
          <p:cNvPr id="4" name="Slide Number Placeholder 3">
            <a:extLst>
              <a:ext uri="{FF2B5EF4-FFF2-40B4-BE49-F238E27FC236}">
                <a16:creationId xmlns:a16="http://schemas.microsoft.com/office/drawing/2014/main" id="{13A2C871-96F5-4624-80B5-753AD45A6F69}"/>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a:t>
            </a:fld>
            <a:endParaRPr lang="en" kern="0">
              <a:solidFill>
                <a:srgbClr val="59595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a:spLocks noGrp="1"/>
          </p:cNvSpPr>
          <p:nvPr>
            <p:ph type="title"/>
          </p:nvPr>
        </p:nvSpPr>
        <p:spPr>
          <a:xfrm>
            <a:off x="844433" y="879243"/>
            <a:ext cx="10251600" cy="713600"/>
          </a:xfrm>
          <a:prstGeom prst="rect">
            <a:avLst/>
          </a:prstGeom>
        </p:spPr>
        <p:txBody>
          <a:bodyPr spcFirstLastPara="1" wrap="square" lIns="121900" tIns="121900" rIns="121900" bIns="121900" anchor="t" anchorCtr="0">
            <a:normAutofit fontScale="90000"/>
          </a:bodyPr>
          <a:lstStyle/>
          <a:p>
            <a:r>
              <a:rPr lang="en" dirty="0"/>
              <a:t>Course profile</a:t>
            </a:r>
            <a:endParaRPr dirty="0"/>
          </a:p>
        </p:txBody>
      </p:sp>
      <p:sp>
        <p:nvSpPr>
          <p:cNvPr id="175" name="Google Shape;175;p26"/>
          <p:cNvSpPr txBox="1">
            <a:spLocks noGrp="1"/>
          </p:cNvSpPr>
          <p:nvPr>
            <p:ph type="body" idx="1"/>
          </p:nvPr>
        </p:nvSpPr>
        <p:spPr>
          <a:xfrm>
            <a:off x="972600" y="2771833"/>
            <a:ext cx="7708000" cy="3774400"/>
          </a:xfrm>
          <a:prstGeom prst="rect">
            <a:avLst/>
          </a:prstGeom>
        </p:spPr>
        <p:txBody>
          <a:bodyPr spcFirstLastPara="1" wrap="square" lIns="121900" tIns="121900" rIns="121900" bIns="121900" anchor="t" anchorCtr="0">
            <a:normAutofit/>
          </a:bodyPr>
          <a:lstStyle/>
          <a:p>
            <a:pPr indent="-440256">
              <a:buSzPts val="1600"/>
            </a:pPr>
            <a:r>
              <a:rPr lang="en" sz="2133" dirty="0"/>
              <a:t>Overview: Developping a User Interface using Java packages</a:t>
            </a:r>
            <a:endParaRPr sz="2133" dirty="0"/>
          </a:p>
          <a:p>
            <a:pPr indent="-440256">
              <a:buSzPts val="1600"/>
            </a:pPr>
            <a:r>
              <a:rPr lang="en" sz="2133" dirty="0"/>
              <a:t>Assessment materials:</a:t>
            </a:r>
            <a:endParaRPr sz="2133" dirty="0"/>
          </a:p>
          <a:p>
            <a:pPr lvl="1" indent="-440256">
              <a:buSzPts val="1600"/>
            </a:pPr>
            <a:r>
              <a:rPr lang="en" sz="2133" dirty="0"/>
              <a:t>1 mid-term exam (week 6) = 20%</a:t>
            </a:r>
            <a:endParaRPr sz="2133" dirty="0"/>
          </a:p>
          <a:p>
            <a:pPr lvl="1" indent="-440256">
              <a:buSzPts val="1600"/>
            </a:pPr>
            <a:r>
              <a:rPr lang="en" sz="2133" dirty="0"/>
              <a:t>Project= 20%</a:t>
            </a:r>
          </a:p>
          <a:p>
            <a:pPr lvl="1" indent="-440256">
              <a:buSzPts val="1600"/>
            </a:pPr>
            <a:r>
              <a:rPr lang="en" sz="2133" dirty="0"/>
              <a:t>Quiz =10%</a:t>
            </a:r>
          </a:p>
          <a:p>
            <a:pPr lvl="1" indent="-440256">
              <a:buSzPts val="1600"/>
            </a:pPr>
            <a:r>
              <a:rPr lang="en" sz="2133" dirty="0"/>
              <a:t>Final Exam = 50%</a:t>
            </a:r>
            <a:endParaRPr sz="2133" dirty="0"/>
          </a:p>
        </p:txBody>
      </p:sp>
      <p:sp>
        <p:nvSpPr>
          <p:cNvPr id="2" name="Slide Number Placeholder 1">
            <a:extLst>
              <a:ext uri="{FF2B5EF4-FFF2-40B4-BE49-F238E27FC236}">
                <a16:creationId xmlns:a16="http://schemas.microsoft.com/office/drawing/2014/main" id="{006EEB78-79C6-46DC-A7E5-79CB77E24062}"/>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2</a:t>
            </a:fld>
            <a:endParaRPr lang="en" kern="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9"/>
          <p:cNvSpPr txBox="1">
            <a:spLocks noGrp="1"/>
          </p:cNvSpPr>
          <p:nvPr>
            <p:ph type="title"/>
          </p:nvPr>
        </p:nvSpPr>
        <p:spPr>
          <a:xfrm>
            <a:off x="970200" y="926009"/>
            <a:ext cx="10251600" cy="713600"/>
          </a:xfrm>
          <a:prstGeom prst="rect">
            <a:avLst/>
          </a:prstGeom>
        </p:spPr>
        <p:txBody>
          <a:bodyPr spcFirstLastPara="1" wrap="square" lIns="121900" tIns="121900" rIns="121900" bIns="121900" anchor="t" anchorCtr="0">
            <a:normAutofit fontScale="90000"/>
          </a:bodyPr>
          <a:lstStyle/>
          <a:p>
            <a:r>
              <a:rPr lang="en"/>
              <a:t>Seek Help</a:t>
            </a:r>
            <a:endParaRPr/>
          </a:p>
        </p:txBody>
      </p:sp>
      <p:sp>
        <p:nvSpPr>
          <p:cNvPr id="196" name="Google Shape;196;p29"/>
          <p:cNvSpPr txBox="1">
            <a:spLocks noGrp="1"/>
          </p:cNvSpPr>
          <p:nvPr>
            <p:ph type="body" idx="1"/>
          </p:nvPr>
        </p:nvSpPr>
        <p:spPr>
          <a:xfrm>
            <a:off x="972600" y="2771833"/>
            <a:ext cx="7708000" cy="3774400"/>
          </a:xfrm>
          <a:prstGeom prst="rect">
            <a:avLst/>
          </a:prstGeom>
        </p:spPr>
        <p:txBody>
          <a:bodyPr spcFirstLastPara="1" wrap="square" lIns="121900" tIns="121900" rIns="121900" bIns="121900" anchor="t" anchorCtr="0">
            <a:normAutofit/>
          </a:bodyPr>
          <a:lstStyle/>
          <a:p>
            <a:pPr indent="-440256">
              <a:buSzPts val="1600"/>
            </a:pPr>
            <a:r>
              <a:rPr lang="en" sz="2133" dirty="0"/>
              <a:t>Please feel free to drop up us an email anytime</a:t>
            </a:r>
            <a:endParaRPr sz="2133" dirty="0"/>
          </a:p>
          <a:p>
            <a:pPr indent="-440256">
              <a:buSzPts val="1600"/>
            </a:pPr>
            <a:r>
              <a:rPr lang="en" sz="2133" dirty="0"/>
              <a:t>You can also </a:t>
            </a:r>
            <a:r>
              <a:rPr lang="en" sz="2133" b="1" dirty="0"/>
              <a:t>book </a:t>
            </a:r>
            <a:r>
              <a:rPr lang="en" sz="2133" dirty="0"/>
              <a:t>a meeting if you have an extremely hard problem</a:t>
            </a:r>
            <a:endParaRPr sz="2133" dirty="0"/>
          </a:p>
        </p:txBody>
      </p:sp>
      <p:sp>
        <p:nvSpPr>
          <p:cNvPr id="199" name="Google Shape;199;p29"/>
          <p:cNvSpPr txBox="1">
            <a:spLocks noGrp="1"/>
          </p:cNvSpPr>
          <p:nvPr>
            <p:ph type="subTitle" idx="4294967295"/>
          </p:nvPr>
        </p:nvSpPr>
        <p:spPr>
          <a:xfrm>
            <a:off x="3070800" y="4322683"/>
            <a:ext cx="3511600" cy="1981200"/>
          </a:xfrm>
          <a:prstGeom prst="rect">
            <a:avLst/>
          </a:prstGeom>
        </p:spPr>
        <p:txBody>
          <a:bodyPr spcFirstLastPara="1" wrap="square" lIns="121900" tIns="121900" rIns="121900" bIns="121900" anchor="t" anchorCtr="0">
            <a:normAutofit/>
          </a:bodyPr>
          <a:lstStyle/>
          <a:p>
            <a:pPr marL="0" indent="0" algn="ctr">
              <a:lnSpc>
                <a:spcPct val="70000"/>
              </a:lnSpc>
              <a:buNone/>
            </a:pPr>
            <a:r>
              <a:rPr lang="en" b="1" dirty="0"/>
              <a:t>Dr. Hedia ZARDI</a:t>
            </a:r>
            <a:endParaRPr b="1" dirty="0"/>
          </a:p>
          <a:p>
            <a:pPr marL="0" indent="0" algn="ctr">
              <a:lnSpc>
                <a:spcPct val="70000"/>
              </a:lnSpc>
              <a:spcBef>
                <a:spcPts val="1600"/>
              </a:spcBef>
              <a:spcAft>
                <a:spcPts val="1600"/>
              </a:spcAft>
              <a:buNone/>
            </a:pPr>
            <a:r>
              <a:rPr lang="en" u="sng" dirty="0">
                <a:solidFill>
                  <a:schemeClr val="hlink"/>
                </a:solidFill>
                <a:hlinkClick r:id="rId3"/>
              </a:rPr>
              <a:t>h.zardi@qu.edu.sa</a:t>
            </a:r>
            <a:r>
              <a:rPr lang="en" dirty="0"/>
              <a:t> </a:t>
            </a:r>
            <a:endParaRPr dirty="0"/>
          </a:p>
        </p:txBody>
      </p:sp>
      <p:sp>
        <p:nvSpPr>
          <p:cNvPr id="2" name="Slide Number Placeholder 1">
            <a:extLst>
              <a:ext uri="{FF2B5EF4-FFF2-40B4-BE49-F238E27FC236}">
                <a16:creationId xmlns:a16="http://schemas.microsoft.com/office/drawing/2014/main" id="{EE4759CD-AFA1-48DA-9BBD-1005F94F5D3A}"/>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3</a:t>
            </a:fld>
            <a:endParaRPr lang="en" kern="0">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BE8EF-970A-4D01-BC7C-FDB8009BCC71}"/>
              </a:ext>
            </a:extLst>
          </p:cNvPr>
          <p:cNvSpPr>
            <a:spLocks noGrp="1"/>
          </p:cNvSpPr>
          <p:nvPr>
            <p:ph type="title"/>
          </p:nvPr>
        </p:nvSpPr>
        <p:spPr>
          <a:xfrm>
            <a:off x="660711" y="935949"/>
            <a:ext cx="10251600" cy="713600"/>
          </a:xfrm>
        </p:spPr>
        <p:txBody>
          <a:bodyPr>
            <a:normAutofit/>
          </a:bodyPr>
          <a:lstStyle/>
          <a:p>
            <a:r>
              <a:rPr lang="en-US" dirty="0"/>
              <a:t>Course Materials</a:t>
            </a:r>
          </a:p>
        </p:txBody>
      </p:sp>
      <p:sp>
        <p:nvSpPr>
          <p:cNvPr id="3" name="Text Placeholder 2">
            <a:extLst>
              <a:ext uri="{FF2B5EF4-FFF2-40B4-BE49-F238E27FC236}">
                <a16:creationId xmlns:a16="http://schemas.microsoft.com/office/drawing/2014/main" id="{BBAB99AC-E6B4-45D3-A0EC-53398B213AC8}"/>
              </a:ext>
            </a:extLst>
          </p:cNvPr>
          <p:cNvSpPr>
            <a:spLocks noGrp="1"/>
          </p:cNvSpPr>
          <p:nvPr>
            <p:ph type="body" idx="1"/>
          </p:nvPr>
        </p:nvSpPr>
        <p:spPr>
          <a:xfrm>
            <a:off x="759948" y="2275647"/>
            <a:ext cx="10251600" cy="3749469"/>
          </a:xfrm>
        </p:spPr>
        <p:txBody>
          <a:bodyPr>
            <a:noAutofit/>
          </a:bodyPr>
          <a:lstStyle/>
          <a:p>
            <a:pPr marL="171869" marR="374217">
              <a:lnSpc>
                <a:spcPct val="101699"/>
              </a:lnSpc>
            </a:pPr>
            <a:r>
              <a:rPr lang="en-US" sz="2133" spc="-7" dirty="0">
                <a:latin typeface="Lato" panose="020B0604020202020204" charset="0"/>
                <a:cs typeface="Times New Roman"/>
              </a:rPr>
              <a:t>T</a:t>
            </a:r>
            <a:r>
              <a:rPr lang="en-US" sz="2133" spc="7" dirty="0">
                <a:latin typeface="Lato" panose="020B0604020202020204" charset="0"/>
                <a:cs typeface="Times New Roman"/>
              </a:rPr>
              <a:t>h</a:t>
            </a:r>
            <a:r>
              <a:rPr lang="en-US" sz="2133" dirty="0">
                <a:latin typeface="Lato" panose="020B0604020202020204" charset="0"/>
                <a:cs typeface="Times New Roman"/>
              </a:rPr>
              <a:t>ere</a:t>
            </a:r>
            <a:r>
              <a:rPr lang="en-US" sz="2133" spc="13" dirty="0">
                <a:latin typeface="Lato" panose="020B0604020202020204" charset="0"/>
                <a:cs typeface="Times New Roman"/>
              </a:rPr>
              <a:t> </a:t>
            </a:r>
            <a:r>
              <a:rPr lang="en-US" sz="2133" spc="-7" dirty="0">
                <a:latin typeface="Lato" panose="020B0604020202020204" charset="0"/>
                <a:cs typeface="Times New Roman"/>
              </a:rPr>
              <a:t>i</a:t>
            </a:r>
            <a:r>
              <a:rPr lang="en-US" sz="2133" dirty="0">
                <a:latin typeface="Lato" panose="020B0604020202020204" charset="0"/>
                <a:cs typeface="Times New Roman"/>
              </a:rPr>
              <a:t>s</a:t>
            </a:r>
            <a:r>
              <a:rPr lang="en-US" sz="2133" spc="7" dirty="0">
                <a:latin typeface="Lato" panose="020B0604020202020204" charset="0"/>
                <a:cs typeface="Times New Roman"/>
              </a:rPr>
              <a:t> n</a:t>
            </a:r>
            <a:r>
              <a:rPr lang="en-US" sz="2133" dirty="0">
                <a:latin typeface="Lato" panose="020B0604020202020204" charset="0"/>
                <a:cs typeface="Times New Roman"/>
              </a:rPr>
              <a:t>o</a:t>
            </a:r>
            <a:r>
              <a:rPr lang="en-US" sz="2133" spc="13" dirty="0">
                <a:latin typeface="Lato" panose="020B0604020202020204" charset="0"/>
                <a:cs typeface="Times New Roman"/>
              </a:rPr>
              <a:t> </a:t>
            </a:r>
            <a:r>
              <a:rPr lang="en-US" sz="2133" dirty="0">
                <a:latin typeface="Lato" panose="020B0604020202020204" charset="0"/>
                <a:cs typeface="Times New Roman"/>
              </a:rPr>
              <a:t>s</a:t>
            </a:r>
            <a:r>
              <a:rPr lang="en-US" sz="2133" spc="-7" dirty="0">
                <a:latin typeface="Lato" panose="020B0604020202020204" charset="0"/>
                <a:cs typeface="Times New Roman"/>
              </a:rPr>
              <a:t>i</a:t>
            </a:r>
            <a:r>
              <a:rPr lang="en-US" sz="2133" spc="7" dirty="0">
                <a:latin typeface="Lato" panose="020B0604020202020204" charset="0"/>
                <a:cs typeface="Times New Roman"/>
              </a:rPr>
              <a:t>n</a:t>
            </a:r>
            <a:r>
              <a:rPr lang="en-US" sz="2133" spc="-13" dirty="0">
                <a:latin typeface="Lato" panose="020B0604020202020204" charset="0"/>
                <a:cs typeface="Times New Roman"/>
              </a:rPr>
              <a:t>g</a:t>
            </a:r>
            <a:r>
              <a:rPr lang="en-US" sz="2133" spc="-7" dirty="0">
                <a:latin typeface="Lato" panose="020B0604020202020204" charset="0"/>
                <a:cs typeface="Times New Roman"/>
              </a:rPr>
              <a:t>l</a:t>
            </a:r>
            <a:r>
              <a:rPr lang="en-US" sz="2133" dirty="0">
                <a:latin typeface="Lato" panose="020B0604020202020204" charset="0"/>
                <a:cs typeface="Times New Roman"/>
              </a:rPr>
              <a:t>e</a:t>
            </a:r>
            <a:r>
              <a:rPr lang="en-US" sz="2133" spc="13" dirty="0">
                <a:latin typeface="Lato" panose="020B0604020202020204" charset="0"/>
                <a:cs typeface="Times New Roman"/>
              </a:rPr>
              <a:t> </a:t>
            </a:r>
            <a:r>
              <a:rPr lang="en-US" sz="2133" dirty="0">
                <a:latin typeface="Lato" panose="020B0604020202020204" charset="0"/>
                <a:cs typeface="Times New Roman"/>
              </a:rPr>
              <a:t>re</a:t>
            </a:r>
            <a:r>
              <a:rPr lang="en-US" sz="2133" spc="-13" dirty="0">
                <a:latin typeface="Lato" panose="020B0604020202020204" charset="0"/>
                <a:cs typeface="Times New Roman"/>
              </a:rPr>
              <a:t>c</a:t>
            </a:r>
            <a:r>
              <a:rPr lang="en-US" sz="2133" spc="7" dirty="0">
                <a:latin typeface="Lato" panose="020B0604020202020204" charset="0"/>
                <a:cs typeface="Times New Roman"/>
              </a:rPr>
              <a:t>o</a:t>
            </a:r>
            <a:r>
              <a:rPr lang="en-US" sz="2133" dirty="0">
                <a:latin typeface="Lato" panose="020B0604020202020204" charset="0"/>
                <a:cs typeface="Times New Roman"/>
              </a:rPr>
              <a:t>mm</a:t>
            </a:r>
            <a:r>
              <a:rPr lang="en-US" sz="2133" spc="-13" dirty="0">
                <a:latin typeface="Lato" panose="020B0604020202020204" charset="0"/>
                <a:cs typeface="Times New Roman"/>
              </a:rPr>
              <a:t>e</a:t>
            </a:r>
            <a:r>
              <a:rPr lang="en-US" sz="2133" spc="7" dirty="0">
                <a:latin typeface="Lato" panose="020B0604020202020204" charset="0"/>
                <a:cs typeface="Times New Roman"/>
              </a:rPr>
              <a:t>nd</a:t>
            </a:r>
            <a:r>
              <a:rPr lang="en-US" sz="2133" dirty="0">
                <a:latin typeface="Lato" panose="020B0604020202020204" charset="0"/>
                <a:cs typeface="Times New Roman"/>
              </a:rPr>
              <a:t>ed</a:t>
            </a:r>
            <a:r>
              <a:rPr lang="en-US" sz="2133" spc="13" dirty="0">
                <a:latin typeface="Lato" panose="020B0604020202020204" charset="0"/>
                <a:cs typeface="Times New Roman"/>
              </a:rPr>
              <a:t> </a:t>
            </a:r>
            <a:r>
              <a:rPr lang="en-US" sz="2133" spc="-20" dirty="0">
                <a:latin typeface="Lato" panose="020B0604020202020204" charset="0"/>
                <a:cs typeface="Times New Roman"/>
              </a:rPr>
              <a:t>t</a:t>
            </a:r>
            <a:r>
              <a:rPr lang="en-US" sz="2133" dirty="0">
                <a:latin typeface="Lato" panose="020B0604020202020204" charset="0"/>
                <a:cs typeface="Times New Roman"/>
              </a:rPr>
              <a:t>e</a:t>
            </a:r>
            <a:r>
              <a:rPr lang="en-US" sz="2133" spc="-13" dirty="0">
                <a:latin typeface="Lato" panose="020B0604020202020204" charset="0"/>
                <a:cs typeface="Times New Roman"/>
              </a:rPr>
              <a:t>x</a:t>
            </a:r>
            <a:r>
              <a:rPr lang="en-US" sz="2133" dirty="0">
                <a:latin typeface="Lato" panose="020B0604020202020204" charset="0"/>
                <a:cs typeface="Times New Roman"/>
              </a:rPr>
              <a:t>t </a:t>
            </a:r>
            <a:r>
              <a:rPr lang="en-US" sz="2133" spc="7" dirty="0">
                <a:latin typeface="Lato" panose="020B0604020202020204" charset="0"/>
                <a:cs typeface="Times New Roman"/>
              </a:rPr>
              <a:t>boo</a:t>
            </a:r>
            <a:r>
              <a:rPr lang="en-US" sz="2133" spc="-13" dirty="0">
                <a:latin typeface="Lato" panose="020B0604020202020204" charset="0"/>
                <a:cs typeface="Times New Roman"/>
              </a:rPr>
              <a:t>k</a:t>
            </a:r>
            <a:r>
              <a:rPr lang="en-US" sz="2133" dirty="0">
                <a:latin typeface="Lato" panose="020B0604020202020204" charset="0"/>
                <a:cs typeface="Times New Roman"/>
              </a:rPr>
              <a:t>.</a:t>
            </a:r>
            <a:r>
              <a:rPr lang="en-US" sz="2133" spc="7" dirty="0">
                <a:latin typeface="Lato" panose="020B0604020202020204" charset="0"/>
                <a:cs typeface="Times New Roman"/>
              </a:rPr>
              <a:t> </a:t>
            </a:r>
            <a:r>
              <a:rPr lang="en-US" sz="2133" spc="-7" dirty="0">
                <a:latin typeface="Lato" panose="020B0604020202020204" charset="0"/>
                <a:cs typeface="Times New Roman"/>
              </a:rPr>
              <a:t>T</a:t>
            </a:r>
            <a:r>
              <a:rPr lang="en-US" sz="2133" spc="7" dirty="0">
                <a:latin typeface="Lato" panose="020B0604020202020204" charset="0"/>
                <a:cs typeface="Times New Roman"/>
              </a:rPr>
              <a:t>h</a:t>
            </a:r>
            <a:r>
              <a:rPr lang="en-US" sz="2133" dirty="0">
                <a:latin typeface="Lato" panose="020B0604020202020204" charset="0"/>
                <a:cs typeface="Times New Roman"/>
              </a:rPr>
              <a:t>e</a:t>
            </a:r>
            <a:r>
              <a:rPr lang="en-US" sz="2133" spc="13" dirty="0">
                <a:latin typeface="Lato" panose="020B0604020202020204" charset="0"/>
                <a:cs typeface="Times New Roman"/>
              </a:rPr>
              <a:t> </a:t>
            </a:r>
            <a:r>
              <a:rPr lang="en-US" sz="2133" spc="-7" dirty="0">
                <a:latin typeface="Lato" panose="020B0604020202020204" charset="0"/>
                <a:cs typeface="Times New Roman"/>
              </a:rPr>
              <a:t>t</a:t>
            </a:r>
            <a:r>
              <a:rPr lang="en-US" sz="2133" dirty="0">
                <a:latin typeface="Lato" panose="020B0604020202020204" charset="0"/>
                <a:cs typeface="Times New Roman"/>
              </a:rPr>
              <a:t>e</a:t>
            </a:r>
            <a:r>
              <a:rPr lang="en-US" sz="2133" spc="-13" dirty="0">
                <a:latin typeface="Lato" panose="020B0604020202020204" charset="0"/>
                <a:cs typeface="Times New Roman"/>
              </a:rPr>
              <a:t>x</a:t>
            </a:r>
            <a:r>
              <a:rPr lang="en-US" sz="2133" spc="-7" dirty="0">
                <a:latin typeface="Lato" panose="020B0604020202020204" charset="0"/>
                <a:cs typeface="Times New Roman"/>
              </a:rPr>
              <a:t>t</a:t>
            </a:r>
            <a:r>
              <a:rPr lang="en-US" sz="2133" dirty="0">
                <a:latin typeface="Lato" panose="020B0604020202020204" charset="0"/>
                <a:cs typeface="Times New Roman"/>
              </a:rPr>
              <a:t>s</a:t>
            </a:r>
            <a:r>
              <a:rPr lang="en-US" sz="2133" spc="7" dirty="0">
                <a:latin typeface="Lato" panose="020B0604020202020204" charset="0"/>
                <a:cs typeface="Times New Roman"/>
              </a:rPr>
              <a:t> </a:t>
            </a:r>
            <a:r>
              <a:rPr lang="en-US" sz="2133" spc="-7" dirty="0">
                <a:latin typeface="Lato" panose="020B0604020202020204" charset="0"/>
                <a:cs typeface="Times New Roman"/>
              </a:rPr>
              <a:t>t</a:t>
            </a:r>
            <a:r>
              <a:rPr lang="en-US" sz="2133" spc="7" dirty="0">
                <a:latin typeface="Lato" panose="020B0604020202020204" charset="0"/>
                <a:cs typeface="Times New Roman"/>
              </a:rPr>
              <a:t>h</a:t>
            </a:r>
            <a:r>
              <a:rPr lang="en-US" sz="2133" dirty="0">
                <a:latin typeface="Lato" panose="020B0604020202020204" charset="0"/>
                <a:cs typeface="Times New Roman"/>
              </a:rPr>
              <a:t>at I</a:t>
            </a:r>
            <a:r>
              <a:rPr lang="en-US" sz="2133" spc="7" dirty="0">
                <a:latin typeface="Lato" panose="020B0604020202020204" charset="0"/>
                <a:cs typeface="Times New Roman"/>
              </a:rPr>
              <a:t> h</a:t>
            </a:r>
            <a:r>
              <a:rPr lang="en-US" sz="2133" dirty="0">
                <a:latin typeface="Lato" panose="020B0604020202020204" charset="0"/>
                <a:cs typeface="Times New Roman"/>
              </a:rPr>
              <a:t>a</a:t>
            </a:r>
            <a:r>
              <a:rPr lang="en-US" sz="2133" spc="-13" dirty="0">
                <a:latin typeface="Lato" panose="020B0604020202020204" charset="0"/>
                <a:cs typeface="Times New Roman"/>
              </a:rPr>
              <a:t>v</a:t>
            </a:r>
            <a:r>
              <a:rPr lang="en-US" sz="2133" dirty="0">
                <a:latin typeface="Lato" panose="020B0604020202020204" charset="0"/>
                <a:cs typeface="Times New Roman"/>
              </a:rPr>
              <a:t>e</a:t>
            </a:r>
            <a:r>
              <a:rPr lang="en-US" sz="2133" spc="13" dirty="0">
                <a:latin typeface="Lato" panose="020B0604020202020204" charset="0"/>
                <a:cs typeface="Times New Roman"/>
              </a:rPr>
              <a:t> </a:t>
            </a:r>
            <a:r>
              <a:rPr lang="en-US" sz="2133" spc="7" dirty="0">
                <a:latin typeface="Lato" panose="020B0604020202020204" charset="0"/>
                <a:cs typeface="Times New Roman"/>
              </a:rPr>
              <a:t>u</a:t>
            </a:r>
            <a:r>
              <a:rPr lang="en-US" sz="2133" dirty="0">
                <a:latin typeface="Lato" panose="020B0604020202020204" charset="0"/>
                <a:cs typeface="Times New Roman"/>
              </a:rPr>
              <a:t>sed</a:t>
            </a:r>
            <a:r>
              <a:rPr lang="en-US" sz="2133" spc="13" dirty="0">
                <a:latin typeface="Lato" panose="020B0604020202020204" charset="0"/>
                <a:cs typeface="Times New Roman"/>
              </a:rPr>
              <a:t> </a:t>
            </a:r>
            <a:r>
              <a:rPr lang="en-US" sz="2133" dirty="0">
                <a:latin typeface="Lato" panose="020B0604020202020204" charset="0"/>
                <a:cs typeface="Times New Roman"/>
              </a:rPr>
              <a:t>w</a:t>
            </a:r>
            <a:r>
              <a:rPr lang="en-US" sz="2133" spc="7" dirty="0">
                <a:latin typeface="Lato" panose="020B0604020202020204" charset="0"/>
                <a:cs typeface="Times New Roman"/>
              </a:rPr>
              <a:t>h</a:t>
            </a:r>
            <a:r>
              <a:rPr lang="en-US" sz="2133" spc="-7" dirty="0">
                <a:latin typeface="Lato" panose="020B0604020202020204" charset="0"/>
                <a:cs typeface="Times New Roman"/>
              </a:rPr>
              <a:t>il</a:t>
            </a:r>
            <a:r>
              <a:rPr lang="en-US" sz="2133" dirty="0">
                <a:latin typeface="Lato" panose="020B0604020202020204" charset="0"/>
                <a:cs typeface="Times New Roman"/>
              </a:rPr>
              <a:t>e </a:t>
            </a:r>
            <a:r>
              <a:rPr lang="en-US" sz="2133" spc="7" dirty="0">
                <a:latin typeface="Lato" panose="020B0604020202020204" charset="0"/>
                <a:cs typeface="Times New Roman"/>
              </a:rPr>
              <a:t>p</a:t>
            </a:r>
            <a:r>
              <a:rPr lang="en-US" sz="2133" dirty="0">
                <a:latin typeface="Lato" panose="020B0604020202020204" charset="0"/>
                <a:cs typeface="Times New Roman"/>
              </a:rPr>
              <a:t>re</a:t>
            </a:r>
            <a:r>
              <a:rPr lang="en-US" sz="2133" spc="7" dirty="0">
                <a:latin typeface="Lato" panose="020B0604020202020204" charset="0"/>
                <a:cs typeface="Times New Roman"/>
              </a:rPr>
              <a:t>p</a:t>
            </a:r>
            <a:r>
              <a:rPr lang="en-US" sz="2133" dirty="0">
                <a:latin typeface="Lato" panose="020B0604020202020204" charset="0"/>
                <a:cs typeface="Times New Roman"/>
              </a:rPr>
              <a:t>ar</a:t>
            </a:r>
            <a:r>
              <a:rPr lang="en-US" sz="2133" spc="-7" dirty="0">
                <a:latin typeface="Lato" panose="020B0604020202020204" charset="0"/>
                <a:cs typeface="Times New Roman"/>
              </a:rPr>
              <a:t>i</a:t>
            </a:r>
            <a:r>
              <a:rPr lang="en-US" sz="2133" spc="7" dirty="0">
                <a:latin typeface="Lato" panose="020B0604020202020204" charset="0"/>
                <a:cs typeface="Times New Roman"/>
              </a:rPr>
              <a:t>n</a:t>
            </a:r>
            <a:r>
              <a:rPr lang="en-US" sz="2133" dirty="0">
                <a:latin typeface="Lato" panose="020B0604020202020204" charset="0"/>
                <a:cs typeface="Times New Roman"/>
              </a:rPr>
              <a:t>g </a:t>
            </a:r>
            <a:r>
              <a:rPr lang="en-US" sz="2133" spc="-7" dirty="0">
                <a:latin typeface="Lato" panose="020B0604020202020204" charset="0"/>
                <a:cs typeface="Times New Roman"/>
              </a:rPr>
              <a:t>t</a:t>
            </a:r>
            <a:r>
              <a:rPr lang="en-US" sz="2133" spc="7" dirty="0">
                <a:latin typeface="Lato" panose="020B0604020202020204" charset="0"/>
                <a:cs typeface="Times New Roman"/>
              </a:rPr>
              <a:t>h</a:t>
            </a:r>
            <a:r>
              <a:rPr lang="en-US" sz="2133" dirty="0">
                <a:latin typeface="Lato" panose="020B0604020202020204" charset="0"/>
                <a:cs typeface="Times New Roman"/>
              </a:rPr>
              <a:t>e</a:t>
            </a:r>
            <a:r>
              <a:rPr lang="en-US" sz="2133" spc="13" dirty="0">
                <a:latin typeface="Lato" panose="020B0604020202020204" charset="0"/>
                <a:cs typeface="Times New Roman"/>
              </a:rPr>
              <a:t> </a:t>
            </a:r>
            <a:r>
              <a:rPr lang="en-US" sz="2133" spc="-13" dirty="0">
                <a:latin typeface="Lato" panose="020B0604020202020204" charset="0"/>
                <a:cs typeface="Times New Roman"/>
              </a:rPr>
              <a:t>c</a:t>
            </a:r>
            <a:r>
              <a:rPr lang="en-US" sz="2133" spc="7" dirty="0">
                <a:latin typeface="Lato" panose="020B0604020202020204" charset="0"/>
                <a:cs typeface="Times New Roman"/>
              </a:rPr>
              <a:t>ou</a:t>
            </a:r>
            <a:r>
              <a:rPr lang="en-US" sz="2133" dirty="0">
                <a:latin typeface="Lato" panose="020B0604020202020204" charset="0"/>
                <a:cs typeface="Times New Roman"/>
              </a:rPr>
              <a:t>rse</a:t>
            </a:r>
            <a:r>
              <a:rPr lang="en-US" sz="2133" spc="-7" dirty="0">
                <a:latin typeface="Lato" panose="020B0604020202020204" charset="0"/>
                <a:cs typeface="Times New Roman"/>
              </a:rPr>
              <a:t> </a:t>
            </a:r>
            <a:r>
              <a:rPr lang="en-US" sz="2133" dirty="0">
                <a:latin typeface="Lato" panose="020B0604020202020204" charset="0"/>
                <a:cs typeface="Times New Roman"/>
              </a:rPr>
              <a:t>are:</a:t>
            </a:r>
          </a:p>
          <a:p>
            <a:pPr marL="971102" lvl="1">
              <a:lnSpc>
                <a:spcPct val="100000"/>
              </a:lnSpc>
              <a:spcBef>
                <a:spcPts val="527"/>
              </a:spcBef>
            </a:pPr>
            <a:r>
              <a:rPr lang="en-US" sz="1867" i="1" spc="-20" dirty="0">
                <a:latin typeface="Lato" panose="020B0604020202020204" charset="0"/>
                <a:cs typeface="Times New Roman"/>
              </a:rPr>
              <a:t>Introduction to java-programming comprehensive 11th-edition (2018). </a:t>
            </a:r>
            <a:r>
              <a:rPr lang="en-US" sz="2133" b="1" spc="-20" dirty="0">
                <a:latin typeface="Lato" panose="020B0604020202020204" charset="0"/>
                <a:cs typeface="Times New Roman"/>
              </a:rPr>
              <a:t>Y. Daniel Liang</a:t>
            </a:r>
            <a:endParaRPr lang="en-US" sz="2133" b="1" dirty="0">
              <a:latin typeface="Lato" panose="020B0604020202020204" charset="0"/>
              <a:cs typeface="Times New Roman"/>
            </a:endParaRPr>
          </a:p>
          <a:p>
            <a:pPr marL="171869" marR="598578">
              <a:lnSpc>
                <a:spcPct val="157100"/>
              </a:lnSpc>
              <a:spcBef>
                <a:spcPts val="460"/>
              </a:spcBef>
            </a:pPr>
            <a:r>
              <a:rPr lang="en-US" sz="2133" spc="-7" dirty="0">
                <a:latin typeface="Lato" panose="020B0604020202020204" charset="0"/>
                <a:cs typeface="Times New Roman"/>
              </a:rPr>
              <a:t>C</a:t>
            </a:r>
            <a:r>
              <a:rPr lang="en-US" sz="2133" spc="7" dirty="0">
                <a:latin typeface="Lato" panose="020B0604020202020204" charset="0"/>
                <a:cs typeface="Times New Roman"/>
              </a:rPr>
              <a:t>op</a:t>
            </a:r>
            <a:r>
              <a:rPr lang="en-US" sz="2133" spc="-7" dirty="0">
                <a:latin typeface="Lato" panose="020B0604020202020204" charset="0"/>
                <a:cs typeface="Times New Roman"/>
              </a:rPr>
              <a:t>i</a:t>
            </a:r>
            <a:r>
              <a:rPr lang="en-US" sz="2133" dirty="0">
                <a:latin typeface="Lato" panose="020B0604020202020204" charset="0"/>
                <a:cs typeface="Times New Roman"/>
              </a:rPr>
              <a:t>es</a:t>
            </a:r>
            <a:r>
              <a:rPr lang="en-US" sz="2133" spc="7" dirty="0">
                <a:latin typeface="Lato" panose="020B0604020202020204" charset="0"/>
                <a:cs typeface="Times New Roman"/>
              </a:rPr>
              <a:t> o</a:t>
            </a:r>
            <a:r>
              <a:rPr lang="en-US" sz="2133" dirty="0">
                <a:latin typeface="Lato" panose="020B0604020202020204" charset="0"/>
                <a:cs typeface="Times New Roman"/>
              </a:rPr>
              <a:t>f</a:t>
            </a:r>
            <a:r>
              <a:rPr lang="en-US" sz="2133" spc="-13" dirty="0">
                <a:latin typeface="Lato" panose="020B0604020202020204" charset="0"/>
                <a:cs typeface="Times New Roman"/>
              </a:rPr>
              <a:t> </a:t>
            </a:r>
            <a:r>
              <a:rPr lang="en-US" sz="2133" dirty="0">
                <a:latin typeface="Lato" panose="020B0604020202020204" charset="0"/>
                <a:cs typeface="Times New Roman"/>
              </a:rPr>
              <a:t>a</a:t>
            </a:r>
            <a:r>
              <a:rPr lang="en-US" sz="2133" spc="-7" dirty="0">
                <a:latin typeface="Lato" panose="020B0604020202020204" charset="0"/>
                <a:cs typeface="Times New Roman"/>
              </a:rPr>
              <a:t>l</a:t>
            </a:r>
            <a:r>
              <a:rPr lang="en-US" sz="2133" dirty="0">
                <a:latin typeface="Lato" panose="020B0604020202020204" charset="0"/>
                <a:cs typeface="Times New Roman"/>
              </a:rPr>
              <a:t>l </a:t>
            </a:r>
            <a:r>
              <a:rPr lang="en-US" sz="2133" spc="-7" dirty="0">
                <a:latin typeface="Lato" panose="020B0604020202020204" charset="0"/>
                <a:cs typeface="Times New Roman"/>
              </a:rPr>
              <a:t>l</a:t>
            </a:r>
            <a:r>
              <a:rPr lang="en-US" sz="2133" dirty="0">
                <a:latin typeface="Lato" panose="020B0604020202020204" charset="0"/>
                <a:cs typeface="Times New Roman"/>
              </a:rPr>
              <a:t>ec</a:t>
            </a:r>
            <a:r>
              <a:rPr lang="en-US" sz="2133" spc="-7" dirty="0">
                <a:latin typeface="Lato" panose="020B0604020202020204" charset="0"/>
                <a:cs typeface="Times New Roman"/>
              </a:rPr>
              <a:t>t</a:t>
            </a:r>
            <a:r>
              <a:rPr lang="en-US" sz="2133" spc="7" dirty="0">
                <a:latin typeface="Lato" panose="020B0604020202020204" charset="0"/>
                <a:cs typeface="Times New Roman"/>
              </a:rPr>
              <a:t>u</a:t>
            </a:r>
            <a:r>
              <a:rPr lang="en-US" sz="2133" dirty="0">
                <a:latin typeface="Lato" panose="020B0604020202020204" charset="0"/>
                <a:cs typeface="Times New Roman"/>
              </a:rPr>
              <a:t>re</a:t>
            </a:r>
            <a:r>
              <a:rPr lang="en-US" sz="2133" spc="13" dirty="0">
                <a:latin typeface="Lato" panose="020B0604020202020204" charset="0"/>
                <a:cs typeface="Times New Roman"/>
              </a:rPr>
              <a:t> </a:t>
            </a:r>
            <a:r>
              <a:rPr lang="en-US" sz="2133" dirty="0">
                <a:latin typeface="Lato" panose="020B0604020202020204" charset="0"/>
                <a:cs typeface="Times New Roman"/>
              </a:rPr>
              <a:t>s</a:t>
            </a:r>
            <a:r>
              <a:rPr lang="en-US" sz="2133" spc="-7" dirty="0">
                <a:latin typeface="Lato" panose="020B0604020202020204" charset="0"/>
                <a:cs typeface="Times New Roman"/>
              </a:rPr>
              <a:t>li</a:t>
            </a:r>
            <a:r>
              <a:rPr lang="en-US" sz="2133" spc="7" dirty="0">
                <a:latin typeface="Lato" panose="020B0604020202020204" charset="0"/>
                <a:cs typeface="Times New Roman"/>
              </a:rPr>
              <a:t>d</a:t>
            </a:r>
            <a:r>
              <a:rPr lang="en-US" sz="2133" dirty="0">
                <a:latin typeface="Lato" panose="020B0604020202020204" charset="0"/>
                <a:cs typeface="Times New Roman"/>
              </a:rPr>
              <a:t>es</a:t>
            </a:r>
            <a:r>
              <a:rPr lang="en-US" sz="2133" spc="7" dirty="0">
                <a:latin typeface="Lato" panose="020B0604020202020204" charset="0"/>
                <a:cs typeface="Times New Roman"/>
              </a:rPr>
              <a:t> </a:t>
            </a:r>
            <a:r>
              <a:rPr lang="en-US" sz="2133" dirty="0">
                <a:latin typeface="Lato" panose="020B0604020202020204" charset="0"/>
                <a:cs typeface="Times New Roman"/>
              </a:rPr>
              <a:t>w</a:t>
            </a:r>
            <a:r>
              <a:rPr lang="en-US" sz="2133" spc="-7" dirty="0">
                <a:latin typeface="Lato" panose="020B0604020202020204" charset="0"/>
                <a:cs typeface="Times New Roman"/>
              </a:rPr>
              <a:t>il</a:t>
            </a:r>
            <a:r>
              <a:rPr lang="en-US" sz="2133" dirty="0">
                <a:latin typeface="Lato" panose="020B0604020202020204" charset="0"/>
                <a:cs typeface="Times New Roman"/>
              </a:rPr>
              <a:t>l </a:t>
            </a:r>
            <a:r>
              <a:rPr lang="en-US" sz="2133" spc="7" dirty="0">
                <a:latin typeface="Lato" panose="020B0604020202020204" charset="0"/>
                <a:cs typeface="Times New Roman"/>
              </a:rPr>
              <a:t>b</a:t>
            </a:r>
            <a:r>
              <a:rPr lang="en-US" sz="2133" dirty="0">
                <a:latin typeface="Lato" panose="020B0604020202020204" charset="0"/>
                <a:cs typeface="Times New Roman"/>
              </a:rPr>
              <a:t>e</a:t>
            </a:r>
            <a:r>
              <a:rPr lang="en-US" sz="2133" spc="-7" dirty="0">
                <a:latin typeface="Lato" panose="020B0604020202020204" charset="0"/>
                <a:cs typeface="Times New Roman"/>
              </a:rPr>
              <a:t> </a:t>
            </a:r>
            <a:r>
              <a:rPr lang="en-US" sz="2133" spc="7" dirty="0">
                <a:latin typeface="Lato" panose="020B0604020202020204" charset="0"/>
                <a:cs typeface="Times New Roman"/>
              </a:rPr>
              <a:t>p</a:t>
            </a:r>
            <a:r>
              <a:rPr lang="en-US" sz="2133" dirty="0">
                <a:latin typeface="Lato" panose="020B0604020202020204" charset="0"/>
                <a:cs typeface="Times New Roman"/>
              </a:rPr>
              <a:t>r</a:t>
            </a:r>
            <a:r>
              <a:rPr lang="en-US" sz="2133" spc="7" dirty="0">
                <a:latin typeface="Lato" panose="020B0604020202020204" charset="0"/>
                <a:cs typeface="Times New Roman"/>
              </a:rPr>
              <a:t>o</a:t>
            </a:r>
            <a:r>
              <a:rPr lang="en-US" sz="2133" spc="-13" dirty="0">
                <a:latin typeface="Lato" panose="020B0604020202020204" charset="0"/>
                <a:cs typeface="Times New Roman"/>
              </a:rPr>
              <a:t>v</a:t>
            </a:r>
            <a:r>
              <a:rPr lang="en-US" sz="2133" spc="-7" dirty="0">
                <a:latin typeface="Lato" panose="020B0604020202020204" charset="0"/>
                <a:cs typeface="Times New Roman"/>
              </a:rPr>
              <a:t>i</a:t>
            </a:r>
            <a:r>
              <a:rPr lang="en-US" sz="2133" spc="7" dirty="0">
                <a:latin typeface="Lato" panose="020B0604020202020204" charset="0"/>
                <a:cs typeface="Times New Roman"/>
              </a:rPr>
              <a:t>d</a:t>
            </a:r>
            <a:r>
              <a:rPr lang="en-US" sz="2133" dirty="0">
                <a:latin typeface="Lato" panose="020B0604020202020204" charset="0"/>
                <a:cs typeface="Times New Roman"/>
              </a:rPr>
              <a:t>ed</a:t>
            </a:r>
            <a:r>
              <a:rPr lang="en-US" sz="2133" spc="13" dirty="0">
                <a:latin typeface="Lato" panose="020B0604020202020204" charset="0"/>
                <a:cs typeface="Times New Roman"/>
              </a:rPr>
              <a:t> </a:t>
            </a:r>
            <a:r>
              <a:rPr lang="en-US" sz="2133" spc="-7" dirty="0">
                <a:latin typeface="Lato" panose="020B0604020202020204" charset="0"/>
                <a:cs typeface="Times New Roman"/>
              </a:rPr>
              <a:t>on the Blackboard</a:t>
            </a:r>
            <a:endParaRPr lang="en-US" sz="2133" dirty="0">
              <a:latin typeface="Lato" panose="020B0604020202020204" charset="0"/>
              <a:cs typeface="Times New Roman"/>
            </a:endParaRPr>
          </a:p>
        </p:txBody>
      </p:sp>
      <p:sp>
        <p:nvSpPr>
          <p:cNvPr id="4" name="Slide Number Placeholder 3">
            <a:extLst>
              <a:ext uri="{FF2B5EF4-FFF2-40B4-BE49-F238E27FC236}">
                <a16:creationId xmlns:a16="http://schemas.microsoft.com/office/drawing/2014/main" id="{18B7F5D2-31A7-4B47-89A8-189AA4B91FAC}"/>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4</a:t>
            </a:fld>
            <a:endParaRPr lang="en" kern="0">
              <a:solidFill>
                <a:srgbClr val="595959"/>
              </a:solidFill>
            </a:endParaRPr>
          </a:p>
        </p:txBody>
      </p:sp>
    </p:spTree>
    <p:extLst>
      <p:ext uri="{BB962C8B-B14F-4D97-AF65-F5344CB8AC3E}">
        <p14:creationId xmlns:p14="http://schemas.microsoft.com/office/powerpoint/2010/main" val="1803784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a:spLocks noGrp="1"/>
          </p:cNvSpPr>
          <p:nvPr>
            <p:ph type="title"/>
          </p:nvPr>
        </p:nvSpPr>
        <p:spPr>
          <a:xfrm>
            <a:off x="844433" y="997000"/>
            <a:ext cx="10251600" cy="713600"/>
          </a:xfrm>
          <a:prstGeom prst="rect">
            <a:avLst/>
          </a:prstGeom>
        </p:spPr>
        <p:txBody>
          <a:bodyPr spcFirstLastPara="1" wrap="square" lIns="121900" tIns="121900" rIns="121900" bIns="121900" anchor="t" anchorCtr="0">
            <a:normAutofit fontScale="90000"/>
          </a:bodyPr>
          <a:lstStyle/>
          <a:p>
            <a:r>
              <a:rPr lang="en" dirty="0"/>
              <a:t>Course Outline</a:t>
            </a:r>
            <a:endParaRPr dirty="0"/>
          </a:p>
        </p:txBody>
      </p:sp>
      <p:sp>
        <p:nvSpPr>
          <p:cNvPr id="205" name="Google Shape;205;p30"/>
          <p:cNvSpPr txBox="1">
            <a:spLocks noGrp="1"/>
          </p:cNvSpPr>
          <p:nvPr>
            <p:ph type="body" idx="1"/>
          </p:nvPr>
        </p:nvSpPr>
        <p:spPr>
          <a:xfrm>
            <a:off x="970200" y="2162233"/>
            <a:ext cx="10251600" cy="3014800"/>
          </a:xfrm>
          <a:prstGeom prst="rect">
            <a:avLst/>
          </a:prstGeom>
        </p:spPr>
        <p:txBody>
          <a:bodyPr spcFirstLastPara="1" wrap="square" lIns="121900" tIns="121900" rIns="121900" bIns="121900" anchor="t" anchorCtr="0">
            <a:normAutofit/>
          </a:bodyPr>
          <a:lstStyle/>
          <a:p>
            <a:pPr indent="-440256">
              <a:buSzPts val="1600"/>
            </a:pPr>
            <a:r>
              <a:rPr lang="en-US" sz="2133" b="1" dirty="0"/>
              <a:t>Chapter 1:</a:t>
            </a:r>
            <a:r>
              <a:rPr lang="en-US" sz="2133" dirty="0"/>
              <a:t> OOP Background with Java </a:t>
            </a:r>
          </a:p>
          <a:p>
            <a:pPr indent="-440256">
              <a:buSzPts val="1600"/>
            </a:pPr>
            <a:r>
              <a:rPr lang="en-US" sz="2133" b="1" dirty="0"/>
              <a:t>Chapter 2: </a:t>
            </a:r>
            <a:r>
              <a:rPr lang="en-US" sz="2133" dirty="0"/>
              <a:t>User Interfaces using </a:t>
            </a:r>
            <a:r>
              <a:rPr lang="en-US" sz="2133" dirty="0" err="1"/>
              <a:t>JSwing</a:t>
            </a:r>
            <a:endParaRPr lang="en-US" sz="2133" dirty="0"/>
          </a:p>
          <a:p>
            <a:pPr indent="-440256">
              <a:buSzPts val="1600"/>
            </a:pPr>
            <a:r>
              <a:rPr lang="en-US" sz="2133" b="1" dirty="0"/>
              <a:t>Chapter 3:</a:t>
            </a:r>
            <a:r>
              <a:rPr lang="en-US" sz="2133" dirty="0"/>
              <a:t> In/Out in Java </a:t>
            </a:r>
          </a:p>
          <a:p>
            <a:pPr indent="-440256">
              <a:buSzPts val="1600"/>
            </a:pPr>
            <a:r>
              <a:rPr lang="en-US" sz="2133" b="1" dirty="0"/>
              <a:t>Chapter 4:</a:t>
            </a:r>
            <a:r>
              <a:rPr lang="en-US" sz="2133" dirty="0"/>
              <a:t> Data Bases</a:t>
            </a:r>
          </a:p>
          <a:p>
            <a:pPr indent="-440256">
              <a:buSzPts val="1600"/>
            </a:pPr>
            <a:r>
              <a:rPr lang="en-US" sz="2133" b="1" dirty="0"/>
              <a:t>Chapter 5:</a:t>
            </a:r>
            <a:r>
              <a:rPr lang="en-US" sz="2133" dirty="0"/>
              <a:t> Threads </a:t>
            </a:r>
          </a:p>
          <a:p>
            <a:pPr indent="-440256">
              <a:buSzPts val="1600"/>
            </a:pPr>
            <a:r>
              <a:rPr lang="en-US" sz="2133" b="1" dirty="0"/>
              <a:t>Projects presentation</a:t>
            </a:r>
            <a:endParaRPr lang="en" sz="2133" dirty="0"/>
          </a:p>
        </p:txBody>
      </p:sp>
      <p:sp>
        <p:nvSpPr>
          <p:cNvPr id="2" name="Slide Number Placeholder 1">
            <a:extLst>
              <a:ext uri="{FF2B5EF4-FFF2-40B4-BE49-F238E27FC236}">
                <a16:creationId xmlns:a16="http://schemas.microsoft.com/office/drawing/2014/main" id="{0E5D01C4-933B-4FEB-98B3-C02425A1DBCB}"/>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5</a:t>
            </a:fld>
            <a:endParaRPr lang="en" kern="0">
              <a:solidFill>
                <a:srgbClr val="59595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a:spLocks noGrp="1"/>
          </p:cNvSpPr>
          <p:nvPr>
            <p:ph type="title"/>
          </p:nvPr>
        </p:nvSpPr>
        <p:spPr>
          <a:xfrm>
            <a:off x="844433" y="997000"/>
            <a:ext cx="10251600" cy="713600"/>
          </a:xfrm>
          <a:prstGeom prst="rect">
            <a:avLst/>
          </a:prstGeom>
        </p:spPr>
        <p:txBody>
          <a:bodyPr spcFirstLastPara="1" wrap="square" lIns="121900" tIns="121900" rIns="121900" bIns="121900" anchor="t" anchorCtr="0">
            <a:normAutofit fontScale="90000"/>
          </a:bodyPr>
          <a:lstStyle/>
          <a:p>
            <a:r>
              <a:rPr lang="en" dirty="0"/>
              <a:t>Outline: Chapter 0- Background about OOP</a:t>
            </a:r>
            <a:endParaRPr dirty="0"/>
          </a:p>
        </p:txBody>
      </p:sp>
      <p:sp>
        <p:nvSpPr>
          <p:cNvPr id="205" name="Google Shape;205;p30"/>
          <p:cNvSpPr txBox="1">
            <a:spLocks noGrp="1"/>
          </p:cNvSpPr>
          <p:nvPr>
            <p:ph type="body" idx="1"/>
          </p:nvPr>
        </p:nvSpPr>
        <p:spPr>
          <a:xfrm>
            <a:off x="970200" y="2162233"/>
            <a:ext cx="10251600" cy="3014800"/>
          </a:xfrm>
          <a:prstGeom prst="rect">
            <a:avLst/>
          </a:prstGeom>
        </p:spPr>
        <p:txBody>
          <a:bodyPr spcFirstLastPara="1" wrap="square" lIns="121900" tIns="121900" rIns="121900" bIns="121900" anchor="t" anchorCtr="0">
            <a:normAutofit/>
          </a:bodyPr>
          <a:lstStyle/>
          <a:p>
            <a:pPr indent="-440256">
              <a:buSzPts val="1600"/>
            </a:pPr>
            <a:r>
              <a:rPr lang="en-US" sz="2133" dirty="0"/>
              <a:t>Classes and Objects</a:t>
            </a:r>
          </a:p>
          <a:p>
            <a:pPr indent="-440256">
              <a:buSzPts val="1600"/>
            </a:pPr>
            <a:r>
              <a:rPr lang="en-US" sz="2133" dirty="0"/>
              <a:t>Inheritance</a:t>
            </a:r>
          </a:p>
          <a:p>
            <a:pPr indent="-440256">
              <a:buSzPts val="1600"/>
            </a:pPr>
            <a:r>
              <a:rPr lang="en-US" sz="2133" dirty="0"/>
              <a:t>Polymorphism</a:t>
            </a:r>
          </a:p>
          <a:p>
            <a:pPr indent="-440256">
              <a:buSzPts val="1600"/>
            </a:pPr>
            <a:r>
              <a:rPr lang="en-US" sz="2133" dirty="0"/>
              <a:t>Packages</a:t>
            </a:r>
          </a:p>
          <a:p>
            <a:pPr indent="-440256">
              <a:buSzPts val="1600"/>
            </a:pPr>
            <a:r>
              <a:rPr lang="en-US" sz="2133" dirty="0"/>
              <a:t>Abstract classes and Interfaces</a:t>
            </a:r>
          </a:p>
          <a:p>
            <a:pPr indent="-440256">
              <a:buSzPts val="1600"/>
            </a:pPr>
            <a:r>
              <a:rPr lang="en-US" sz="2133" dirty="0"/>
              <a:t>Exceptions</a:t>
            </a:r>
          </a:p>
          <a:p>
            <a:pPr indent="-440256">
              <a:buSzPts val="1600"/>
            </a:pPr>
            <a:endParaRPr lang="en" sz="2133" dirty="0"/>
          </a:p>
        </p:txBody>
      </p:sp>
      <p:sp>
        <p:nvSpPr>
          <p:cNvPr id="2" name="Slide Number Placeholder 1">
            <a:extLst>
              <a:ext uri="{FF2B5EF4-FFF2-40B4-BE49-F238E27FC236}">
                <a16:creationId xmlns:a16="http://schemas.microsoft.com/office/drawing/2014/main" id="{0E5D01C4-933B-4FEB-98B3-C02425A1DBCB}"/>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6</a:t>
            </a:fld>
            <a:endParaRPr lang="en" kern="0">
              <a:solidFill>
                <a:srgbClr val="595959"/>
              </a:solidFill>
            </a:endParaRPr>
          </a:p>
        </p:txBody>
      </p:sp>
    </p:spTree>
    <p:extLst>
      <p:ext uri="{BB962C8B-B14F-4D97-AF65-F5344CB8AC3E}">
        <p14:creationId xmlns:p14="http://schemas.microsoft.com/office/powerpoint/2010/main" val="465466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Motivations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7</a:t>
            </a:fld>
            <a:endParaRPr lang="en" kern="0">
              <a:solidFill>
                <a:srgbClr val="595959"/>
              </a:solidFill>
            </a:endParaRPr>
          </a:p>
        </p:txBody>
      </p:sp>
      <p:sp>
        <p:nvSpPr>
          <p:cNvPr id="104" name="object 9">
            <a:extLst>
              <a:ext uri="{FF2B5EF4-FFF2-40B4-BE49-F238E27FC236}">
                <a16:creationId xmlns:a16="http://schemas.microsoft.com/office/drawing/2014/main" id="{1CCE95C8-4370-419D-B58E-BBA5BCFBA6B6}"/>
              </a:ext>
            </a:extLst>
          </p:cNvPr>
          <p:cNvSpPr txBox="1"/>
          <p:nvPr/>
        </p:nvSpPr>
        <p:spPr>
          <a:xfrm>
            <a:off x="420829" y="2150382"/>
            <a:ext cx="11326707" cy="816120"/>
          </a:xfrm>
          <a:prstGeom prst="rect">
            <a:avLst/>
          </a:prstGeom>
        </p:spPr>
        <p:txBody>
          <a:bodyPr vert="horz" wrap="square" lIns="0" tIns="73659" rIns="0" bIns="0" rtlCol="0">
            <a:spAutoFit/>
          </a:bodyPr>
          <a:lstStyle/>
          <a:p>
            <a:pPr marL="16933" marR="6773" algn="just" defTabSz="1219170">
              <a:lnSpc>
                <a:spcPct val="90000"/>
              </a:lnSpc>
              <a:spcBef>
                <a:spcPts val="579"/>
              </a:spcBef>
            </a:pPr>
            <a:r>
              <a:rPr sz="2400" spc="120" dirty="0">
                <a:solidFill>
                  <a:prstClr val="black"/>
                </a:solidFill>
                <a:latin typeface="Lato" panose="020B0604020202020204" charset="0"/>
                <a:cs typeface="Times New Roman"/>
                <a:sym typeface="Arial"/>
              </a:rPr>
              <a:t>Suppose </a:t>
            </a:r>
            <a:r>
              <a:rPr sz="2400" spc="73" dirty="0">
                <a:solidFill>
                  <a:prstClr val="black"/>
                </a:solidFill>
                <a:latin typeface="Lato" panose="020B0604020202020204" charset="0"/>
                <a:cs typeface="Times New Roman"/>
                <a:sym typeface="Arial"/>
              </a:rPr>
              <a:t>you </a:t>
            </a:r>
            <a:r>
              <a:rPr sz="2400" spc="167" dirty="0">
                <a:solidFill>
                  <a:prstClr val="black"/>
                </a:solidFill>
                <a:latin typeface="Lato" panose="020B0604020202020204" charset="0"/>
                <a:cs typeface="Times New Roman"/>
                <a:sym typeface="Arial"/>
              </a:rPr>
              <a:t>want </a:t>
            </a:r>
            <a:r>
              <a:rPr sz="2400" spc="180" dirty="0">
                <a:solidFill>
                  <a:prstClr val="black"/>
                </a:solidFill>
                <a:latin typeface="Lato" panose="020B0604020202020204" charset="0"/>
                <a:cs typeface="Times New Roman"/>
                <a:sym typeface="Arial"/>
              </a:rPr>
              <a:t>to </a:t>
            </a:r>
            <a:r>
              <a:rPr sz="2400" spc="100" dirty="0">
                <a:solidFill>
                  <a:prstClr val="black"/>
                </a:solidFill>
                <a:latin typeface="Lato" panose="020B0604020202020204" charset="0"/>
                <a:cs typeface="Times New Roman"/>
                <a:sym typeface="Arial"/>
              </a:rPr>
              <a:t>develop </a:t>
            </a:r>
            <a:r>
              <a:rPr sz="2400" spc="133" dirty="0">
                <a:solidFill>
                  <a:prstClr val="black"/>
                </a:solidFill>
                <a:latin typeface="Lato" panose="020B0604020202020204" charset="0"/>
                <a:cs typeface="Times New Roman"/>
                <a:sym typeface="Arial"/>
              </a:rPr>
              <a:t>a </a:t>
            </a:r>
            <a:r>
              <a:rPr sz="2400" spc="107" dirty="0">
                <a:solidFill>
                  <a:prstClr val="black"/>
                </a:solidFill>
                <a:latin typeface="Lato" panose="020B0604020202020204" charset="0"/>
                <a:cs typeface="Times New Roman"/>
                <a:sym typeface="Arial"/>
              </a:rPr>
              <a:t>graphical </a:t>
            </a:r>
            <a:r>
              <a:rPr sz="2400" spc="152" dirty="0">
                <a:solidFill>
                  <a:prstClr val="black"/>
                </a:solidFill>
                <a:latin typeface="Lato" panose="020B0604020202020204" charset="0"/>
                <a:cs typeface="Times New Roman"/>
                <a:sym typeface="Arial"/>
              </a:rPr>
              <a:t>user</a:t>
            </a:r>
            <a:r>
              <a:rPr sz="2400" spc="-220" dirty="0">
                <a:solidFill>
                  <a:prstClr val="black"/>
                </a:solidFill>
                <a:latin typeface="Lato" panose="020B0604020202020204" charset="0"/>
                <a:cs typeface="Times New Roman"/>
                <a:sym typeface="Arial"/>
              </a:rPr>
              <a:t> </a:t>
            </a:r>
            <a:r>
              <a:rPr sz="2400" spc="107" dirty="0">
                <a:solidFill>
                  <a:prstClr val="black"/>
                </a:solidFill>
                <a:latin typeface="Lato" panose="020B0604020202020204" charset="0"/>
                <a:cs typeface="Times New Roman"/>
                <a:sym typeface="Arial"/>
              </a:rPr>
              <a:t>interface  </a:t>
            </a:r>
            <a:r>
              <a:rPr sz="2400" spc="93" dirty="0">
                <a:solidFill>
                  <a:prstClr val="black"/>
                </a:solidFill>
                <a:latin typeface="Lato" panose="020B0604020202020204" charset="0"/>
                <a:cs typeface="Times New Roman"/>
                <a:sym typeface="Arial"/>
              </a:rPr>
              <a:t>as</a:t>
            </a:r>
            <a:r>
              <a:rPr sz="2400" spc="-152" dirty="0">
                <a:solidFill>
                  <a:prstClr val="black"/>
                </a:solidFill>
                <a:latin typeface="Lato" panose="020B0604020202020204" charset="0"/>
                <a:cs typeface="Times New Roman"/>
                <a:sym typeface="Arial"/>
              </a:rPr>
              <a:t> </a:t>
            </a:r>
            <a:r>
              <a:rPr sz="2400" spc="147" dirty="0">
                <a:solidFill>
                  <a:prstClr val="black"/>
                </a:solidFill>
                <a:latin typeface="Lato" panose="020B0604020202020204" charset="0"/>
                <a:cs typeface="Times New Roman"/>
                <a:sym typeface="Arial"/>
              </a:rPr>
              <a:t>shown</a:t>
            </a:r>
            <a:r>
              <a:rPr sz="2400" spc="-47" dirty="0">
                <a:solidFill>
                  <a:prstClr val="black"/>
                </a:solidFill>
                <a:latin typeface="Lato" panose="020B0604020202020204" charset="0"/>
                <a:cs typeface="Times New Roman"/>
                <a:sym typeface="Arial"/>
              </a:rPr>
              <a:t> </a:t>
            </a:r>
            <a:r>
              <a:rPr sz="2400" spc="7" dirty="0">
                <a:solidFill>
                  <a:prstClr val="black"/>
                </a:solidFill>
                <a:latin typeface="Lato" panose="020B0604020202020204" charset="0"/>
                <a:cs typeface="Times New Roman"/>
                <a:sym typeface="Arial"/>
              </a:rPr>
              <a:t>below.</a:t>
            </a:r>
            <a:r>
              <a:rPr sz="2400" spc="-7" dirty="0">
                <a:solidFill>
                  <a:prstClr val="black"/>
                </a:solidFill>
                <a:latin typeface="Lato" panose="020B0604020202020204" charset="0"/>
                <a:cs typeface="Times New Roman"/>
                <a:sym typeface="Arial"/>
              </a:rPr>
              <a:t> </a:t>
            </a:r>
            <a:endParaRPr lang="en-US" sz="2400" spc="-7" dirty="0">
              <a:solidFill>
                <a:prstClr val="black"/>
              </a:solidFill>
              <a:latin typeface="Lato" panose="020B0604020202020204" charset="0"/>
              <a:cs typeface="Times New Roman"/>
              <a:sym typeface="Arial"/>
            </a:endParaRPr>
          </a:p>
          <a:p>
            <a:pPr marL="16933" marR="6773" algn="just" defTabSz="1219170">
              <a:lnSpc>
                <a:spcPct val="90000"/>
              </a:lnSpc>
              <a:spcBef>
                <a:spcPts val="579"/>
              </a:spcBef>
            </a:pPr>
            <a:r>
              <a:rPr sz="2400" spc="93" dirty="0">
                <a:solidFill>
                  <a:prstClr val="black"/>
                </a:solidFill>
                <a:latin typeface="Lato" panose="020B0604020202020204" charset="0"/>
                <a:cs typeface="Times New Roman"/>
                <a:sym typeface="Arial"/>
              </a:rPr>
              <a:t>How</a:t>
            </a:r>
            <a:r>
              <a:rPr sz="2400" spc="-167" dirty="0">
                <a:solidFill>
                  <a:prstClr val="black"/>
                </a:solidFill>
                <a:latin typeface="Lato" panose="020B0604020202020204" charset="0"/>
                <a:cs typeface="Times New Roman"/>
                <a:sym typeface="Arial"/>
              </a:rPr>
              <a:t> </a:t>
            </a:r>
            <a:r>
              <a:rPr sz="2400" spc="193" dirty="0">
                <a:solidFill>
                  <a:prstClr val="black"/>
                </a:solidFill>
                <a:latin typeface="Lato" panose="020B0604020202020204" charset="0"/>
                <a:cs typeface="Times New Roman"/>
                <a:sym typeface="Arial"/>
              </a:rPr>
              <a:t>do</a:t>
            </a:r>
            <a:r>
              <a:rPr sz="2400" spc="-180" dirty="0">
                <a:solidFill>
                  <a:prstClr val="black"/>
                </a:solidFill>
                <a:latin typeface="Lato" panose="020B0604020202020204" charset="0"/>
                <a:cs typeface="Times New Roman"/>
                <a:sym typeface="Arial"/>
              </a:rPr>
              <a:t> </a:t>
            </a:r>
            <a:r>
              <a:rPr sz="2400" spc="80" dirty="0">
                <a:solidFill>
                  <a:prstClr val="black"/>
                </a:solidFill>
                <a:latin typeface="Lato" panose="020B0604020202020204" charset="0"/>
                <a:cs typeface="Times New Roman"/>
                <a:sym typeface="Arial"/>
              </a:rPr>
              <a:t>you</a:t>
            </a:r>
            <a:r>
              <a:rPr sz="2400" spc="-100" dirty="0">
                <a:solidFill>
                  <a:prstClr val="black"/>
                </a:solidFill>
                <a:latin typeface="Lato" panose="020B0604020202020204" charset="0"/>
                <a:cs typeface="Times New Roman"/>
                <a:sym typeface="Arial"/>
              </a:rPr>
              <a:t> </a:t>
            </a:r>
            <a:r>
              <a:rPr sz="2400" spc="152" dirty="0">
                <a:solidFill>
                  <a:prstClr val="black"/>
                </a:solidFill>
                <a:latin typeface="Lato" panose="020B0604020202020204" charset="0"/>
                <a:cs typeface="Times New Roman"/>
                <a:sym typeface="Arial"/>
              </a:rPr>
              <a:t>program</a:t>
            </a:r>
            <a:r>
              <a:rPr sz="2400" spc="-53" dirty="0">
                <a:solidFill>
                  <a:prstClr val="black"/>
                </a:solidFill>
                <a:latin typeface="Lato" panose="020B0604020202020204" charset="0"/>
                <a:cs typeface="Times New Roman"/>
                <a:sym typeface="Arial"/>
              </a:rPr>
              <a:t> </a:t>
            </a:r>
            <a:r>
              <a:rPr sz="2400" spc="80" dirty="0">
                <a:solidFill>
                  <a:prstClr val="black"/>
                </a:solidFill>
                <a:latin typeface="Lato" panose="020B0604020202020204" charset="0"/>
                <a:cs typeface="Times New Roman"/>
                <a:sym typeface="Arial"/>
              </a:rPr>
              <a:t>it?</a:t>
            </a:r>
            <a:endParaRPr sz="2400" dirty="0">
              <a:solidFill>
                <a:prstClr val="black"/>
              </a:solidFill>
              <a:latin typeface="Lato" panose="020B0604020202020204" charset="0"/>
              <a:cs typeface="Times New Roman"/>
              <a:sym typeface="Arial"/>
            </a:endParaRPr>
          </a:p>
        </p:txBody>
      </p:sp>
      <p:sp>
        <p:nvSpPr>
          <p:cNvPr id="105" name="object 10">
            <a:extLst>
              <a:ext uri="{FF2B5EF4-FFF2-40B4-BE49-F238E27FC236}">
                <a16:creationId xmlns:a16="http://schemas.microsoft.com/office/drawing/2014/main" id="{AA4388B4-1DBD-473C-8104-538683BC25A4}"/>
              </a:ext>
            </a:extLst>
          </p:cNvPr>
          <p:cNvSpPr/>
          <p:nvPr/>
        </p:nvSpPr>
        <p:spPr>
          <a:xfrm>
            <a:off x="128837" y="3900050"/>
            <a:ext cx="11984499" cy="1246716"/>
          </a:xfrm>
          <a:prstGeom prst="rect">
            <a:avLst/>
          </a:prstGeom>
          <a:blipFill>
            <a:blip r:embed="rId2" cstate="print"/>
            <a:stretch>
              <a:fillRect/>
            </a:stretch>
          </a:blipFill>
        </p:spPr>
        <p:txBody>
          <a:bodyPr wrap="square" lIns="0" tIns="0" rIns="0" bIns="0" rtlCol="0"/>
          <a:lstStyle/>
          <a:p>
            <a:pPr defTabSz="1219170"/>
            <a:endParaRPr sz="2400">
              <a:solidFill>
                <a:prstClr val="black"/>
              </a:solidFill>
              <a:latin typeface="Calibri"/>
              <a:cs typeface="Arial"/>
              <a:sym typeface="Arial"/>
            </a:endParaRPr>
          </a:p>
        </p:txBody>
      </p:sp>
    </p:spTree>
    <p:extLst>
      <p:ext uri="{BB962C8B-B14F-4D97-AF65-F5344CB8AC3E}">
        <p14:creationId xmlns:p14="http://schemas.microsoft.com/office/powerpoint/2010/main" val="65706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Classes and Objects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8</a:t>
            </a:fld>
            <a:endParaRPr lang="en" kern="0">
              <a:solidFill>
                <a:srgbClr val="595959"/>
              </a:solidFill>
            </a:endParaRPr>
          </a:p>
        </p:txBody>
      </p:sp>
      <p:sp>
        <p:nvSpPr>
          <p:cNvPr id="104" name="object 9">
            <a:extLst>
              <a:ext uri="{FF2B5EF4-FFF2-40B4-BE49-F238E27FC236}">
                <a16:creationId xmlns:a16="http://schemas.microsoft.com/office/drawing/2014/main" id="{1CCE95C8-4370-419D-B58E-BBA5BCFBA6B6}"/>
              </a:ext>
            </a:extLst>
          </p:cNvPr>
          <p:cNvSpPr txBox="1"/>
          <p:nvPr/>
        </p:nvSpPr>
        <p:spPr>
          <a:xfrm>
            <a:off x="433883" y="1871331"/>
            <a:ext cx="11313652" cy="3152337"/>
          </a:xfrm>
          <a:prstGeom prst="rect">
            <a:avLst/>
          </a:prstGeom>
        </p:spPr>
        <p:txBody>
          <a:bodyPr vert="horz" wrap="square" lIns="0" tIns="73659" rIns="0" bIns="0" rtlCol="0">
            <a:spAutoFit/>
          </a:bodyPr>
          <a:lstStyle/>
          <a:p>
            <a:pPr marL="16933" marR="15240" indent="-847" algn="just" defTabSz="1219170">
              <a:spcBef>
                <a:spcPts val="133"/>
              </a:spcBef>
              <a:buClr>
                <a:srgbClr val="000000"/>
              </a:buClr>
            </a:pPr>
            <a:r>
              <a:rPr lang="en-US" sz="2400" kern="0" spc="-7" dirty="0">
                <a:solidFill>
                  <a:srgbClr val="000000"/>
                </a:solidFill>
                <a:latin typeface="Lato" panose="020B0604020202020204" charset="0"/>
                <a:cs typeface="Times New Roman"/>
                <a:sym typeface="Arial"/>
              </a:rPr>
              <a:t>Object-oriented programming </a:t>
            </a:r>
            <a:r>
              <a:rPr lang="en-US" sz="2400" kern="0" dirty="0">
                <a:solidFill>
                  <a:srgbClr val="000000"/>
                </a:solidFill>
                <a:latin typeface="Lato" panose="020B0604020202020204" charset="0"/>
                <a:cs typeface="Times New Roman"/>
                <a:sym typeface="Arial"/>
              </a:rPr>
              <a:t>(OOP) </a:t>
            </a:r>
            <a:r>
              <a:rPr lang="en-US" sz="2400" kern="0" spc="-7" dirty="0">
                <a:solidFill>
                  <a:srgbClr val="000000"/>
                </a:solidFill>
                <a:latin typeface="Lato" panose="020B0604020202020204" charset="0"/>
                <a:cs typeface="Times New Roman"/>
                <a:sym typeface="Arial"/>
              </a:rPr>
              <a:t>involves programming  using </a:t>
            </a:r>
            <a:r>
              <a:rPr lang="en-US" sz="2400" kern="0" spc="-13" dirty="0">
                <a:solidFill>
                  <a:srgbClr val="C00000"/>
                </a:solidFill>
                <a:latin typeface="Lato" panose="020B0604020202020204" charset="0"/>
                <a:cs typeface="Times New Roman"/>
                <a:sym typeface="Arial"/>
              </a:rPr>
              <a:t>Classes </a:t>
            </a:r>
            <a:r>
              <a:rPr lang="en-US" sz="2400" kern="0" spc="-7" dirty="0">
                <a:solidFill>
                  <a:srgbClr val="004E6D"/>
                </a:solidFill>
                <a:latin typeface="Lato" panose="020B0604020202020204" charset="0"/>
                <a:cs typeface="Times New Roman"/>
                <a:sym typeface="Arial"/>
              </a:rPr>
              <a:t>a</a:t>
            </a:r>
            <a:r>
              <a:rPr lang="en-US" sz="2400" kern="0" spc="-7" dirty="0">
                <a:solidFill>
                  <a:srgbClr val="000000"/>
                </a:solidFill>
                <a:latin typeface="Lato" panose="020B0604020202020204" charset="0"/>
                <a:cs typeface="Times New Roman"/>
                <a:sym typeface="Arial"/>
              </a:rPr>
              <a:t>nd</a:t>
            </a:r>
            <a:r>
              <a:rPr lang="en-US" sz="2400" kern="0" spc="-13" dirty="0">
                <a:solidFill>
                  <a:srgbClr val="000000"/>
                </a:solidFill>
                <a:latin typeface="Lato" panose="020B0604020202020204" charset="0"/>
                <a:cs typeface="Times New Roman"/>
                <a:sym typeface="Arial"/>
              </a:rPr>
              <a:t> </a:t>
            </a:r>
            <a:r>
              <a:rPr lang="en-US" sz="2400" kern="0" spc="-7" dirty="0">
                <a:solidFill>
                  <a:srgbClr val="C00000"/>
                </a:solidFill>
                <a:latin typeface="Lato" panose="020B0604020202020204" charset="0"/>
                <a:cs typeface="Times New Roman"/>
                <a:sym typeface="Arial"/>
              </a:rPr>
              <a:t>Objects</a:t>
            </a:r>
            <a:r>
              <a:rPr lang="en-US" sz="2400" kern="0" spc="-7" dirty="0">
                <a:solidFill>
                  <a:srgbClr val="000000"/>
                </a:solidFill>
                <a:latin typeface="Lato" panose="020B0604020202020204" charset="0"/>
                <a:cs typeface="Times New Roman"/>
                <a:sym typeface="Arial"/>
              </a:rPr>
              <a:t>.</a:t>
            </a:r>
            <a:endParaRPr lang="en-US" sz="2400" kern="0" dirty="0">
              <a:solidFill>
                <a:srgbClr val="000000"/>
              </a:solidFill>
              <a:latin typeface="Lato" panose="020B0604020202020204" charset="0"/>
              <a:cs typeface="Times New Roman"/>
              <a:sym typeface="Arial"/>
            </a:endParaRPr>
          </a:p>
          <a:p>
            <a:pPr defTabSz="1219170">
              <a:spcBef>
                <a:spcPts val="33"/>
              </a:spcBef>
              <a:buClr>
                <a:srgbClr val="000000"/>
              </a:buClr>
            </a:pPr>
            <a:endParaRPr lang="en-US" sz="2667" kern="0" dirty="0">
              <a:solidFill>
                <a:srgbClr val="000000"/>
              </a:solidFill>
              <a:latin typeface="Lato" panose="020B0604020202020204" charset="0"/>
              <a:cs typeface="Times New Roman"/>
              <a:sym typeface="Arial"/>
            </a:endParaRPr>
          </a:p>
          <a:p>
            <a:pPr marL="397923" marR="6773" indent="-380990" algn="just" defTabSz="1219170">
              <a:buClr>
                <a:srgbClr val="000000"/>
              </a:buClr>
              <a:buSzPct val="96428"/>
              <a:buFont typeface="Arial" panose="020B0604020202020204" pitchFamily="34" charset="0"/>
              <a:buChar char="•"/>
              <a:tabLst>
                <a:tab pos="184569" algn="l"/>
              </a:tabLst>
            </a:pPr>
            <a:r>
              <a:rPr lang="en-US" sz="2400" kern="0" spc="-7" dirty="0">
                <a:solidFill>
                  <a:srgbClr val="000000"/>
                </a:solidFill>
                <a:latin typeface="Lato" panose="020B0604020202020204" charset="0"/>
                <a:cs typeface="Times New Roman"/>
                <a:sym typeface="Arial"/>
              </a:rPr>
              <a:t>A </a:t>
            </a:r>
            <a:r>
              <a:rPr lang="en-US" sz="2400" kern="0" spc="-7" dirty="0">
                <a:solidFill>
                  <a:srgbClr val="C00000"/>
                </a:solidFill>
                <a:latin typeface="Lato" panose="020B0604020202020204" charset="0"/>
                <a:cs typeface="Times New Roman"/>
                <a:sym typeface="Arial"/>
              </a:rPr>
              <a:t>class </a:t>
            </a:r>
            <a:r>
              <a:rPr lang="en-US" sz="2400" kern="0" spc="-7" dirty="0">
                <a:solidFill>
                  <a:srgbClr val="000000"/>
                </a:solidFill>
                <a:latin typeface="Lato" panose="020B0604020202020204" charset="0"/>
                <a:cs typeface="Times New Roman"/>
                <a:sym typeface="Arial"/>
              </a:rPr>
              <a:t>is used </a:t>
            </a:r>
            <a:r>
              <a:rPr lang="en-US" sz="2400" kern="0" dirty="0">
                <a:solidFill>
                  <a:srgbClr val="000000"/>
                </a:solidFill>
                <a:latin typeface="Lato" panose="020B0604020202020204" charset="0"/>
                <a:cs typeface="Times New Roman"/>
                <a:sym typeface="Arial"/>
              </a:rPr>
              <a:t>to </a:t>
            </a:r>
            <a:r>
              <a:rPr lang="en-US" sz="2400" kern="0" spc="-7" dirty="0">
                <a:solidFill>
                  <a:srgbClr val="000000"/>
                </a:solidFill>
                <a:latin typeface="Lato" panose="020B0604020202020204" charset="0"/>
                <a:cs typeface="Times New Roman"/>
                <a:sym typeface="Arial"/>
              </a:rPr>
              <a:t>describe something </a:t>
            </a:r>
            <a:r>
              <a:rPr lang="en-US" sz="2400" kern="0" dirty="0">
                <a:solidFill>
                  <a:srgbClr val="000000"/>
                </a:solidFill>
                <a:latin typeface="Lato" panose="020B0604020202020204" charset="0"/>
                <a:cs typeface="Times New Roman"/>
                <a:sym typeface="Arial"/>
              </a:rPr>
              <a:t>in the </a:t>
            </a:r>
            <a:r>
              <a:rPr lang="en-US" sz="2400" kern="0" spc="-7" dirty="0">
                <a:solidFill>
                  <a:srgbClr val="000000"/>
                </a:solidFill>
                <a:latin typeface="Lato" panose="020B0604020202020204" charset="0"/>
                <a:cs typeface="Times New Roman"/>
                <a:sym typeface="Arial"/>
              </a:rPr>
              <a:t>world, such </a:t>
            </a:r>
            <a:r>
              <a:rPr lang="en-US" sz="2400" kern="0" spc="-13" dirty="0">
                <a:solidFill>
                  <a:srgbClr val="000000"/>
                </a:solidFill>
                <a:latin typeface="Lato" panose="020B0604020202020204" charset="0"/>
                <a:cs typeface="Times New Roman"/>
                <a:sym typeface="Arial"/>
              </a:rPr>
              <a:t>as  </a:t>
            </a:r>
            <a:r>
              <a:rPr lang="en-US" sz="2400" b="1" kern="0" spc="-13" dirty="0">
                <a:solidFill>
                  <a:srgbClr val="000000"/>
                </a:solidFill>
                <a:latin typeface="Lato" panose="020B0604020202020204" charset="0"/>
                <a:cs typeface="Times New Roman"/>
                <a:sym typeface="Arial"/>
              </a:rPr>
              <a:t>occurrences</a:t>
            </a:r>
            <a:r>
              <a:rPr lang="en-US" sz="2400" kern="0" spc="-13" dirty="0">
                <a:solidFill>
                  <a:srgbClr val="000000"/>
                </a:solidFill>
                <a:latin typeface="Lato" panose="020B0604020202020204" charset="0"/>
                <a:cs typeface="Times New Roman"/>
                <a:sym typeface="Arial"/>
              </a:rPr>
              <a:t>, </a:t>
            </a:r>
            <a:r>
              <a:rPr lang="en-US" sz="2400" b="1" kern="0" spc="-7" dirty="0">
                <a:solidFill>
                  <a:srgbClr val="000000"/>
                </a:solidFill>
                <a:latin typeface="Lato" panose="020B0604020202020204" charset="0"/>
                <a:cs typeface="Times New Roman"/>
                <a:sym typeface="Arial"/>
              </a:rPr>
              <a:t>things</a:t>
            </a:r>
            <a:r>
              <a:rPr lang="en-US" sz="2400" kern="0" spc="-7" dirty="0">
                <a:solidFill>
                  <a:srgbClr val="000000"/>
                </a:solidFill>
                <a:latin typeface="Lato" panose="020B0604020202020204" charset="0"/>
                <a:cs typeface="Times New Roman"/>
                <a:sym typeface="Arial"/>
              </a:rPr>
              <a:t>, </a:t>
            </a:r>
            <a:r>
              <a:rPr lang="en-US" sz="2400" b="1" kern="0" spc="-7" dirty="0">
                <a:solidFill>
                  <a:srgbClr val="000000"/>
                </a:solidFill>
                <a:latin typeface="Lato" panose="020B0604020202020204" charset="0"/>
                <a:cs typeface="Times New Roman"/>
                <a:sym typeface="Arial"/>
              </a:rPr>
              <a:t>external entities</a:t>
            </a:r>
            <a:r>
              <a:rPr lang="en-US" sz="2400" kern="0" spc="-7" dirty="0">
                <a:solidFill>
                  <a:srgbClr val="000000"/>
                </a:solidFill>
                <a:latin typeface="Lato" panose="020B0604020202020204" charset="0"/>
                <a:cs typeface="Times New Roman"/>
                <a:sym typeface="Arial"/>
              </a:rPr>
              <a:t>, </a:t>
            </a:r>
            <a:r>
              <a:rPr lang="en-US" sz="2400" b="1" kern="0" spc="-20" dirty="0">
                <a:solidFill>
                  <a:srgbClr val="000000"/>
                </a:solidFill>
                <a:latin typeface="Lato" panose="020B0604020202020204" charset="0"/>
                <a:cs typeface="Times New Roman"/>
                <a:sym typeface="Arial"/>
              </a:rPr>
              <a:t>roles</a:t>
            </a:r>
            <a:r>
              <a:rPr lang="en-US" sz="2400" kern="0" spc="-20" dirty="0">
                <a:solidFill>
                  <a:srgbClr val="000000"/>
                </a:solidFill>
                <a:latin typeface="Lato" panose="020B0604020202020204" charset="0"/>
                <a:cs typeface="Times New Roman"/>
                <a:sym typeface="Arial"/>
              </a:rPr>
              <a:t>, </a:t>
            </a:r>
            <a:r>
              <a:rPr lang="en-US" sz="2400" b="1" kern="0" spc="-7" dirty="0">
                <a:solidFill>
                  <a:srgbClr val="000000"/>
                </a:solidFill>
                <a:latin typeface="Lato" panose="020B0604020202020204" charset="0"/>
                <a:cs typeface="Times New Roman"/>
                <a:sym typeface="Arial"/>
              </a:rPr>
              <a:t>organization  units</a:t>
            </a:r>
            <a:r>
              <a:rPr lang="en-US" sz="2400" kern="0" spc="-7" dirty="0">
                <a:solidFill>
                  <a:srgbClr val="000000"/>
                </a:solidFill>
                <a:latin typeface="Lato" panose="020B0604020202020204" charset="0"/>
                <a:cs typeface="Times New Roman"/>
                <a:sym typeface="Arial"/>
              </a:rPr>
              <a:t>, </a:t>
            </a:r>
            <a:r>
              <a:rPr lang="en-US" sz="2400" b="1" kern="0" spc="-7" dirty="0">
                <a:solidFill>
                  <a:srgbClr val="000000"/>
                </a:solidFill>
                <a:latin typeface="Lato" panose="020B0604020202020204" charset="0"/>
                <a:cs typeface="Times New Roman"/>
                <a:sym typeface="Arial"/>
              </a:rPr>
              <a:t>places </a:t>
            </a:r>
            <a:r>
              <a:rPr lang="en-US" sz="2400" kern="0" dirty="0">
                <a:solidFill>
                  <a:srgbClr val="000000"/>
                </a:solidFill>
                <a:latin typeface="Lato" panose="020B0604020202020204" charset="0"/>
                <a:cs typeface="Times New Roman"/>
                <a:sym typeface="Arial"/>
              </a:rPr>
              <a:t>or</a:t>
            </a:r>
            <a:r>
              <a:rPr lang="en-US" sz="2400" kern="0" spc="-27" dirty="0">
                <a:solidFill>
                  <a:srgbClr val="000000"/>
                </a:solidFill>
                <a:latin typeface="Lato" panose="020B0604020202020204" charset="0"/>
                <a:cs typeface="Times New Roman"/>
                <a:sym typeface="Arial"/>
              </a:rPr>
              <a:t> </a:t>
            </a:r>
            <a:r>
              <a:rPr lang="en-US" sz="2400" b="1" kern="0" spc="-13" dirty="0">
                <a:solidFill>
                  <a:srgbClr val="000000"/>
                </a:solidFill>
                <a:latin typeface="Lato" panose="020B0604020202020204" charset="0"/>
                <a:cs typeface="Times New Roman"/>
                <a:sym typeface="Arial"/>
              </a:rPr>
              <a:t>structures</a:t>
            </a:r>
            <a:r>
              <a:rPr lang="en-US" sz="2400" kern="0" spc="-13" dirty="0">
                <a:solidFill>
                  <a:srgbClr val="000000"/>
                </a:solidFill>
                <a:latin typeface="Lato" panose="020B0604020202020204" charset="0"/>
                <a:cs typeface="Times New Roman"/>
                <a:sym typeface="Arial"/>
              </a:rPr>
              <a:t>.</a:t>
            </a:r>
            <a:endParaRPr lang="en-US" sz="2400" kern="0" dirty="0">
              <a:solidFill>
                <a:srgbClr val="000000"/>
              </a:solidFill>
              <a:latin typeface="Lato" panose="020B0604020202020204" charset="0"/>
              <a:cs typeface="Times New Roman"/>
              <a:sym typeface="Arial"/>
            </a:endParaRPr>
          </a:p>
          <a:p>
            <a:pPr defTabSz="1219170">
              <a:spcBef>
                <a:spcPts val="33"/>
              </a:spcBef>
              <a:buClr>
                <a:srgbClr val="000000"/>
              </a:buClr>
            </a:pPr>
            <a:endParaRPr lang="en-US" sz="2667" kern="0" dirty="0">
              <a:solidFill>
                <a:srgbClr val="000000"/>
              </a:solidFill>
              <a:latin typeface="Lato" panose="020B0604020202020204" charset="0"/>
              <a:cs typeface="Times New Roman"/>
              <a:sym typeface="Arial"/>
            </a:endParaRPr>
          </a:p>
          <a:p>
            <a:pPr marL="17780" marR="9313" algn="just" defTabSz="1219170">
              <a:buClr>
                <a:srgbClr val="000000"/>
              </a:buClr>
            </a:pPr>
            <a:r>
              <a:rPr lang="en-US" sz="2400" kern="0" spc="-7" dirty="0">
                <a:solidFill>
                  <a:srgbClr val="000000"/>
                </a:solidFill>
                <a:latin typeface="Lato" panose="020B0604020202020204" charset="0"/>
                <a:cs typeface="Times New Roman"/>
                <a:sym typeface="Arial"/>
              </a:rPr>
              <a:t>A class describes </a:t>
            </a:r>
            <a:r>
              <a:rPr lang="en-US" sz="2400" kern="0" dirty="0">
                <a:solidFill>
                  <a:srgbClr val="000000"/>
                </a:solidFill>
                <a:latin typeface="Lato" panose="020B0604020202020204" charset="0"/>
                <a:cs typeface="Times New Roman"/>
                <a:sym typeface="Arial"/>
              </a:rPr>
              <a:t>the </a:t>
            </a:r>
            <a:r>
              <a:rPr lang="en-US" sz="2400" kern="0" spc="-7" dirty="0">
                <a:solidFill>
                  <a:srgbClr val="000000"/>
                </a:solidFill>
                <a:latin typeface="Lato" panose="020B0604020202020204" charset="0"/>
                <a:cs typeface="Times New Roman"/>
                <a:sym typeface="Arial"/>
              </a:rPr>
              <a:t>structure </a:t>
            </a:r>
            <a:r>
              <a:rPr lang="en-US" sz="2400" kern="0" spc="-13" dirty="0">
                <a:solidFill>
                  <a:srgbClr val="000000"/>
                </a:solidFill>
                <a:latin typeface="Lato" panose="020B0604020202020204" charset="0"/>
                <a:cs typeface="Times New Roman"/>
                <a:sym typeface="Arial"/>
              </a:rPr>
              <a:t>and </a:t>
            </a:r>
            <a:r>
              <a:rPr lang="en-US" sz="2400" kern="0" spc="-7" dirty="0">
                <a:solidFill>
                  <a:srgbClr val="000000"/>
                </a:solidFill>
                <a:latin typeface="Lato" panose="020B0604020202020204" charset="0"/>
                <a:cs typeface="Times New Roman"/>
                <a:sym typeface="Arial"/>
              </a:rPr>
              <a:t>behavior </a:t>
            </a:r>
            <a:r>
              <a:rPr lang="en-US" sz="2400" kern="0" dirty="0">
                <a:solidFill>
                  <a:srgbClr val="000000"/>
                </a:solidFill>
                <a:latin typeface="Lato" panose="020B0604020202020204" charset="0"/>
                <a:cs typeface="Times New Roman"/>
                <a:sym typeface="Arial"/>
              </a:rPr>
              <a:t>of a </a:t>
            </a:r>
            <a:r>
              <a:rPr lang="en-US" sz="2400" kern="0" spc="-13" dirty="0">
                <a:solidFill>
                  <a:srgbClr val="000000"/>
                </a:solidFill>
                <a:latin typeface="Lato" panose="020B0604020202020204" charset="0"/>
                <a:cs typeface="Times New Roman"/>
                <a:sym typeface="Arial"/>
              </a:rPr>
              <a:t>set </a:t>
            </a:r>
            <a:r>
              <a:rPr lang="en-US" sz="2400" kern="0" dirty="0">
                <a:solidFill>
                  <a:srgbClr val="000000"/>
                </a:solidFill>
                <a:latin typeface="Lato" panose="020B0604020202020204" charset="0"/>
                <a:cs typeface="Times New Roman"/>
                <a:sym typeface="Arial"/>
              </a:rPr>
              <a:t>of  </a:t>
            </a:r>
            <a:r>
              <a:rPr lang="en-US" sz="2400" kern="0" spc="-13" dirty="0">
                <a:solidFill>
                  <a:srgbClr val="000000"/>
                </a:solidFill>
                <a:latin typeface="Lato" panose="020B0604020202020204" charset="0"/>
                <a:cs typeface="Times New Roman"/>
                <a:sym typeface="Arial"/>
              </a:rPr>
              <a:t>similar</a:t>
            </a:r>
            <a:r>
              <a:rPr lang="en-US" sz="2400" kern="0" spc="-7" dirty="0">
                <a:solidFill>
                  <a:srgbClr val="000000"/>
                </a:solidFill>
                <a:latin typeface="Lato" panose="020B0604020202020204" charset="0"/>
                <a:cs typeface="Times New Roman"/>
                <a:sym typeface="Arial"/>
              </a:rPr>
              <a:t> objects.</a:t>
            </a:r>
            <a:endParaRPr lang="en-US" sz="2400" kern="0" dirty="0">
              <a:solidFill>
                <a:srgbClr val="000000"/>
              </a:solidFill>
              <a:latin typeface="Lato" panose="020B0604020202020204" charset="0"/>
              <a:cs typeface="Times New Roman"/>
              <a:sym typeface="Arial"/>
            </a:endParaRPr>
          </a:p>
          <a:p>
            <a:pPr defTabSz="1219170">
              <a:spcBef>
                <a:spcPts val="33"/>
              </a:spcBef>
              <a:buClr>
                <a:srgbClr val="000000"/>
              </a:buClr>
            </a:pPr>
            <a:endParaRPr lang="en-US" sz="2667" kern="0" dirty="0">
              <a:solidFill>
                <a:srgbClr val="000000"/>
              </a:solidFill>
              <a:latin typeface="Lato" panose="020B0604020202020204" charset="0"/>
              <a:cs typeface="Times New Roman"/>
              <a:sym typeface="Arial"/>
            </a:endParaRPr>
          </a:p>
        </p:txBody>
      </p:sp>
    </p:spTree>
    <p:extLst>
      <p:ext uri="{BB962C8B-B14F-4D97-AF65-F5344CB8AC3E}">
        <p14:creationId xmlns:p14="http://schemas.microsoft.com/office/powerpoint/2010/main" val="900837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Classes and Objects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9</a:t>
            </a:fld>
            <a:endParaRPr lang="en" kern="0">
              <a:solidFill>
                <a:srgbClr val="595959"/>
              </a:solidFill>
            </a:endParaRPr>
          </a:p>
        </p:txBody>
      </p:sp>
      <p:sp>
        <p:nvSpPr>
          <p:cNvPr id="104" name="object 9">
            <a:extLst>
              <a:ext uri="{FF2B5EF4-FFF2-40B4-BE49-F238E27FC236}">
                <a16:creationId xmlns:a16="http://schemas.microsoft.com/office/drawing/2014/main" id="{1CCE95C8-4370-419D-B58E-BBA5BCFBA6B6}"/>
              </a:ext>
            </a:extLst>
          </p:cNvPr>
          <p:cNvSpPr txBox="1"/>
          <p:nvPr/>
        </p:nvSpPr>
        <p:spPr>
          <a:xfrm>
            <a:off x="433883" y="1871331"/>
            <a:ext cx="11313652" cy="4285852"/>
          </a:xfrm>
          <a:prstGeom prst="rect">
            <a:avLst/>
          </a:prstGeom>
        </p:spPr>
        <p:txBody>
          <a:bodyPr vert="horz" wrap="square" lIns="0" tIns="73659" rIns="0" bIns="0" rtlCol="0">
            <a:spAutoFit/>
          </a:bodyPr>
          <a:lstStyle/>
          <a:p>
            <a:pPr marL="16933" marR="6773" algn="just" defTabSz="1219170">
              <a:spcBef>
                <a:spcPts val="133"/>
              </a:spcBef>
              <a:buClr>
                <a:srgbClr val="000000"/>
              </a:buClr>
            </a:pPr>
            <a:r>
              <a:rPr lang="en-US" sz="2400" kern="0" spc="-7" dirty="0">
                <a:solidFill>
                  <a:srgbClr val="000000"/>
                </a:solidFill>
                <a:latin typeface="Lato" panose="020B0604020202020204" charset="0"/>
                <a:cs typeface="Times New Roman"/>
                <a:sym typeface="Arial"/>
              </a:rPr>
              <a:t>Once </a:t>
            </a:r>
            <a:r>
              <a:rPr lang="en-US" sz="2400" kern="0" dirty="0">
                <a:solidFill>
                  <a:srgbClr val="000000"/>
                </a:solidFill>
                <a:latin typeface="Lato" panose="020B0604020202020204" charset="0"/>
                <a:cs typeface="Times New Roman"/>
                <a:sym typeface="Arial"/>
              </a:rPr>
              <a:t>a </a:t>
            </a:r>
            <a:r>
              <a:rPr lang="en-US" sz="2400" kern="0" spc="-7" dirty="0">
                <a:solidFill>
                  <a:srgbClr val="000000"/>
                </a:solidFill>
                <a:latin typeface="Lato" panose="020B0604020202020204" charset="0"/>
                <a:cs typeface="Times New Roman"/>
                <a:sym typeface="Arial"/>
              </a:rPr>
              <a:t>class </a:t>
            </a:r>
            <a:r>
              <a:rPr lang="en-US" sz="2400" kern="0" spc="7" dirty="0">
                <a:solidFill>
                  <a:srgbClr val="000000"/>
                </a:solidFill>
                <a:latin typeface="Lato" panose="020B0604020202020204" charset="0"/>
                <a:cs typeface="Times New Roman"/>
                <a:sym typeface="Arial"/>
              </a:rPr>
              <a:t>of </a:t>
            </a:r>
            <a:r>
              <a:rPr lang="en-US" sz="2400" kern="0" spc="-13" dirty="0">
                <a:solidFill>
                  <a:srgbClr val="000000"/>
                </a:solidFill>
                <a:latin typeface="Lato" panose="020B0604020202020204" charset="0"/>
                <a:cs typeface="Times New Roman"/>
                <a:sym typeface="Arial"/>
              </a:rPr>
              <a:t>items </a:t>
            </a:r>
            <a:r>
              <a:rPr lang="en-US" sz="2400" kern="0" spc="-7" dirty="0">
                <a:solidFill>
                  <a:srgbClr val="000000"/>
                </a:solidFill>
                <a:latin typeface="Lato" panose="020B0604020202020204" charset="0"/>
                <a:cs typeface="Times New Roman"/>
                <a:sym typeface="Arial"/>
              </a:rPr>
              <a:t>is defined, </a:t>
            </a:r>
            <a:r>
              <a:rPr lang="en-US" sz="2400" kern="0" dirty="0">
                <a:solidFill>
                  <a:srgbClr val="000000"/>
                </a:solidFill>
                <a:latin typeface="Lato" panose="020B0604020202020204" charset="0"/>
                <a:cs typeface="Times New Roman"/>
                <a:sym typeface="Arial"/>
              </a:rPr>
              <a:t>a </a:t>
            </a:r>
            <a:r>
              <a:rPr lang="en-US" sz="2400" kern="0" spc="-7" dirty="0">
                <a:solidFill>
                  <a:srgbClr val="000000"/>
                </a:solidFill>
                <a:latin typeface="Lato" panose="020B0604020202020204" charset="0"/>
                <a:cs typeface="Times New Roman"/>
                <a:sym typeface="Arial"/>
              </a:rPr>
              <a:t>specific instance </a:t>
            </a:r>
            <a:r>
              <a:rPr lang="en-US" sz="2400" kern="0" spc="20" dirty="0">
                <a:solidFill>
                  <a:srgbClr val="000000"/>
                </a:solidFill>
                <a:latin typeface="Lato" panose="020B0604020202020204" charset="0"/>
                <a:cs typeface="Times New Roman"/>
                <a:sym typeface="Arial"/>
              </a:rPr>
              <a:t>of  </a:t>
            </a:r>
            <a:r>
              <a:rPr lang="en-US" sz="2400" kern="0" dirty="0">
                <a:solidFill>
                  <a:srgbClr val="000000"/>
                </a:solidFill>
                <a:latin typeface="Lato" panose="020B0604020202020204" charset="0"/>
                <a:cs typeface="Times New Roman"/>
                <a:sym typeface="Arial"/>
              </a:rPr>
              <a:t>the </a:t>
            </a:r>
            <a:r>
              <a:rPr lang="en-US" sz="2400" kern="0" spc="-7" dirty="0">
                <a:solidFill>
                  <a:srgbClr val="000000"/>
                </a:solidFill>
                <a:latin typeface="Lato" panose="020B0604020202020204" charset="0"/>
                <a:cs typeface="Times New Roman"/>
                <a:sym typeface="Arial"/>
              </a:rPr>
              <a:t>class can </a:t>
            </a:r>
            <a:r>
              <a:rPr lang="en-US" sz="2400" kern="0" dirty="0">
                <a:solidFill>
                  <a:srgbClr val="000000"/>
                </a:solidFill>
                <a:latin typeface="Lato" panose="020B0604020202020204" charset="0"/>
                <a:cs typeface="Times New Roman"/>
                <a:sym typeface="Arial"/>
              </a:rPr>
              <a:t>be </a:t>
            </a:r>
            <a:r>
              <a:rPr lang="en-US" sz="2400" kern="0" spc="-7" dirty="0">
                <a:solidFill>
                  <a:srgbClr val="000000"/>
                </a:solidFill>
                <a:latin typeface="Lato" panose="020B0604020202020204" charset="0"/>
                <a:cs typeface="Times New Roman"/>
                <a:sym typeface="Arial"/>
              </a:rPr>
              <a:t>defined. An instance is also called  “</a:t>
            </a:r>
            <a:r>
              <a:rPr lang="en-US" sz="2400" b="1" kern="0" spc="-7" dirty="0">
                <a:solidFill>
                  <a:srgbClr val="C00000"/>
                </a:solidFill>
                <a:latin typeface="Lato" panose="020B0604020202020204" charset="0"/>
                <a:cs typeface="Times New Roman"/>
                <a:sym typeface="Arial"/>
              </a:rPr>
              <a:t>object</a:t>
            </a:r>
            <a:r>
              <a:rPr lang="en-US" sz="2400" kern="0" spc="-7" dirty="0">
                <a:solidFill>
                  <a:srgbClr val="000000"/>
                </a:solidFill>
                <a:latin typeface="Lato" panose="020B0604020202020204" charset="0"/>
                <a:cs typeface="Times New Roman"/>
                <a:sym typeface="Arial"/>
              </a:rPr>
              <a:t>”.</a:t>
            </a:r>
            <a:endParaRPr lang="en-US" sz="2400" kern="0" dirty="0">
              <a:solidFill>
                <a:srgbClr val="000000"/>
              </a:solidFill>
              <a:latin typeface="Lato" panose="020B0604020202020204" charset="0"/>
              <a:cs typeface="Times New Roman"/>
              <a:sym typeface="Arial"/>
            </a:endParaRPr>
          </a:p>
          <a:p>
            <a:pPr marL="16933" algn="just" defTabSz="1219170">
              <a:spcBef>
                <a:spcPts val="2240"/>
              </a:spcBef>
              <a:buClr>
                <a:srgbClr val="000000"/>
              </a:buClr>
            </a:pPr>
            <a:r>
              <a:rPr lang="en-US" sz="2400" kern="0" spc="-7" dirty="0">
                <a:solidFill>
                  <a:srgbClr val="000000"/>
                </a:solidFill>
                <a:latin typeface="Lato" panose="020B0604020202020204" charset="0"/>
                <a:cs typeface="Times New Roman"/>
                <a:sym typeface="Arial"/>
              </a:rPr>
              <a:t>An </a:t>
            </a:r>
            <a:r>
              <a:rPr lang="en-US" sz="2400" kern="0" spc="-7" dirty="0">
                <a:solidFill>
                  <a:srgbClr val="C00000"/>
                </a:solidFill>
                <a:latin typeface="Lato" panose="020B0604020202020204" charset="0"/>
                <a:cs typeface="Times New Roman"/>
                <a:sym typeface="Arial"/>
              </a:rPr>
              <a:t>object </a:t>
            </a:r>
            <a:r>
              <a:rPr lang="en-US" sz="2400" kern="0" spc="-7" dirty="0">
                <a:solidFill>
                  <a:srgbClr val="000000"/>
                </a:solidFill>
                <a:latin typeface="Lato" panose="020B0604020202020204" charset="0"/>
                <a:cs typeface="Times New Roman"/>
                <a:sym typeface="Arial"/>
              </a:rPr>
              <a:t>has </a:t>
            </a:r>
            <a:r>
              <a:rPr lang="en-US" sz="2400" kern="0" dirty="0">
                <a:solidFill>
                  <a:srgbClr val="000000"/>
                </a:solidFill>
                <a:latin typeface="Lato" panose="020B0604020202020204" charset="0"/>
                <a:cs typeface="Times New Roman"/>
                <a:sym typeface="Arial"/>
              </a:rPr>
              <a:t>a unique </a:t>
            </a:r>
            <a:r>
              <a:rPr lang="en-US" sz="2400" kern="0" spc="-27" dirty="0">
                <a:solidFill>
                  <a:srgbClr val="C00000"/>
                </a:solidFill>
                <a:latin typeface="Lato" panose="020B0604020202020204" charset="0"/>
                <a:cs typeface="Times New Roman"/>
                <a:sym typeface="Arial"/>
              </a:rPr>
              <a:t>identity, </a:t>
            </a:r>
            <a:r>
              <a:rPr lang="en-US" sz="2400" kern="0" spc="-7" dirty="0">
                <a:solidFill>
                  <a:srgbClr val="C00000"/>
                </a:solidFill>
                <a:latin typeface="Lato" panose="020B0604020202020204" charset="0"/>
                <a:cs typeface="Times New Roman"/>
                <a:sym typeface="Arial"/>
              </a:rPr>
              <a:t>state, and</a:t>
            </a:r>
            <a:r>
              <a:rPr lang="en-US" sz="2400" kern="0" spc="-93" dirty="0">
                <a:solidFill>
                  <a:srgbClr val="C00000"/>
                </a:solidFill>
                <a:latin typeface="Lato" panose="020B0604020202020204" charset="0"/>
                <a:cs typeface="Times New Roman"/>
                <a:sym typeface="Arial"/>
              </a:rPr>
              <a:t> </a:t>
            </a:r>
            <a:r>
              <a:rPr lang="en-US" sz="2400" kern="0" spc="-7" dirty="0">
                <a:solidFill>
                  <a:srgbClr val="C00000"/>
                </a:solidFill>
                <a:latin typeface="Lato" panose="020B0604020202020204" charset="0"/>
                <a:cs typeface="Times New Roman"/>
                <a:sym typeface="Arial"/>
              </a:rPr>
              <a:t>behaviors.</a:t>
            </a:r>
            <a:endParaRPr lang="en-US" sz="2400" kern="0" dirty="0">
              <a:solidFill>
                <a:srgbClr val="000000"/>
              </a:solidFill>
              <a:latin typeface="Lato" panose="020B0604020202020204" charset="0"/>
              <a:cs typeface="Times New Roman"/>
              <a:sym typeface="Arial"/>
            </a:endParaRPr>
          </a:p>
          <a:p>
            <a:pPr marL="17780" algn="just" defTabSz="1219170">
              <a:spcBef>
                <a:spcPts val="2240"/>
              </a:spcBef>
              <a:buClr>
                <a:srgbClr val="000000"/>
              </a:buClr>
            </a:pPr>
            <a:r>
              <a:rPr lang="en-US" sz="2400" kern="0" dirty="0">
                <a:solidFill>
                  <a:srgbClr val="000000"/>
                </a:solidFill>
                <a:latin typeface="Lato" panose="020B0604020202020204" charset="0"/>
                <a:cs typeface="Times New Roman"/>
                <a:sym typeface="Arial"/>
              </a:rPr>
              <a:t>The </a:t>
            </a:r>
            <a:r>
              <a:rPr lang="en-US" sz="2400" i="1" kern="0" spc="-7" dirty="0">
                <a:solidFill>
                  <a:srgbClr val="C00000"/>
                </a:solidFill>
                <a:latin typeface="Lato" panose="020B0604020202020204" charset="0"/>
                <a:cs typeface="Times New Roman"/>
                <a:sym typeface="Arial"/>
              </a:rPr>
              <a:t>state </a:t>
            </a:r>
            <a:r>
              <a:rPr lang="en-US" sz="2400" kern="0" dirty="0">
                <a:solidFill>
                  <a:srgbClr val="C00000"/>
                </a:solidFill>
                <a:latin typeface="Lato" panose="020B0604020202020204" charset="0"/>
                <a:cs typeface="Times New Roman"/>
                <a:sym typeface="Arial"/>
              </a:rPr>
              <a:t>of </a:t>
            </a:r>
            <a:r>
              <a:rPr lang="en-US" sz="2400" kern="0" spc="-7" dirty="0">
                <a:solidFill>
                  <a:srgbClr val="C00000"/>
                </a:solidFill>
                <a:latin typeface="Lato" panose="020B0604020202020204" charset="0"/>
                <a:cs typeface="Times New Roman"/>
                <a:sym typeface="Arial"/>
              </a:rPr>
              <a:t>an object </a:t>
            </a:r>
            <a:r>
              <a:rPr lang="en-US" sz="2400" kern="0" spc="-7" dirty="0">
                <a:solidFill>
                  <a:srgbClr val="000000"/>
                </a:solidFill>
                <a:latin typeface="Lato" panose="020B0604020202020204" charset="0"/>
                <a:cs typeface="Times New Roman"/>
                <a:sym typeface="Arial"/>
              </a:rPr>
              <a:t>consists </a:t>
            </a:r>
            <a:r>
              <a:rPr lang="en-US" sz="2400" kern="0" dirty="0">
                <a:solidFill>
                  <a:srgbClr val="000000"/>
                </a:solidFill>
                <a:latin typeface="Lato" panose="020B0604020202020204" charset="0"/>
                <a:cs typeface="Times New Roman"/>
                <a:sym typeface="Arial"/>
              </a:rPr>
              <a:t>of a </a:t>
            </a:r>
            <a:r>
              <a:rPr lang="en-US" sz="2400" kern="0" spc="-13" dirty="0">
                <a:solidFill>
                  <a:srgbClr val="C00000"/>
                </a:solidFill>
                <a:latin typeface="Lato" panose="020B0604020202020204" charset="0"/>
                <a:cs typeface="Times New Roman"/>
                <a:sym typeface="Arial"/>
              </a:rPr>
              <a:t>set </a:t>
            </a:r>
            <a:r>
              <a:rPr lang="en-US" sz="2400" kern="0" spc="7" dirty="0">
                <a:solidFill>
                  <a:srgbClr val="C00000"/>
                </a:solidFill>
                <a:latin typeface="Lato" panose="020B0604020202020204" charset="0"/>
                <a:cs typeface="Times New Roman"/>
                <a:sym typeface="Arial"/>
              </a:rPr>
              <a:t>of </a:t>
            </a:r>
            <a:r>
              <a:rPr lang="en-US" sz="2400" i="1" kern="0" dirty="0">
                <a:solidFill>
                  <a:srgbClr val="C00000"/>
                </a:solidFill>
                <a:latin typeface="Lato" panose="020B0604020202020204" charset="0"/>
                <a:cs typeface="Times New Roman"/>
                <a:sym typeface="Arial"/>
              </a:rPr>
              <a:t>data</a:t>
            </a:r>
            <a:r>
              <a:rPr lang="en-US" sz="2400" i="1" kern="0" spc="413" dirty="0">
                <a:solidFill>
                  <a:srgbClr val="C00000"/>
                </a:solidFill>
                <a:latin typeface="Lato" panose="020B0604020202020204" charset="0"/>
                <a:cs typeface="Times New Roman"/>
                <a:sym typeface="Arial"/>
              </a:rPr>
              <a:t> </a:t>
            </a:r>
            <a:r>
              <a:rPr lang="en-US" sz="2400" i="1" kern="0" spc="-7" dirty="0">
                <a:solidFill>
                  <a:srgbClr val="C00000"/>
                </a:solidFill>
                <a:latin typeface="Lato" panose="020B0604020202020204" charset="0"/>
                <a:cs typeface="Times New Roman"/>
                <a:sym typeface="Arial"/>
              </a:rPr>
              <a:t>fields</a:t>
            </a:r>
            <a:endParaRPr lang="en-US" sz="2400" kern="0" dirty="0">
              <a:solidFill>
                <a:srgbClr val="000000"/>
              </a:solidFill>
              <a:latin typeface="Lato" panose="020B0604020202020204" charset="0"/>
              <a:cs typeface="Times New Roman"/>
              <a:sym typeface="Arial"/>
            </a:endParaRPr>
          </a:p>
          <a:p>
            <a:pPr marL="17780" algn="just" defTabSz="1219170">
              <a:buClr>
                <a:srgbClr val="000000"/>
              </a:buClr>
            </a:pPr>
            <a:r>
              <a:rPr lang="en-US" sz="2400" kern="0" spc="-7" dirty="0">
                <a:solidFill>
                  <a:srgbClr val="000000"/>
                </a:solidFill>
                <a:latin typeface="Lato" panose="020B0604020202020204" charset="0"/>
                <a:cs typeface="Times New Roman"/>
                <a:sym typeface="Arial"/>
              </a:rPr>
              <a:t>(also known as </a:t>
            </a:r>
            <a:r>
              <a:rPr lang="en-US" sz="2400" i="1" kern="0" spc="-20" dirty="0">
                <a:solidFill>
                  <a:srgbClr val="000000"/>
                </a:solidFill>
                <a:latin typeface="Lato" panose="020B0604020202020204" charset="0"/>
                <a:cs typeface="Times New Roman"/>
                <a:sym typeface="Arial"/>
              </a:rPr>
              <a:t>properties</a:t>
            </a:r>
            <a:r>
              <a:rPr lang="en-US" sz="2400" kern="0" spc="-20" dirty="0">
                <a:solidFill>
                  <a:srgbClr val="000000"/>
                </a:solidFill>
                <a:latin typeface="Lato" panose="020B0604020202020204" charset="0"/>
                <a:cs typeface="Times New Roman"/>
                <a:sym typeface="Arial"/>
              </a:rPr>
              <a:t>) </a:t>
            </a:r>
            <a:r>
              <a:rPr lang="en-US" sz="2400" kern="0" spc="-7" dirty="0">
                <a:solidFill>
                  <a:srgbClr val="000000"/>
                </a:solidFill>
                <a:latin typeface="Lato" panose="020B0604020202020204" charset="0"/>
                <a:cs typeface="Times New Roman"/>
                <a:sym typeface="Arial"/>
              </a:rPr>
              <a:t>with their </a:t>
            </a:r>
            <a:r>
              <a:rPr lang="en-US" sz="2400" kern="0" dirty="0">
                <a:solidFill>
                  <a:srgbClr val="000000"/>
                </a:solidFill>
                <a:latin typeface="Lato" panose="020B0604020202020204" charset="0"/>
                <a:cs typeface="Times New Roman"/>
                <a:sym typeface="Arial"/>
              </a:rPr>
              <a:t>current</a:t>
            </a:r>
            <a:r>
              <a:rPr lang="en-US" sz="2400" kern="0" spc="-7" dirty="0">
                <a:solidFill>
                  <a:srgbClr val="000000"/>
                </a:solidFill>
                <a:latin typeface="Lato" panose="020B0604020202020204" charset="0"/>
                <a:cs typeface="Times New Roman"/>
                <a:sym typeface="Arial"/>
              </a:rPr>
              <a:t> values.</a:t>
            </a:r>
            <a:endParaRPr lang="en-US" sz="2400" kern="0" dirty="0">
              <a:solidFill>
                <a:srgbClr val="000000"/>
              </a:solidFill>
              <a:latin typeface="Lato" panose="020B0604020202020204" charset="0"/>
              <a:cs typeface="Times New Roman"/>
              <a:sym typeface="Arial"/>
            </a:endParaRPr>
          </a:p>
          <a:p>
            <a:pPr marL="17780" marR="11853" algn="just" defTabSz="1219170">
              <a:spcBef>
                <a:spcPts val="2240"/>
              </a:spcBef>
              <a:buClr>
                <a:srgbClr val="000000"/>
              </a:buClr>
            </a:pPr>
            <a:r>
              <a:rPr lang="en-US" sz="2400" kern="0" dirty="0">
                <a:solidFill>
                  <a:srgbClr val="000000"/>
                </a:solidFill>
                <a:latin typeface="Lato" panose="020B0604020202020204" charset="0"/>
                <a:cs typeface="Times New Roman"/>
                <a:sym typeface="Arial"/>
              </a:rPr>
              <a:t>The </a:t>
            </a:r>
            <a:r>
              <a:rPr lang="en-US" sz="2400" i="1" kern="0" spc="-7" dirty="0">
                <a:solidFill>
                  <a:srgbClr val="C00000"/>
                </a:solidFill>
                <a:latin typeface="Lato" panose="020B0604020202020204" charset="0"/>
                <a:cs typeface="Times New Roman"/>
                <a:sym typeface="Arial"/>
              </a:rPr>
              <a:t>behavior </a:t>
            </a:r>
            <a:r>
              <a:rPr lang="en-US" sz="2400" kern="0" dirty="0">
                <a:solidFill>
                  <a:srgbClr val="C00000"/>
                </a:solidFill>
                <a:latin typeface="Lato" panose="020B0604020202020204" charset="0"/>
                <a:cs typeface="Times New Roman"/>
                <a:sym typeface="Arial"/>
              </a:rPr>
              <a:t>of </a:t>
            </a:r>
            <a:r>
              <a:rPr lang="en-US" sz="2400" kern="0" spc="7" dirty="0">
                <a:solidFill>
                  <a:srgbClr val="C00000"/>
                </a:solidFill>
                <a:latin typeface="Lato" panose="020B0604020202020204" charset="0"/>
                <a:cs typeface="Times New Roman"/>
                <a:sym typeface="Arial"/>
              </a:rPr>
              <a:t>an </a:t>
            </a:r>
            <a:r>
              <a:rPr lang="en-US" sz="2400" kern="0" spc="-7" dirty="0">
                <a:solidFill>
                  <a:srgbClr val="C00000"/>
                </a:solidFill>
                <a:latin typeface="Lato" panose="020B0604020202020204" charset="0"/>
                <a:cs typeface="Times New Roman"/>
                <a:sym typeface="Arial"/>
              </a:rPr>
              <a:t>object </a:t>
            </a:r>
            <a:r>
              <a:rPr lang="en-US" sz="2400" kern="0" spc="-7" dirty="0">
                <a:solidFill>
                  <a:srgbClr val="000000"/>
                </a:solidFill>
                <a:latin typeface="Lato" panose="020B0604020202020204" charset="0"/>
                <a:cs typeface="Times New Roman"/>
                <a:sym typeface="Arial"/>
              </a:rPr>
              <a:t>is defined </a:t>
            </a:r>
            <a:r>
              <a:rPr lang="en-US" sz="2400" kern="0" dirty="0">
                <a:solidFill>
                  <a:srgbClr val="000000"/>
                </a:solidFill>
                <a:latin typeface="Lato" panose="020B0604020202020204" charset="0"/>
                <a:cs typeface="Times New Roman"/>
                <a:sym typeface="Arial"/>
              </a:rPr>
              <a:t>by a </a:t>
            </a:r>
            <a:r>
              <a:rPr lang="en-US" sz="2400" kern="0" spc="-13" dirty="0">
                <a:solidFill>
                  <a:srgbClr val="C00000"/>
                </a:solidFill>
                <a:latin typeface="Lato" panose="020B0604020202020204" charset="0"/>
                <a:cs typeface="Times New Roman"/>
                <a:sym typeface="Arial"/>
              </a:rPr>
              <a:t>set </a:t>
            </a:r>
            <a:r>
              <a:rPr lang="en-US" sz="2400" kern="0" dirty="0">
                <a:solidFill>
                  <a:srgbClr val="C00000"/>
                </a:solidFill>
                <a:latin typeface="Lato" panose="020B0604020202020204" charset="0"/>
                <a:cs typeface="Times New Roman"/>
                <a:sym typeface="Arial"/>
              </a:rPr>
              <a:t>of </a:t>
            </a:r>
            <a:r>
              <a:rPr lang="en-US" sz="2400" kern="0" spc="-13" dirty="0">
                <a:solidFill>
                  <a:srgbClr val="C00000"/>
                </a:solidFill>
                <a:latin typeface="Lato" panose="020B0604020202020204" charset="0"/>
                <a:cs typeface="Times New Roman"/>
                <a:sym typeface="Arial"/>
              </a:rPr>
              <a:t>methods,  </a:t>
            </a:r>
            <a:r>
              <a:rPr lang="en-US" sz="2400" kern="0" dirty="0">
                <a:solidFill>
                  <a:srgbClr val="000000"/>
                </a:solidFill>
                <a:latin typeface="Lato" panose="020B0604020202020204" charset="0"/>
                <a:cs typeface="Times New Roman"/>
                <a:sym typeface="Arial"/>
              </a:rPr>
              <a:t>in </a:t>
            </a:r>
            <a:r>
              <a:rPr lang="en-US" sz="2400" kern="0" spc="-7" dirty="0">
                <a:solidFill>
                  <a:srgbClr val="000000"/>
                </a:solidFill>
                <a:latin typeface="Lato" panose="020B0604020202020204" charset="0"/>
                <a:cs typeface="Times New Roman"/>
                <a:sym typeface="Arial"/>
              </a:rPr>
              <a:t>other words, what </a:t>
            </a:r>
            <a:r>
              <a:rPr lang="en-US" sz="2400" kern="0" dirty="0">
                <a:solidFill>
                  <a:srgbClr val="000000"/>
                </a:solidFill>
                <a:latin typeface="Lato" panose="020B0604020202020204" charset="0"/>
                <a:cs typeface="Times New Roman"/>
                <a:sym typeface="Arial"/>
              </a:rPr>
              <a:t>the </a:t>
            </a:r>
            <a:r>
              <a:rPr lang="en-US" sz="2400" kern="0" spc="-7" dirty="0">
                <a:solidFill>
                  <a:srgbClr val="000000"/>
                </a:solidFill>
                <a:latin typeface="Lato" panose="020B0604020202020204" charset="0"/>
                <a:cs typeface="Times New Roman"/>
                <a:sym typeface="Arial"/>
              </a:rPr>
              <a:t>object</a:t>
            </a:r>
            <a:r>
              <a:rPr lang="en-US" sz="2400" kern="0" spc="-60" dirty="0">
                <a:solidFill>
                  <a:srgbClr val="000000"/>
                </a:solidFill>
                <a:latin typeface="Lato" panose="020B0604020202020204" charset="0"/>
                <a:cs typeface="Times New Roman"/>
                <a:sym typeface="Arial"/>
              </a:rPr>
              <a:t> </a:t>
            </a:r>
            <a:r>
              <a:rPr lang="en-US" sz="2400" kern="0" spc="-7" dirty="0">
                <a:solidFill>
                  <a:srgbClr val="000000"/>
                </a:solidFill>
                <a:latin typeface="Lato" panose="020B0604020202020204" charset="0"/>
                <a:cs typeface="Times New Roman"/>
                <a:sym typeface="Arial"/>
              </a:rPr>
              <a:t>does.</a:t>
            </a:r>
            <a:endParaRPr lang="en-US" sz="2400" kern="0" dirty="0">
              <a:solidFill>
                <a:srgbClr val="000000"/>
              </a:solidFill>
              <a:latin typeface="Lato" panose="020B0604020202020204" charset="0"/>
              <a:cs typeface="Times New Roman"/>
              <a:sym typeface="Arial"/>
            </a:endParaRPr>
          </a:p>
          <a:p>
            <a:pPr defTabSz="1219170">
              <a:spcBef>
                <a:spcPts val="33"/>
              </a:spcBef>
              <a:buClr>
                <a:srgbClr val="000000"/>
              </a:buClr>
            </a:pPr>
            <a:endParaRPr lang="en-US" sz="2667" kern="0" dirty="0">
              <a:solidFill>
                <a:srgbClr val="000000"/>
              </a:solidFill>
              <a:latin typeface="Lato" panose="020B0604020202020204" charset="0"/>
              <a:cs typeface="Times New Roman"/>
              <a:sym typeface="Arial"/>
            </a:endParaRPr>
          </a:p>
          <a:p>
            <a:pPr marL="17780" marR="9313" algn="just" defTabSz="1219170">
              <a:buClr>
                <a:srgbClr val="000000"/>
              </a:buClr>
            </a:pPr>
            <a:r>
              <a:rPr lang="en-US" sz="2400" kern="0" dirty="0">
                <a:solidFill>
                  <a:srgbClr val="000000"/>
                </a:solidFill>
                <a:latin typeface="Lato" panose="020B0604020202020204" charset="0"/>
                <a:cs typeface="Times New Roman"/>
                <a:sym typeface="Arial"/>
              </a:rPr>
              <a:t>In </a:t>
            </a:r>
            <a:r>
              <a:rPr lang="en-US" sz="2400" kern="0" spc="-7" dirty="0">
                <a:solidFill>
                  <a:srgbClr val="000000"/>
                </a:solidFill>
                <a:latin typeface="Lato" panose="020B0604020202020204" charset="0"/>
                <a:cs typeface="Times New Roman"/>
                <a:sym typeface="Arial"/>
              </a:rPr>
              <a:t>other words an </a:t>
            </a:r>
            <a:r>
              <a:rPr lang="en-US" sz="2400" kern="0" spc="-7" dirty="0">
                <a:solidFill>
                  <a:srgbClr val="C00000"/>
                </a:solidFill>
                <a:latin typeface="Lato" panose="020B0604020202020204" charset="0"/>
                <a:cs typeface="Times New Roman"/>
                <a:sym typeface="Arial"/>
              </a:rPr>
              <a:t>object </a:t>
            </a:r>
            <a:r>
              <a:rPr lang="en-US" sz="2400" kern="0" spc="-7" dirty="0">
                <a:solidFill>
                  <a:srgbClr val="000000"/>
                </a:solidFill>
                <a:latin typeface="Lato" panose="020B0604020202020204" charset="0"/>
                <a:cs typeface="Times New Roman"/>
                <a:sym typeface="Arial"/>
              </a:rPr>
              <a:t>is </a:t>
            </a:r>
            <a:r>
              <a:rPr lang="en-US" sz="2400" kern="0" dirty="0">
                <a:solidFill>
                  <a:srgbClr val="000000"/>
                </a:solidFill>
                <a:latin typeface="Lato" panose="020B0604020202020204" charset="0"/>
                <a:cs typeface="Times New Roman"/>
                <a:sym typeface="Arial"/>
              </a:rPr>
              <a:t>a </a:t>
            </a:r>
            <a:r>
              <a:rPr lang="en-US" sz="2400" kern="0" spc="-7" dirty="0">
                <a:solidFill>
                  <a:srgbClr val="000000"/>
                </a:solidFill>
                <a:latin typeface="Lato" panose="020B0604020202020204" charset="0"/>
                <a:cs typeface="Times New Roman"/>
                <a:sym typeface="Arial"/>
              </a:rPr>
              <a:t>software </a:t>
            </a:r>
            <a:r>
              <a:rPr lang="en-US" sz="2400" kern="0" dirty="0">
                <a:solidFill>
                  <a:srgbClr val="000000"/>
                </a:solidFill>
                <a:latin typeface="Lato" panose="020B0604020202020204" charset="0"/>
                <a:cs typeface="Times New Roman"/>
                <a:sym typeface="Arial"/>
              </a:rPr>
              <a:t>bundle of </a:t>
            </a:r>
            <a:r>
              <a:rPr lang="en-US" sz="2400" kern="0" spc="-7" dirty="0">
                <a:solidFill>
                  <a:srgbClr val="000000"/>
                </a:solidFill>
                <a:latin typeface="Lato" panose="020B0604020202020204" charset="0"/>
                <a:cs typeface="Times New Roman"/>
                <a:sym typeface="Arial"/>
              </a:rPr>
              <a:t>variables and related</a:t>
            </a:r>
            <a:r>
              <a:rPr lang="en-US" sz="2400" kern="0" spc="-100" dirty="0">
                <a:solidFill>
                  <a:srgbClr val="000000"/>
                </a:solidFill>
                <a:latin typeface="Lato" panose="020B0604020202020204" charset="0"/>
                <a:cs typeface="Times New Roman"/>
                <a:sym typeface="Arial"/>
              </a:rPr>
              <a:t> </a:t>
            </a:r>
            <a:r>
              <a:rPr lang="en-US" sz="2400" kern="0" spc="-13" dirty="0">
                <a:solidFill>
                  <a:srgbClr val="000000"/>
                </a:solidFill>
                <a:latin typeface="Lato" panose="020B0604020202020204" charset="0"/>
                <a:cs typeface="Times New Roman"/>
                <a:sym typeface="Arial"/>
              </a:rPr>
              <a:t>methods.</a:t>
            </a:r>
            <a:endParaRPr lang="en-US" sz="2400" kern="0" dirty="0">
              <a:solidFill>
                <a:srgbClr val="000000"/>
              </a:solidFill>
              <a:latin typeface="Lato" panose="020B0604020202020204" charset="0"/>
              <a:cs typeface="Times New Roman"/>
              <a:sym typeface="Arial"/>
            </a:endParaRPr>
          </a:p>
        </p:txBody>
      </p:sp>
    </p:spTree>
    <p:extLst>
      <p:ext uri="{BB962C8B-B14F-4D97-AF65-F5344CB8AC3E}">
        <p14:creationId xmlns:p14="http://schemas.microsoft.com/office/powerpoint/2010/main" val="2501320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Classes and Objects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10</a:t>
            </a:fld>
            <a:endParaRPr lang="en" kern="0">
              <a:solidFill>
                <a:srgbClr val="595959"/>
              </a:solidFill>
            </a:endParaRPr>
          </a:p>
        </p:txBody>
      </p:sp>
      <p:sp>
        <p:nvSpPr>
          <p:cNvPr id="104" name="object 9">
            <a:extLst>
              <a:ext uri="{FF2B5EF4-FFF2-40B4-BE49-F238E27FC236}">
                <a16:creationId xmlns:a16="http://schemas.microsoft.com/office/drawing/2014/main" id="{1CCE95C8-4370-419D-B58E-BBA5BCFBA6B6}"/>
              </a:ext>
            </a:extLst>
          </p:cNvPr>
          <p:cNvSpPr txBox="1"/>
          <p:nvPr/>
        </p:nvSpPr>
        <p:spPr>
          <a:xfrm>
            <a:off x="433885" y="2009082"/>
            <a:ext cx="11313652" cy="2822695"/>
          </a:xfrm>
          <a:prstGeom prst="rect">
            <a:avLst/>
          </a:prstGeom>
        </p:spPr>
        <p:txBody>
          <a:bodyPr vert="horz" wrap="square" lIns="0" tIns="73659" rIns="0" bIns="0" rtlCol="0">
            <a:spAutoFit/>
          </a:bodyPr>
          <a:lstStyle/>
          <a:p>
            <a:pPr marL="16933" marR="6773" algn="just" defTabSz="1219170">
              <a:lnSpc>
                <a:spcPct val="150000"/>
              </a:lnSpc>
              <a:spcBef>
                <a:spcPts val="133"/>
              </a:spcBef>
              <a:buClr>
                <a:srgbClr val="000000"/>
              </a:buClr>
            </a:pPr>
            <a:r>
              <a:rPr lang="en-US" sz="2400" kern="0" spc="-7" dirty="0">
                <a:solidFill>
                  <a:srgbClr val="000000"/>
                </a:solidFill>
                <a:latin typeface="Lato" panose="020B0604020202020204" charset="0"/>
                <a:cs typeface="Times New Roman"/>
                <a:sym typeface="Arial"/>
              </a:rPr>
              <a:t>A class diagram </a:t>
            </a:r>
            <a:r>
              <a:rPr lang="en-US" sz="2400" kern="0" spc="-13" dirty="0">
                <a:solidFill>
                  <a:srgbClr val="000000"/>
                </a:solidFill>
                <a:latin typeface="Lato" panose="020B0604020202020204" charset="0"/>
                <a:cs typeface="Times New Roman"/>
                <a:sym typeface="Arial"/>
              </a:rPr>
              <a:t>is </a:t>
            </a:r>
            <a:r>
              <a:rPr lang="en-US" sz="2400" kern="0" spc="-7" dirty="0">
                <a:solidFill>
                  <a:srgbClr val="000000"/>
                </a:solidFill>
                <a:latin typeface="Lato" panose="020B0604020202020204" charset="0"/>
                <a:cs typeface="Times New Roman"/>
                <a:sym typeface="Arial"/>
              </a:rPr>
              <a:t>simply </a:t>
            </a:r>
            <a:r>
              <a:rPr lang="en-US" sz="2400" kern="0" dirty="0">
                <a:solidFill>
                  <a:srgbClr val="000000"/>
                </a:solidFill>
                <a:latin typeface="Lato" panose="020B0604020202020204" charset="0"/>
                <a:cs typeface="Times New Roman"/>
                <a:sym typeface="Arial"/>
              </a:rPr>
              <a:t>a </a:t>
            </a:r>
            <a:r>
              <a:rPr lang="en-US" sz="2400" kern="0" spc="-7" dirty="0">
                <a:solidFill>
                  <a:srgbClr val="000000"/>
                </a:solidFill>
                <a:latin typeface="Lato" panose="020B0604020202020204" charset="0"/>
                <a:cs typeface="Times New Roman"/>
                <a:sym typeface="Arial"/>
              </a:rPr>
              <a:t>rectangle divided into three  compartments. </a:t>
            </a:r>
          </a:p>
          <a:p>
            <a:pPr marL="397923" marR="6773" indent="-380990" algn="just" defTabSz="1219170">
              <a:lnSpc>
                <a:spcPct val="150000"/>
              </a:lnSpc>
              <a:spcBef>
                <a:spcPts val="133"/>
              </a:spcBef>
              <a:buClr>
                <a:srgbClr val="000000"/>
              </a:buClr>
              <a:buFont typeface="Arial" panose="020B0604020202020204" pitchFamily="34" charset="0"/>
              <a:buChar char="•"/>
            </a:pPr>
            <a:r>
              <a:rPr lang="en-US" sz="2400" kern="0" spc="-7" dirty="0">
                <a:solidFill>
                  <a:srgbClr val="000000"/>
                </a:solidFill>
                <a:latin typeface="Lato" panose="020B0604020202020204" charset="0"/>
                <a:cs typeface="Times New Roman"/>
                <a:sym typeface="Arial"/>
              </a:rPr>
              <a:t>The </a:t>
            </a:r>
            <a:r>
              <a:rPr lang="en-US" sz="2400" kern="0" spc="-13" dirty="0">
                <a:solidFill>
                  <a:srgbClr val="000000"/>
                </a:solidFill>
                <a:latin typeface="Lato" panose="020B0604020202020204" charset="0"/>
                <a:cs typeface="Times New Roman"/>
                <a:sym typeface="Arial"/>
              </a:rPr>
              <a:t>topmost </a:t>
            </a:r>
            <a:r>
              <a:rPr lang="en-US" sz="2400" kern="0" spc="-7" dirty="0">
                <a:solidFill>
                  <a:srgbClr val="000000"/>
                </a:solidFill>
                <a:latin typeface="Lato" panose="020B0604020202020204" charset="0"/>
                <a:cs typeface="Times New Roman"/>
                <a:sym typeface="Arial"/>
              </a:rPr>
              <a:t>compartment contains the name </a:t>
            </a:r>
            <a:r>
              <a:rPr lang="en-US" sz="2400" kern="0" dirty="0">
                <a:solidFill>
                  <a:srgbClr val="000000"/>
                </a:solidFill>
                <a:latin typeface="Lato" panose="020B0604020202020204" charset="0"/>
                <a:cs typeface="Times New Roman"/>
                <a:sym typeface="Arial"/>
              </a:rPr>
              <a:t>of </a:t>
            </a:r>
            <a:r>
              <a:rPr lang="en-US" sz="2400" kern="0" spc="-7" dirty="0">
                <a:solidFill>
                  <a:srgbClr val="000000"/>
                </a:solidFill>
                <a:latin typeface="Lato" panose="020B0604020202020204" charset="0"/>
                <a:cs typeface="Times New Roman"/>
                <a:sym typeface="Arial"/>
              </a:rPr>
              <a:t>the  class. </a:t>
            </a:r>
          </a:p>
          <a:p>
            <a:pPr marL="397923" marR="6773" indent="-380990" algn="just" defTabSz="1219170">
              <a:lnSpc>
                <a:spcPct val="150000"/>
              </a:lnSpc>
              <a:spcBef>
                <a:spcPts val="133"/>
              </a:spcBef>
              <a:buClr>
                <a:srgbClr val="000000"/>
              </a:buClr>
              <a:buFont typeface="Arial" panose="020B0604020202020204" pitchFamily="34" charset="0"/>
              <a:buChar char="•"/>
            </a:pPr>
            <a:r>
              <a:rPr lang="en-US" sz="2400" kern="0" spc="-7" dirty="0">
                <a:solidFill>
                  <a:srgbClr val="000000"/>
                </a:solidFill>
                <a:latin typeface="Lato" panose="020B0604020202020204" charset="0"/>
                <a:cs typeface="Times New Roman"/>
                <a:sym typeface="Arial"/>
              </a:rPr>
              <a:t>The middle compartment contains </a:t>
            </a:r>
            <a:r>
              <a:rPr lang="en-US" sz="2400" kern="0" dirty="0">
                <a:solidFill>
                  <a:srgbClr val="000000"/>
                </a:solidFill>
                <a:latin typeface="Lato" panose="020B0604020202020204" charset="0"/>
                <a:cs typeface="Times New Roman"/>
                <a:sym typeface="Arial"/>
              </a:rPr>
              <a:t>a </a:t>
            </a:r>
            <a:r>
              <a:rPr lang="en-US" sz="2400" kern="0" spc="-7" dirty="0">
                <a:solidFill>
                  <a:srgbClr val="000000"/>
                </a:solidFill>
                <a:latin typeface="Lato" panose="020B0604020202020204" charset="0"/>
                <a:cs typeface="Times New Roman"/>
                <a:sym typeface="Arial"/>
              </a:rPr>
              <a:t>list </a:t>
            </a:r>
            <a:r>
              <a:rPr lang="en-US" sz="2400" kern="0" dirty="0">
                <a:solidFill>
                  <a:srgbClr val="000000"/>
                </a:solidFill>
                <a:latin typeface="Lato" panose="020B0604020202020204" charset="0"/>
                <a:cs typeface="Times New Roman"/>
                <a:sym typeface="Arial"/>
              </a:rPr>
              <a:t>of </a:t>
            </a:r>
            <a:r>
              <a:rPr lang="en-US" sz="2400" kern="0" spc="-7" dirty="0">
                <a:solidFill>
                  <a:srgbClr val="000000"/>
                </a:solidFill>
                <a:latin typeface="Lato" panose="020B0604020202020204" charset="0"/>
                <a:cs typeface="Times New Roman"/>
                <a:sym typeface="Arial"/>
              </a:rPr>
              <a:t>attributes (member  variables), </a:t>
            </a:r>
          </a:p>
          <a:p>
            <a:pPr marL="397923" marR="6773" indent="-380990" algn="just" defTabSz="1219170">
              <a:lnSpc>
                <a:spcPct val="150000"/>
              </a:lnSpc>
              <a:spcBef>
                <a:spcPts val="133"/>
              </a:spcBef>
              <a:buClr>
                <a:srgbClr val="000000"/>
              </a:buClr>
              <a:buFont typeface="Arial" panose="020B0604020202020204" pitchFamily="34" charset="0"/>
              <a:buChar char="•"/>
            </a:pPr>
            <a:r>
              <a:rPr lang="en-US" sz="2400" kern="0" spc="-7" dirty="0">
                <a:solidFill>
                  <a:srgbClr val="000000"/>
                </a:solidFill>
                <a:latin typeface="Lato" panose="020B0604020202020204" charset="0"/>
                <a:cs typeface="Times New Roman"/>
                <a:sym typeface="Arial"/>
              </a:rPr>
              <a:t>the bottom compartment contains </a:t>
            </a:r>
            <a:r>
              <a:rPr lang="en-US" sz="2400" kern="0" dirty="0">
                <a:solidFill>
                  <a:srgbClr val="000000"/>
                </a:solidFill>
                <a:latin typeface="Lato" panose="020B0604020202020204" charset="0"/>
                <a:cs typeface="Times New Roman"/>
                <a:sym typeface="Arial"/>
              </a:rPr>
              <a:t>a </a:t>
            </a:r>
            <a:r>
              <a:rPr lang="en-US" sz="2400" kern="0" spc="-7" dirty="0">
                <a:solidFill>
                  <a:srgbClr val="000000"/>
                </a:solidFill>
                <a:latin typeface="Lato" panose="020B0604020202020204" charset="0"/>
                <a:cs typeface="Times New Roman"/>
                <a:sym typeface="Arial"/>
              </a:rPr>
              <a:t>list </a:t>
            </a:r>
            <a:r>
              <a:rPr lang="en-US" sz="2400" kern="0" dirty="0">
                <a:solidFill>
                  <a:srgbClr val="000000"/>
                </a:solidFill>
                <a:latin typeface="Lato" panose="020B0604020202020204" charset="0"/>
                <a:cs typeface="Times New Roman"/>
                <a:sym typeface="Arial"/>
              </a:rPr>
              <a:t>of </a:t>
            </a:r>
            <a:r>
              <a:rPr lang="en-US" sz="2400" kern="0" spc="-7" dirty="0">
                <a:solidFill>
                  <a:srgbClr val="000000"/>
                </a:solidFill>
                <a:latin typeface="Lato" panose="020B0604020202020204" charset="0"/>
                <a:cs typeface="Times New Roman"/>
                <a:sym typeface="Arial"/>
              </a:rPr>
              <a:t>operations  </a:t>
            </a:r>
            <a:r>
              <a:rPr lang="en-US" sz="2400" kern="0" spc="-13" dirty="0">
                <a:solidFill>
                  <a:srgbClr val="000000"/>
                </a:solidFill>
                <a:latin typeface="Lato" panose="020B0604020202020204" charset="0"/>
                <a:cs typeface="Times New Roman"/>
                <a:sym typeface="Arial"/>
              </a:rPr>
              <a:t>(member </a:t>
            </a:r>
            <a:r>
              <a:rPr lang="en-US" sz="2400" kern="0" spc="-7" dirty="0">
                <a:solidFill>
                  <a:srgbClr val="000000"/>
                </a:solidFill>
                <a:latin typeface="Lato" panose="020B0604020202020204" charset="0"/>
                <a:cs typeface="Times New Roman"/>
                <a:sym typeface="Arial"/>
              </a:rPr>
              <a:t>functions). </a:t>
            </a:r>
          </a:p>
          <a:p>
            <a:pPr marL="16933" marR="6773" algn="just" defTabSz="1219170">
              <a:lnSpc>
                <a:spcPct val="150000"/>
              </a:lnSpc>
              <a:spcBef>
                <a:spcPts val="133"/>
              </a:spcBef>
              <a:buClr>
                <a:srgbClr val="000000"/>
              </a:buClr>
            </a:pPr>
            <a:r>
              <a:rPr lang="en-US" sz="2400" kern="0" spc="-7" dirty="0">
                <a:solidFill>
                  <a:srgbClr val="000000"/>
                </a:solidFill>
                <a:latin typeface="Lato" panose="020B0604020202020204" charset="0"/>
                <a:cs typeface="Times New Roman"/>
                <a:sym typeface="Arial"/>
              </a:rPr>
              <a:t>The </a:t>
            </a:r>
            <a:r>
              <a:rPr lang="en-US" sz="2400" kern="0" dirty="0">
                <a:solidFill>
                  <a:srgbClr val="000000"/>
                </a:solidFill>
                <a:latin typeface="Lato" panose="020B0604020202020204" charset="0"/>
                <a:cs typeface="Times New Roman"/>
                <a:sym typeface="Arial"/>
              </a:rPr>
              <a:t>purpose of a </a:t>
            </a:r>
            <a:r>
              <a:rPr lang="en-US" sz="2400" kern="0" spc="-7" dirty="0">
                <a:solidFill>
                  <a:srgbClr val="000000"/>
                </a:solidFill>
                <a:latin typeface="Lato" panose="020B0604020202020204" charset="0"/>
                <a:cs typeface="Times New Roman"/>
                <a:sym typeface="Arial"/>
              </a:rPr>
              <a:t>class diagram </a:t>
            </a:r>
            <a:r>
              <a:rPr lang="en-US" sz="2400" kern="0" spc="-13" dirty="0">
                <a:solidFill>
                  <a:srgbClr val="000000"/>
                </a:solidFill>
                <a:latin typeface="Lato" panose="020B0604020202020204" charset="0"/>
                <a:cs typeface="Times New Roman"/>
                <a:sym typeface="Arial"/>
              </a:rPr>
              <a:t>is </a:t>
            </a:r>
            <a:r>
              <a:rPr lang="en-US" sz="2400" kern="0" spc="-7" dirty="0">
                <a:solidFill>
                  <a:srgbClr val="000000"/>
                </a:solidFill>
                <a:latin typeface="Lato" panose="020B0604020202020204" charset="0"/>
                <a:cs typeface="Times New Roman"/>
                <a:sym typeface="Arial"/>
              </a:rPr>
              <a:t>to </a:t>
            </a:r>
            <a:r>
              <a:rPr lang="en-US" sz="2400" kern="0" spc="7" dirty="0">
                <a:solidFill>
                  <a:srgbClr val="000000"/>
                </a:solidFill>
                <a:latin typeface="Lato" panose="020B0604020202020204" charset="0"/>
                <a:cs typeface="Times New Roman"/>
                <a:sym typeface="Arial"/>
              </a:rPr>
              <a:t>show </a:t>
            </a:r>
            <a:r>
              <a:rPr lang="en-US" sz="2400" kern="0" spc="-7" dirty="0">
                <a:solidFill>
                  <a:srgbClr val="000000"/>
                </a:solidFill>
                <a:latin typeface="Lato" panose="020B0604020202020204" charset="0"/>
                <a:cs typeface="Times New Roman"/>
                <a:sym typeface="Arial"/>
              </a:rPr>
              <a:t>the  classes within </a:t>
            </a:r>
            <a:r>
              <a:rPr lang="en-US" sz="2400" kern="0" dirty="0">
                <a:solidFill>
                  <a:srgbClr val="000000"/>
                </a:solidFill>
                <a:latin typeface="Lato" panose="020B0604020202020204" charset="0"/>
                <a:cs typeface="Times New Roman"/>
                <a:sym typeface="Arial"/>
              </a:rPr>
              <a:t>a</a:t>
            </a:r>
            <a:r>
              <a:rPr lang="en-US" sz="2400" kern="0" spc="-7" dirty="0">
                <a:solidFill>
                  <a:srgbClr val="000000"/>
                </a:solidFill>
                <a:latin typeface="Lato" panose="020B0604020202020204" charset="0"/>
                <a:cs typeface="Times New Roman"/>
                <a:sym typeface="Arial"/>
              </a:rPr>
              <a:t> </a:t>
            </a:r>
            <a:r>
              <a:rPr lang="en-US" sz="2400" kern="0" spc="-13" dirty="0">
                <a:solidFill>
                  <a:srgbClr val="000000"/>
                </a:solidFill>
                <a:latin typeface="Lato" panose="020B0604020202020204" charset="0"/>
                <a:cs typeface="Times New Roman"/>
                <a:sym typeface="Arial"/>
              </a:rPr>
              <a:t>model.</a:t>
            </a:r>
            <a:endParaRPr lang="en-US" sz="2400" kern="0" dirty="0">
              <a:solidFill>
                <a:srgbClr val="000000"/>
              </a:solidFill>
              <a:latin typeface="Lato" panose="020B0604020202020204" charset="0"/>
              <a:cs typeface="Times New Roman"/>
              <a:sym typeface="Arial"/>
            </a:endParaRPr>
          </a:p>
        </p:txBody>
      </p:sp>
    </p:spTree>
    <p:extLst>
      <p:ext uri="{BB962C8B-B14F-4D97-AF65-F5344CB8AC3E}">
        <p14:creationId xmlns:p14="http://schemas.microsoft.com/office/powerpoint/2010/main" val="3452458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Classes and Objects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11</a:t>
            </a:fld>
            <a:endParaRPr lang="en" kern="0">
              <a:solidFill>
                <a:srgbClr val="595959"/>
              </a:solidFill>
            </a:endParaRPr>
          </a:p>
        </p:txBody>
      </p:sp>
      <p:sp>
        <p:nvSpPr>
          <p:cNvPr id="5" name="Title 1">
            <a:extLst>
              <a:ext uri="{FF2B5EF4-FFF2-40B4-BE49-F238E27FC236}">
                <a16:creationId xmlns:a16="http://schemas.microsoft.com/office/drawing/2014/main" id="{2B6CAEF7-3750-45F4-866F-DB247ED507A0}"/>
              </a:ext>
            </a:extLst>
          </p:cNvPr>
          <p:cNvSpPr txBox="1">
            <a:spLocks/>
          </p:cNvSpPr>
          <p:nvPr/>
        </p:nvSpPr>
        <p:spPr>
          <a:xfrm>
            <a:off x="433884" y="1654240"/>
            <a:ext cx="10251600" cy="713600"/>
          </a:xfrm>
          <a:prstGeom prst="rect">
            <a:avLst/>
          </a:prstGeom>
          <a:noFill/>
          <a:ln>
            <a:noFill/>
          </a:ln>
        </p:spPr>
        <p:txBody>
          <a:bodyPr spcFirstLastPara="1" wrap="square" lIns="121900" tIns="121900" rIns="121900" bIns="121900"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2400" kern="0" spc="-13" dirty="0">
                <a:solidFill>
                  <a:srgbClr val="1A1A1A"/>
                </a:solidFill>
              </a:rPr>
              <a:t>Template </a:t>
            </a:r>
            <a:r>
              <a:rPr lang="en-US" sz="2400" kern="0" spc="-7" dirty="0">
                <a:solidFill>
                  <a:srgbClr val="1A1A1A"/>
                </a:solidFill>
              </a:rPr>
              <a:t>for </a:t>
            </a:r>
            <a:r>
              <a:rPr lang="en-US" sz="2400" kern="0" spc="-13" dirty="0">
                <a:solidFill>
                  <a:srgbClr val="1A1A1A"/>
                </a:solidFill>
              </a:rPr>
              <a:t>Class</a:t>
            </a:r>
            <a:r>
              <a:rPr lang="en-US" sz="2400" kern="0" spc="47" dirty="0">
                <a:solidFill>
                  <a:srgbClr val="1A1A1A"/>
                </a:solidFill>
              </a:rPr>
              <a:t> </a:t>
            </a:r>
            <a:r>
              <a:rPr lang="en-US" sz="2400" kern="0" spc="-13" dirty="0">
                <a:solidFill>
                  <a:srgbClr val="1A1A1A"/>
                </a:solidFill>
              </a:rPr>
              <a:t>Definition</a:t>
            </a:r>
            <a:endParaRPr lang="en-US" sz="2400" kern="0" dirty="0">
              <a:solidFill>
                <a:srgbClr val="1A1A1A"/>
              </a:solidFill>
            </a:endParaRPr>
          </a:p>
        </p:txBody>
      </p:sp>
      <p:pic>
        <p:nvPicPr>
          <p:cNvPr id="3" name="Picture 2">
            <a:extLst>
              <a:ext uri="{FF2B5EF4-FFF2-40B4-BE49-F238E27FC236}">
                <a16:creationId xmlns:a16="http://schemas.microsoft.com/office/drawing/2014/main" id="{A1B3D718-7D12-4C4A-B077-E084ECAB89E7}"/>
              </a:ext>
            </a:extLst>
          </p:cNvPr>
          <p:cNvPicPr>
            <a:picLocks noChangeAspect="1"/>
          </p:cNvPicPr>
          <p:nvPr/>
        </p:nvPicPr>
        <p:blipFill>
          <a:blip r:embed="rId2"/>
          <a:stretch>
            <a:fillRect/>
          </a:stretch>
        </p:blipFill>
        <p:spPr>
          <a:xfrm>
            <a:off x="2635438" y="2367841"/>
            <a:ext cx="6083260" cy="3837799"/>
          </a:xfrm>
          <a:prstGeom prst="rect">
            <a:avLst/>
          </a:prstGeom>
        </p:spPr>
      </p:pic>
    </p:spTree>
    <p:extLst>
      <p:ext uri="{BB962C8B-B14F-4D97-AF65-F5344CB8AC3E}">
        <p14:creationId xmlns:p14="http://schemas.microsoft.com/office/powerpoint/2010/main" val="3133665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Classes and Objects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12</a:t>
            </a:fld>
            <a:endParaRPr lang="en" kern="0">
              <a:solidFill>
                <a:srgbClr val="595959"/>
              </a:solidFill>
            </a:endParaRPr>
          </a:p>
        </p:txBody>
      </p:sp>
      <p:sp>
        <p:nvSpPr>
          <p:cNvPr id="5" name="Title 1">
            <a:extLst>
              <a:ext uri="{FF2B5EF4-FFF2-40B4-BE49-F238E27FC236}">
                <a16:creationId xmlns:a16="http://schemas.microsoft.com/office/drawing/2014/main" id="{2B6CAEF7-3750-45F4-866F-DB247ED507A0}"/>
              </a:ext>
            </a:extLst>
          </p:cNvPr>
          <p:cNvSpPr txBox="1">
            <a:spLocks/>
          </p:cNvSpPr>
          <p:nvPr/>
        </p:nvSpPr>
        <p:spPr>
          <a:xfrm>
            <a:off x="433884" y="1654240"/>
            <a:ext cx="10251600" cy="713600"/>
          </a:xfrm>
          <a:prstGeom prst="rect">
            <a:avLst/>
          </a:prstGeom>
          <a:noFill/>
          <a:ln>
            <a:noFill/>
          </a:ln>
        </p:spPr>
        <p:txBody>
          <a:bodyPr spcFirstLastPara="1" wrap="square" lIns="121900" tIns="121900" rIns="121900" bIns="121900"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2400" kern="0" spc="-13" dirty="0">
                <a:solidFill>
                  <a:srgbClr val="1A1A1A"/>
                </a:solidFill>
              </a:rPr>
              <a:t>Template </a:t>
            </a:r>
            <a:r>
              <a:rPr lang="en-US" sz="2400" kern="0" spc="-7" dirty="0">
                <a:solidFill>
                  <a:srgbClr val="1A1A1A"/>
                </a:solidFill>
              </a:rPr>
              <a:t>for </a:t>
            </a:r>
            <a:r>
              <a:rPr lang="en-US" sz="2400" kern="0" spc="-13" dirty="0">
                <a:solidFill>
                  <a:srgbClr val="1A1A1A"/>
                </a:solidFill>
              </a:rPr>
              <a:t>Class</a:t>
            </a:r>
            <a:r>
              <a:rPr lang="en-US" sz="2400" kern="0" spc="47" dirty="0">
                <a:solidFill>
                  <a:srgbClr val="1A1A1A"/>
                </a:solidFill>
              </a:rPr>
              <a:t> </a:t>
            </a:r>
            <a:r>
              <a:rPr lang="en-US" sz="2400" kern="0" spc="-13" dirty="0">
                <a:solidFill>
                  <a:srgbClr val="1A1A1A"/>
                </a:solidFill>
              </a:rPr>
              <a:t>Definition: Example</a:t>
            </a:r>
            <a:endParaRPr lang="en-US" sz="2400" kern="0" dirty="0">
              <a:solidFill>
                <a:srgbClr val="1A1A1A"/>
              </a:solidFill>
            </a:endParaRPr>
          </a:p>
        </p:txBody>
      </p:sp>
      <p:pic>
        <p:nvPicPr>
          <p:cNvPr id="4" name="Picture 3">
            <a:extLst>
              <a:ext uri="{FF2B5EF4-FFF2-40B4-BE49-F238E27FC236}">
                <a16:creationId xmlns:a16="http://schemas.microsoft.com/office/drawing/2014/main" id="{B0AF6024-E088-4A37-A998-ADD923524A5E}"/>
              </a:ext>
            </a:extLst>
          </p:cNvPr>
          <p:cNvPicPr>
            <a:picLocks noChangeAspect="1"/>
          </p:cNvPicPr>
          <p:nvPr/>
        </p:nvPicPr>
        <p:blipFill>
          <a:blip r:embed="rId2"/>
          <a:stretch>
            <a:fillRect/>
          </a:stretch>
        </p:blipFill>
        <p:spPr>
          <a:xfrm>
            <a:off x="2081242" y="2244391"/>
            <a:ext cx="6956885" cy="4351144"/>
          </a:xfrm>
          <a:prstGeom prst="rect">
            <a:avLst/>
          </a:prstGeom>
        </p:spPr>
      </p:pic>
    </p:spTree>
    <p:extLst>
      <p:ext uri="{BB962C8B-B14F-4D97-AF65-F5344CB8AC3E}">
        <p14:creationId xmlns:p14="http://schemas.microsoft.com/office/powerpoint/2010/main" val="2176390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Classes and Objects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13</a:t>
            </a:fld>
            <a:endParaRPr lang="en" kern="0">
              <a:solidFill>
                <a:srgbClr val="595959"/>
              </a:solidFill>
            </a:endParaRPr>
          </a:p>
        </p:txBody>
      </p:sp>
      <p:sp>
        <p:nvSpPr>
          <p:cNvPr id="5" name="Title 1">
            <a:extLst>
              <a:ext uri="{FF2B5EF4-FFF2-40B4-BE49-F238E27FC236}">
                <a16:creationId xmlns:a16="http://schemas.microsoft.com/office/drawing/2014/main" id="{2B6CAEF7-3750-45F4-866F-DB247ED507A0}"/>
              </a:ext>
            </a:extLst>
          </p:cNvPr>
          <p:cNvSpPr txBox="1">
            <a:spLocks/>
          </p:cNvSpPr>
          <p:nvPr/>
        </p:nvSpPr>
        <p:spPr>
          <a:xfrm>
            <a:off x="433884" y="1654240"/>
            <a:ext cx="10251600" cy="713600"/>
          </a:xfrm>
          <a:prstGeom prst="rect">
            <a:avLst/>
          </a:prstGeom>
          <a:noFill/>
          <a:ln>
            <a:noFill/>
          </a:ln>
        </p:spPr>
        <p:txBody>
          <a:bodyPr spcFirstLastPara="1" wrap="square" lIns="121900" tIns="121900" rIns="121900" bIns="121900"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2400" kern="0" spc="-13" dirty="0">
                <a:solidFill>
                  <a:srgbClr val="1A1A1A"/>
                </a:solidFill>
              </a:rPr>
              <a:t>Object Declaration</a:t>
            </a:r>
            <a:endParaRPr lang="en-US" sz="2400" kern="0" dirty="0">
              <a:solidFill>
                <a:srgbClr val="1A1A1A"/>
              </a:solidFill>
            </a:endParaRPr>
          </a:p>
        </p:txBody>
      </p:sp>
      <p:pic>
        <p:nvPicPr>
          <p:cNvPr id="3" name="Picture 2">
            <a:extLst>
              <a:ext uri="{FF2B5EF4-FFF2-40B4-BE49-F238E27FC236}">
                <a16:creationId xmlns:a16="http://schemas.microsoft.com/office/drawing/2014/main" id="{5804EA49-666D-496B-8786-FDD885608A92}"/>
              </a:ext>
            </a:extLst>
          </p:cNvPr>
          <p:cNvPicPr>
            <a:picLocks noChangeAspect="1"/>
          </p:cNvPicPr>
          <p:nvPr/>
        </p:nvPicPr>
        <p:blipFill>
          <a:blip r:embed="rId2"/>
          <a:stretch>
            <a:fillRect/>
          </a:stretch>
        </p:blipFill>
        <p:spPr>
          <a:xfrm>
            <a:off x="2438940" y="1489849"/>
            <a:ext cx="8246545" cy="5105687"/>
          </a:xfrm>
          <a:prstGeom prst="rect">
            <a:avLst/>
          </a:prstGeom>
        </p:spPr>
      </p:pic>
    </p:spTree>
    <p:extLst>
      <p:ext uri="{BB962C8B-B14F-4D97-AF65-F5344CB8AC3E}">
        <p14:creationId xmlns:p14="http://schemas.microsoft.com/office/powerpoint/2010/main" val="2502224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Classes and Objects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14</a:t>
            </a:fld>
            <a:endParaRPr lang="en" kern="0">
              <a:solidFill>
                <a:srgbClr val="595959"/>
              </a:solidFill>
            </a:endParaRPr>
          </a:p>
        </p:txBody>
      </p:sp>
      <p:sp>
        <p:nvSpPr>
          <p:cNvPr id="5" name="Title 1">
            <a:extLst>
              <a:ext uri="{FF2B5EF4-FFF2-40B4-BE49-F238E27FC236}">
                <a16:creationId xmlns:a16="http://schemas.microsoft.com/office/drawing/2014/main" id="{2B6CAEF7-3750-45F4-866F-DB247ED507A0}"/>
              </a:ext>
            </a:extLst>
          </p:cNvPr>
          <p:cNvSpPr txBox="1">
            <a:spLocks/>
          </p:cNvSpPr>
          <p:nvPr/>
        </p:nvSpPr>
        <p:spPr>
          <a:xfrm>
            <a:off x="433884" y="1654240"/>
            <a:ext cx="10251600" cy="713600"/>
          </a:xfrm>
          <a:prstGeom prst="rect">
            <a:avLst/>
          </a:prstGeom>
          <a:noFill/>
          <a:ln>
            <a:noFill/>
          </a:ln>
        </p:spPr>
        <p:txBody>
          <a:bodyPr spcFirstLastPara="1" wrap="square" lIns="121900" tIns="121900" rIns="121900" bIns="121900"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2400" kern="0" spc="-13" dirty="0">
                <a:solidFill>
                  <a:srgbClr val="1A1A1A"/>
                </a:solidFill>
              </a:rPr>
              <a:t>Object Creation</a:t>
            </a:r>
            <a:endParaRPr lang="en-US" sz="2400" kern="0" dirty="0">
              <a:solidFill>
                <a:srgbClr val="1A1A1A"/>
              </a:solidFill>
            </a:endParaRPr>
          </a:p>
        </p:txBody>
      </p:sp>
      <p:pic>
        <p:nvPicPr>
          <p:cNvPr id="4" name="Picture 3">
            <a:extLst>
              <a:ext uri="{FF2B5EF4-FFF2-40B4-BE49-F238E27FC236}">
                <a16:creationId xmlns:a16="http://schemas.microsoft.com/office/drawing/2014/main" id="{84D2BDE3-2EAA-4D8A-9E68-03D63E93AF35}"/>
              </a:ext>
            </a:extLst>
          </p:cNvPr>
          <p:cNvPicPr>
            <a:picLocks noChangeAspect="1"/>
          </p:cNvPicPr>
          <p:nvPr/>
        </p:nvPicPr>
        <p:blipFill>
          <a:blip r:embed="rId2"/>
          <a:stretch>
            <a:fillRect/>
          </a:stretch>
        </p:blipFill>
        <p:spPr>
          <a:xfrm>
            <a:off x="2594344" y="1486457"/>
            <a:ext cx="9106397" cy="5051772"/>
          </a:xfrm>
          <a:prstGeom prst="rect">
            <a:avLst/>
          </a:prstGeom>
        </p:spPr>
      </p:pic>
    </p:spTree>
    <p:extLst>
      <p:ext uri="{BB962C8B-B14F-4D97-AF65-F5344CB8AC3E}">
        <p14:creationId xmlns:p14="http://schemas.microsoft.com/office/powerpoint/2010/main" val="3601665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18D9-EBF3-4AC2-89C5-1284A177AACF}"/>
              </a:ext>
            </a:extLst>
          </p:cNvPr>
          <p:cNvSpPr>
            <a:spLocks noGrp="1"/>
          </p:cNvSpPr>
          <p:nvPr>
            <p:ph type="title"/>
          </p:nvPr>
        </p:nvSpPr>
        <p:spPr>
          <a:xfrm>
            <a:off x="433884" y="822535"/>
            <a:ext cx="10251600" cy="713600"/>
          </a:xfrm>
          <a:noFill/>
          <a:ln>
            <a:noFill/>
          </a:ln>
        </p:spPr>
        <p:txBody>
          <a:bodyPr spcFirstLastPara="1" wrap="square" lIns="121900" tIns="121900" rIns="121900" bIns="121900" anchor="t" anchorCtr="0">
            <a:normAutofit fontScale="90000"/>
          </a:bodyPr>
          <a:lstStyle/>
          <a:p>
            <a:r>
              <a:rPr lang="en-US" dirty="0"/>
              <a:t>Classes and Objects</a:t>
            </a:r>
          </a:p>
        </p:txBody>
      </p:sp>
      <p:sp>
        <p:nvSpPr>
          <p:cNvPr id="99" name="Slide Number Placeholder 98">
            <a:extLst>
              <a:ext uri="{FF2B5EF4-FFF2-40B4-BE49-F238E27FC236}">
                <a16:creationId xmlns:a16="http://schemas.microsoft.com/office/drawing/2014/main" id="{3819E298-C8B0-4DAE-A5A2-C76C5493AA93}"/>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15</a:t>
            </a:fld>
            <a:endParaRPr lang="en" kern="0">
              <a:solidFill>
                <a:srgbClr val="595959"/>
              </a:solidFill>
            </a:endParaRPr>
          </a:p>
        </p:txBody>
      </p:sp>
      <p:sp>
        <p:nvSpPr>
          <p:cNvPr id="5" name="Title 1">
            <a:extLst>
              <a:ext uri="{FF2B5EF4-FFF2-40B4-BE49-F238E27FC236}">
                <a16:creationId xmlns:a16="http://schemas.microsoft.com/office/drawing/2014/main" id="{2B6CAEF7-3750-45F4-866F-DB247ED507A0}"/>
              </a:ext>
            </a:extLst>
          </p:cNvPr>
          <p:cNvSpPr txBox="1">
            <a:spLocks/>
          </p:cNvSpPr>
          <p:nvPr/>
        </p:nvSpPr>
        <p:spPr>
          <a:xfrm>
            <a:off x="433884" y="1654240"/>
            <a:ext cx="10251600" cy="713600"/>
          </a:xfrm>
          <a:prstGeom prst="rect">
            <a:avLst/>
          </a:prstGeom>
          <a:noFill/>
          <a:ln>
            <a:noFill/>
          </a:ln>
        </p:spPr>
        <p:txBody>
          <a:bodyPr spcFirstLastPara="1" wrap="square" lIns="121900" tIns="121900" rIns="121900" bIns="121900"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2400" kern="0" spc="-13" dirty="0">
                <a:solidFill>
                  <a:srgbClr val="1A1A1A"/>
                </a:solidFill>
              </a:rPr>
              <a:t>Accessing members of a class</a:t>
            </a:r>
            <a:endParaRPr lang="en-US" sz="2400" kern="0" dirty="0">
              <a:solidFill>
                <a:srgbClr val="1A1A1A"/>
              </a:solidFill>
            </a:endParaRPr>
          </a:p>
        </p:txBody>
      </p:sp>
      <p:sp>
        <p:nvSpPr>
          <p:cNvPr id="7" name="TextBox 6">
            <a:extLst>
              <a:ext uri="{FF2B5EF4-FFF2-40B4-BE49-F238E27FC236}">
                <a16:creationId xmlns:a16="http://schemas.microsoft.com/office/drawing/2014/main" id="{28351F6D-75AC-41F1-B10E-0E7CADDA72DD}"/>
              </a:ext>
            </a:extLst>
          </p:cNvPr>
          <p:cNvSpPr txBox="1"/>
          <p:nvPr/>
        </p:nvSpPr>
        <p:spPr>
          <a:xfrm>
            <a:off x="1034903" y="2241341"/>
            <a:ext cx="9767776" cy="3774880"/>
          </a:xfrm>
          <a:prstGeom prst="rect">
            <a:avLst/>
          </a:prstGeom>
          <a:noFill/>
        </p:spPr>
        <p:txBody>
          <a:bodyPr wrap="square">
            <a:spAutoFit/>
          </a:bodyPr>
          <a:lstStyle/>
          <a:p>
            <a:pPr marL="16933" defTabSz="1219170">
              <a:spcBef>
                <a:spcPts val="133"/>
              </a:spcBef>
              <a:buClr>
                <a:srgbClr val="000000"/>
              </a:buClr>
            </a:pPr>
            <a:r>
              <a:rPr lang="en-US" sz="1867" kern="0" dirty="0">
                <a:solidFill>
                  <a:srgbClr val="C00000"/>
                </a:solidFill>
                <a:latin typeface="Lato" panose="020B0604020202020204" charset="0"/>
                <a:cs typeface="Times New Roman"/>
                <a:sym typeface="Arial"/>
              </a:rPr>
              <a:t>. </a:t>
            </a:r>
            <a:r>
              <a:rPr lang="en-US" sz="1867" kern="0" spc="-7" dirty="0">
                <a:solidFill>
                  <a:srgbClr val="C00000"/>
                </a:solidFill>
                <a:latin typeface="Lato" panose="020B0604020202020204" charset="0"/>
                <a:cs typeface="Times New Roman"/>
                <a:sym typeface="Arial"/>
              </a:rPr>
              <a:t>(dot) </a:t>
            </a:r>
            <a:r>
              <a:rPr lang="en-US" sz="1867" kern="0" spc="-7" dirty="0">
                <a:solidFill>
                  <a:srgbClr val="000000"/>
                </a:solidFill>
                <a:latin typeface="Lato" panose="020B0604020202020204" charset="0"/>
                <a:cs typeface="Times New Roman"/>
                <a:sym typeface="Arial"/>
              </a:rPr>
              <a:t>operator </a:t>
            </a:r>
            <a:r>
              <a:rPr lang="en-US" sz="1867" kern="0" spc="-13" dirty="0">
                <a:solidFill>
                  <a:srgbClr val="000000"/>
                </a:solidFill>
                <a:latin typeface="Lato" panose="020B0604020202020204" charset="0"/>
                <a:cs typeface="Times New Roman"/>
                <a:sym typeface="Arial"/>
              </a:rPr>
              <a:t>is </a:t>
            </a:r>
            <a:r>
              <a:rPr lang="en-US" sz="1867" kern="0" spc="-7" dirty="0">
                <a:solidFill>
                  <a:srgbClr val="000000"/>
                </a:solidFill>
                <a:latin typeface="Lato" panose="020B0604020202020204" charset="0"/>
                <a:cs typeface="Times New Roman"/>
                <a:sym typeface="Arial"/>
              </a:rPr>
              <a:t>used to access public </a:t>
            </a:r>
            <a:r>
              <a:rPr lang="en-US" sz="1867" kern="0" spc="-20" dirty="0">
                <a:solidFill>
                  <a:srgbClr val="000000"/>
                </a:solidFill>
                <a:latin typeface="Lato" panose="020B0604020202020204" charset="0"/>
                <a:cs typeface="Times New Roman"/>
                <a:sym typeface="Arial"/>
              </a:rPr>
              <a:t>members </a:t>
            </a:r>
            <a:r>
              <a:rPr lang="en-US" sz="1867" kern="0" dirty="0">
                <a:solidFill>
                  <a:srgbClr val="000000"/>
                </a:solidFill>
                <a:latin typeface="Lato" panose="020B0604020202020204" charset="0"/>
                <a:cs typeface="Times New Roman"/>
                <a:sym typeface="Arial"/>
              </a:rPr>
              <a:t>of a</a:t>
            </a:r>
            <a:r>
              <a:rPr lang="en-US" sz="1867" kern="0" spc="173"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class</a:t>
            </a:r>
            <a:endParaRPr lang="en-US" sz="1867" kern="0" dirty="0">
              <a:solidFill>
                <a:srgbClr val="000000"/>
              </a:solidFill>
              <a:latin typeface="Lato" panose="020B0604020202020204" charset="0"/>
              <a:cs typeface="Times New Roman"/>
              <a:sym typeface="Arial"/>
            </a:endParaRPr>
          </a:p>
          <a:p>
            <a:pPr marL="16933" defTabSz="1219170">
              <a:buClr>
                <a:srgbClr val="000000"/>
              </a:buClr>
            </a:pPr>
            <a:r>
              <a:rPr lang="en-US" sz="1867" kern="0" spc="-7" dirty="0">
                <a:solidFill>
                  <a:srgbClr val="000000"/>
                </a:solidFill>
                <a:latin typeface="Lato" panose="020B0604020202020204" charset="0"/>
                <a:cs typeface="Times New Roman"/>
                <a:sym typeface="Arial"/>
              </a:rPr>
              <a:t>A general </a:t>
            </a:r>
            <a:r>
              <a:rPr lang="en-US" sz="1867" kern="0" spc="-20" dirty="0">
                <a:solidFill>
                  <a:srgbClr val="000000"/>
                </a:solidFill>
                <a:latin typeface="Lato" panose="020B0604020202020204" charset="0"/>
                <a:cs typeface="Times New Roman"/>
                <a:sym typeface="Arial"/>
              </a:rPr>
              <a:t>syntax </a:t>
            </a:r>
            <a:r>
              <a:rPr lang="en-US" sz="1867" kern="0" spc="-7" dirty="0">
                <a:solidFill>
                  <a:srgbClr val="000000"/>
                </a:solidFill>
                <a:latin typeface="Lato" panose="020B0604020202020204" charset="0"/>
                <a:cs typeface="Times New Roman"/>
                <a:sym typeface="Arial"/>
              </a:rPr>
              <a:t>to access public </a:t>
            </a:r>
            <a:r>
              <a:rPr lang="en-US" sz="1867" kern="0" spc="-20" dirty="0">
                <a:solidFill>
                  <a:srgbClr val="000000"/>
                </a:solidFill>
                <a:latin typeface="Lato" panose="020B0604020202020204" charset="0"/>
                <a:cs typeface="Times New Roman"/>
                <a:sym typeface="Arial"/>
              </a:rPr>
              <a:t>members </a:t>
            </a:r>
            <a:r>
              <a:rPr lang="en-US" sz="1867" kern="0" dirty="0">
                <a:solidFill>
                  <a:srgbClr val="000000"/>
                </a:solidFill>
                <a:latin typeface="Lato" panose="020B0604020202020204" charset="0"/>
                <a:cs typeface="Times New Roman"/>
                <a:sym typeface="Arial"/>
              </a:rPr>
              <a:t>of a </a:t>
            </a:r>
            <a:r>
              <a:rPr lang="en-US" sz="1867" kern="0" spc="-7" dirty="0">
                <a:solidFill>
                  <a:srgbClr val="000000"/>
                </a:solidFill>
                <a:latin typeface="Lato" panose="020B0604020202020204" charset="0"/>
                <a:cs typeface="Times New Roman"/>
                <a:sym typeface="Arial"/>
              </a:rPr>
              <a:t>class </a:t>
            </a:r>
            <a:r>
              <a:rPr lang="en-US" sz="1867" kern="0" spc="-13" dirty="0">
                <a:solidFill>
                  <a:srgbClr val="000000"/>
                </a:solidFill>
                <a:latin typeface="Lato" panose="020B0604020202020204" charset="0"/>
                <a:cs typeface="Times New Roman"/>
                <a:sym typeface="Arial"/>
              </a:rPr>
              <a:t>is </a:t>
            </a:r>
            <a:r>
              <a:rPr lang="en-US" sz="1867" kern="0" spc="-7" dirty="0">
                <a:solidFill>
                  <a:srgbClr val="000000"/>
                </a:solidFill>
                <a:latin typeface="Lato" panose="020B0604020202020204" charset="0"/>
                <a:cs typeface="Times New Roman"/>
                <a:sym typeface="Arial"/>
              </a:rPr>
              <a:t>as</a:t>
            </a:r>
            <a:r>
              <a:rPr lang="en-US" sz="1867" kern="0" spc="127"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follows</a:t>
            </a:r>
            <a:endParaRPr lang="en-US" sz="1867" kern="0" dirty="0">
              <a:solidFill>
                <a:srgbClr val="000000"/>
              </a:solidFill>
              <a:latin typeface="Lato" panose="020B0604020202020204" charset="0"/>
              <a:cs typeface="Times New Roman"/>
              <a:sym typeface="Arial"/>
            </a:endParaRPr>
          </a:p>
          <a:p>
            <a:pPr defTabSz="1219170">
              <a:spcBef>
                <a:spcPts val="47"/>
              </a:spcBef>
              <a:buClr>
                <a:srgbClr val="000000"/>
              </a:buClr>
            </a:pPr>
            <a:endParaRPr lang="en-US" sz="1867" kern="0" dirty="0">
              <a:solidFill>
                <a:srgbClr val="000000"/>
              </a:solidFill>
              <a:latin typeface="Lato" panose="020B0604020202020204" charset="0"/>
              <a:cs typeface="Times New Roman"/>
              <a:sym typeface="Arial"/>
            </a:endParaRPr>
          </a:p>
          <a:p>
            <a:pPr marL="16933" marR="3193547" defTabSz="1219170">
              <a:buClr>
                <a:srgbClr val="000000"/>
              </a:buClr>
              <a:tabLst>
                <a:tab pos="2454424" algn="l"/>
              </a:tabLst>
            </a:pPr>
            <a:r>
              <a:rPr lang="en-US" sz="1867" b="1" kern="0" spc="-7" dirty="0">
                <a:solidFill>
                  <a:srgbClr val="C00000"/>
                </a:solidFill>
                <a:latin typeface="Lato" panose="020B0604020202020204" charset="0"/>
                <a:cs typeface="Courier New"/>
                <a:sym typeface="Arial"/>
              </a:rPr>
              <a:t>// s is object of Student</a:t>
            </a:r>
            <a:r>
              <a:rPr lang="en-US" sz="1867" b="1" kern="0" spc="-80" dirty="0">
                <a:solidFill>
                  <a:srgbClr val="C00000"/>
                </a:solidFill>
                <a:latin typeface="Lato" panose="020B0604020202020204" charset="0"/>
                <a:cs typeface="Courier New"/>
                <a:sym typeface="Arial"/>
              </a:rPr>
              <a:t> </a:t>
            </a:r>
            <a:r>
              <a:rPr lang="en-US" sz="1867" b="1" kern="0" spc="-7" dirty="0">
                <a:solidFill>
                  <a:srgbClr val="C00000"/>
                </a:solidFill>
                <a:latin typeface="Lato" panose="020B0604020202020204" charset="0"/>
                <a:cs typeface="Courier New"/>
                <a:sym typeface="Arial"/>
              </a:rPr>
              <a:t>class  Student s= </a:t>
            </a:r>
            <a:r>
              <a:rPr lang="en-US" sz="1867" b="1" kern="0" spc="-13" dirty="0">
                <a:solidFill>
                  <a:srgbClr val="C00000"/>
                </a:solidFill>
                <a:latin typeface="Lato" panose="020B0604020202020204" charset="0"/>
                <a:cs typeface="Courier New"/>
                <a:sym typeface="Arial"/>
              </a:rPr>
              <a:t>new</a:t>
            </a:r>
            <a:r>
              <a:rPr lang="en-US" sz="1867" b="1" kern="0" spc="-53" dirty="0">
                <a:solidFill>
                  <a:srgbClr val="C00000"/>
                </a:solidFill>
                <a:latin typeface="Lato" panose="020B0604020202020204" charset="0"/>
                <a:cs typeface="Courier New"/>
                <a:sym typeface="Arial"/>
              </a:rPr>
              <a:t> </a:t>
            </a:r>
            <a:r>
              <a:rPr lang="en-US" sz="1867" b="1" kern="0" spc="-7" dirty="0">
                <a:solidFill>
                  <a:srgbClr val="C00000"/>
                </a:solidFill>
                <a:latin typeface="Lato" panose="020B0604020202020204" charset="0"/>
                <a:cs typeface="Courier New"/>
                <a:sym typeface="Arial"/>
              </a:rPr>
              <a:t>Student();</a:t>
            </a:r>
            <a:endParaRPr lang="en-US" sz="1867" kern="0" dirty="0">
              <a:solidFill>
                <a:srgbClr val="000000"/>
              </a:solidFill>
              <a:latin typeface="Lato" panose="020B0604020202020204" charset="0"/>
              <a:cs typeface="Courier New"/>
              <a:sym typeface="Arial"/>
            </a:endParaRPr>
          </a:p>
          <a:p>
            <a:pPr defTabSz="1219170">
              <a:spcBef>
                <a:spcPts val="47"/>
              </a:spcBef>
              <a:buClr>
                <a:srgbClr val="000000"/>
              </a:buClr>
            </a:pPr>
            <a:endParaRPr lang="en-US" sz="1867" kern="0" dirty="0">
              <a:solidFill>
                <a:srgbClr val="000000"/>
              </a:solidFill>
              <a:latin typeface="Lato" panose="020B0604020202020204" charset="0"/>
              <a:cs typeface="Courier New"/>
              <a:sym typeface="Arial"/>
            </a:endParaRPr>
          </a:p>
          <a:p>
            <a:pPr marL="397923" indent="-380990" defTabSz="1219170">
              <a:buClr>
                <a:srgbClr val="000000"/>
              </a:buClr>
              <a:buFont typeface="Arial" panose="020B0604020202020204" pitchFamily="34" charset="0"/>
              <a:buChar char="•"/>
              <a:tabLst>
                <a:tab pos="473275" algn="l"/>
              </a:tabLst>
            </a:pPr>
            <a:r>
              <a:rPr lang="en-US" sz="1867" kern="0" spc="-7" dirty="0">
                <a:solidFill>
                  <a:srgbClr val="000000"/>
                </a:solidFill>
                <a:latin typeface="Lato" panose="020B0604020202020204" charset="0"/>
                <a:cs typeface="Times New Roman"/>
                <a:sym typeface="Arial"/>
              </a:rPr>
              <a:t>      Referencing the object’s</a:t>
            </a:r>
            <a:r>
              <a:rPr lang="en-US" sz="1867" kern="0" spc="-20"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data:</a:t>
            </a:r>
            <a:endParaRPr lang="en-US" sz="1867" kern="0" dirty="0">
              <a:solidFill>
                <a:srgbClr val="000000"/>
              </a:solidFill>
              <a:latin typeface="Lato" panose="020B0604020202020204" charset="0"/>
              <a:cs typeface="Times New Roman"/>
              <a:sym typeface="Arial"/>
            </a:endParaRPr>
          </a:p>
          <a:p>
            <a:pPr marL="826326" defTabSz="1219170">
              <a:spcBef>
                <a:spcPts val="560"/>
              </a:spcBef>
              <a:buClr>
                <a:srgbClr val="000000"/>
              </a:buClr>
            </a:pPr>
            <a:r>
              <a:rPr lang="en-US" sz="1867" kern="0" spc="-7" dirty="0">
                <a:solidFill>
                  <a:srgbClr val="000000"/>
                </a:solidFill>
                <a:latin typeface="Lato" panose="020B0604020202020204" charset="0"/>
                <a:cs typeface="Courier New"/>
                <a:sym typeface="Arial"/>
              </a:rPr>
              <a:t> </a:t>
            </a:r>
            <a:endParaRPr lang="en-US" sz="1867" kern="0" dirty="0">
              <a:solidFill>
                <a:srgbClr val="000000"/>
              </a:solidFill>
              <a:latin typeface="Lato" panose="020B0604020202020204" charset="0"/>
              <a:cs typeface="Courier New"/>
              <a:sym typeface="Arial"/>
            </a:endParaRPr>
          </a:p>
          <a:p>
            <a:pPr marL="826326" defTabSz="1219170">
              <a:spcBef>
                <a:spcPts val="827"/>
              </a:spcBef>
              <a:buClr>
                <a:srgbClr val="000000"/>
              </a:buClr>
            </a:pPr>
            <a:r>
              <a:rPr lang="en-US" sz="1867" i="1" kern="0" dirty="0">
                <a:solidFill>
                  <a:srgbClr val="000000"/>
                </a:solidFill>
                <a:latin typeface="Lato" panose="020B0604020202020204" charset="0"/>
                <a:cs typeface="Palladio Uralic"/>
                <a:sym typeface="Arial"/>
              </a:rPr>
              <a:t>e.g., </a:t>
            </a:r>
            <a:r>
              <a:rPr lang="en-US" sz="1867" kern="0" spc="-7" dirty="0">
                <a:solidFill>
                  <a:srgbClr val="000000"/>
                </a:solidFill>
                <a:latin typeface="Lato" panose="020B0604020202020204" charset="0"/>
                <a:cs typeface="Times New Roman"/>
                <a:sym typeface="Arial"/>
              </a:rPr>
              <a:t>s.name=“Ali”; </a:t>
            </a:r>
            <a:r>
              <a:rPr lang="en-US" sz="1867" kern="0"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accessing </a:t>
            </a:r>
            <a:r>
              <a:rPr lang="en-US" sz="1867" kern="0" dirty="0">
                <a:solidFill>
                  <a:srgbClr val="000000"/>
                </a:solidFill>
                <a:latin typeface="Lato" panose="020B0604020202020204" charset="0"/>
                <a:cs typeface="Times New Roman"/>
                <a:sym typeface="Arial"/>
              </a:rPr>
              <a:t>public </a:t>
            </a:r>
            <a:r>
              <a:rPr lang="en-US" sz="1867" kern="0" spc="-7" dirty="0">
                <a:solidFill>
                  <a:srgbClr val="000000"/>
                </a:solidFill>
                <a:latin typeface="Lato" panose="020B0604020202020204" charset="0"/>
                <a:cs typeface="Times New Roman"/>
                <a:sym typeface="Arial"/>
              </a:rPr>
              <a:t>data</a:t>
            </a:r>
            <a:r>
              <a:rPr lang="en-US" sz="1867" kern="0" spc="-67"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member</a:t>
            </a:r>
            <a:endParaRPr lang="en-US" sz="1867" kern="0" dirty="0">
              <a:solidFill>
                <a:srgbClr val="000000"/>
              </a:solidFill>
              <a:latin typeface="Lato" panose="020B0604020202020204" charset="0"/>
              <a:cs typeface="Times New Roman"/>
              <a:sym typeface="Arial"/>
            </a:endParaRPr>
          </a:p>
          <a:p>
            <a:pPr defTabSz="1219170">
              <a:spcBef>
                <a:spcPts val="67"/>
              </a:spcBef>
              <a:buClr>
                <a:srgbClr val="000000"/>
              </a:buClr>
            </a:pPr>
            <a:endParaRPr lang="en-US" sz="1867" kern="0" dirty="0">
              <a:solidFill>
                <a:srgbClr val="000000"/>
              </a:solidFill>
              <a:latin typeface="Lato" panose="020B0604020202020204" charset="0"/>
              <a:cs typeface="Times New Roman"/>
              <a:sym typeface="Arial"/>
            </a:endParaRPr>
          </a:p>
          <a:p>
            <a:pPr marL="724729" marR="1740703" indent="-708642" defTabSz="1219170">
              <a:lnSpc>
                <a:spcPct val="108000"/>
              </a:lnSpc>
              <a:buClr>
                <a:srgbClr val="000000"/>
              </a:buClr>
              <a:buFont typeface="Arial" panose="020B0604020202020204" pitchFamily="34" charset="0"/>
              <a:buChar char="•"/>
              <a:tabLst>
                <a:tab pos="473275" algn="l"/>
              </a:tabLst>
            </a:pPr>
            <a:r>
              <a:rPr lang="en-US" sz="1867" kern="0" spc="-7" dirty="0">
                <a:solidFill>
                  <a:srgbClr val="000000"/>
                </a:solidFill>
                <a:latin typeface="Lato" panose="020B0604020202020204" charset="0"/>
                <a:cs typeface="Times New Roman"/>
                <a:sym typeface="Arial"/>
              </a:rPr>
              <a:t>Invoking the object’s </a:t>
            </a:r>
            <a:r>
              <a:rPr lang="en-US" sz="1867" kern="0" spc="-13" dirty="0">
                <a:solidFill>
                  <a:srgbClr val="000000"/>
                </a:solidFill>
                <a:latin typeface="Lato" panose="020B0604020202020204" charset="0"/>
                <a:cs typeface="Times New Roman"/>
                <a:sym typeface="Arial"/>
              </a:rPr>
              <a:t>method:  </a:t>
            </a:r>
            <a:r>
              <a:rPr lang="en-US" sz="1867" kern="0" spc="-7" dirty="0">
                <a:solidFill>
                  <a:srgbClr val="000000"/>
                </a:solidFill>
                <a:latin typeface="Lato" panose="020B0604020202020204" charset="0"/>
                <a:cs typeface="Courier New"/>
                <a:sym typeface="Arial"/>
              </a:rPr>
              <a:t> </a:t>
            </a:r>
          </a:p>
          <a:p>
            <a:pPr marL="16086" marR="1740703" defTabSz="1219170">
              <a:lnSpc>
                <a:spcPct val="108000"/>
              </a:lnSpc>
              <a:buClr>
                <a:srgbClr val="000000"/>
              </a:buClr>
              <a:tabLst>
                <a:tab pos="473275" algn="l"/>
              </a:tabLst>
            </a:pPr>
            <a:r>
              <a:rPr lang="en-US" sz="1867" i="1" kern="0" spc="-7" dirty="0">
                <a:solidFill>
                  <a:srgbClr val="000000"/>
                </a:solidFill>
                <a:latin typeface="Lato" panose="020B0604020202020204" charset="0"/>
                <a:cs typeface="Courier New"/>
                <a:sym typeface="Arial"/>
              </a:rPr>
              <a:t>		</a:t>
            </a:r>
            <a:r>
              <a:rPr lang="en-US" sz="1867" i="1" kern="0" dirty="0">
                <a:solidFill>
                  <a:srgbClr val="000000"/>
                </a:solidFill>
                <a:latin typeface="Lato" panose="020B0604020202020204" charset="0"/>
                <a:cs typeface="Palladio Uralic"/>
                <a:sym typeface="Arial"/>
              </a:rPr>
              <a:t>e.g., </a:t>
            </a:r>
            <a:r>
              <a:rPr lang="en-US" sz="1867" kern="0" spc="-7" dirty="0" err="1">
                <a:solidFill>
                  <a:srgbClr val="000000"/>
                </a:solidFill>
                <a:latin typeface="Lato" panose="020B0604020202020204" charset="0"/>
                <a:cs typeface="Times New Roman"/>
                <a:sym typeface="Arial"/>
              </a:rPr>
              <a:t>s.setName</a:t>
            </a:r>
            <a:r>
              <a:rPr lang="en-US" sz="1867" kern="0" spc="-7" dirty="0">
                <a:solidFill>
                  <a:srgbClr val="000000"/>
                </a:solidFill>
                <a:latin typeface="Lato" panose="020B0604020202020204" charset="0"/>
                <a:cs typeface="Times New Roman"/>
                <a:sym typeface="Arial"/>
              </a:rPr>
              <a:t>(“Ahmad”); </a:t>
            </a:r>
            <a:r>
              <a:rPr lang="en-US" sz="1867" kern="0"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accessing</a:t>
            </a:r>
            <a:r>
              <a:rPr lang="en-US" sz="1867" kern="0" spc="-20"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method</a:t>
            </a:r>
            <a:endParaRPr lang="en-US" sz="1867" kern="0" dirty="0">
              <a:solidFill>
                <a:srgbClr val="000000"/>
              </a:solidFill>
              <a:latin typeface="Lato" panose="020B0604020202020204" charset="0"/>
              <a:cs typeface="Times New Roman"/>
              <a:sym typeface="Arial"/>
            </a:endParaRPr>
          </a:p>
          <a:p>
            <a:pPr marL="16086" marR="1740703" defTabSz="1219170">
              <a:lnSpc>
                <a:spcPct val="108000"/>
              </a:lnSpc>
              <a:buClr>
                <a:srgbClr val="000000"/>
              </a:buClr>
              <a:tabLst>
                <a:tab pos="473275" algn="l"/>
              </a:tabLst>
            </a:pPr>
            <a:r>
              <a:rPr lang="en-US" sz="1867" kern="0" spc="-13" dirty="0">
                <a:solidFill>
                  <a:srgbClr val="000000"/>
                </a:solidFill>
                <a:latin typeface="Lato" panose="020B0604020202020204" charset="0"/>
                <a:cs typeface="Times New Roman"/>
                <a:sym typeface="Arial"/>
              </a:rPr>
              <a:t>		        </a:t>
            </a:r>
            <a:r>
              <a:rPr lang="en-US" sz="1867" kern="0" spc="-13" dirty="0" err="1">
                <a:solidFill>
                  <a:srgbClr val="000000"/>
                </a:solidFill>
                <a:latin typeface="Lato" panose="020B0604020202020204" charset="0"/>
                <a:cs typeface="Times New Roman"/>
                <a:sym typeface="Arial"/>
              </a:rPr>
              <a:t>s.getName</a:t>
            </a:r>
            <a:r>
              <a:rPr lang="en-US" sz="1867" kern="0" spc="-13" dirty="0">
                <a:solidFill>
                  <a:srgbClr val="000000"/>
                </a:solidFill>
                <a:latin typeface="Lato" panose="020B0604020202020204" charset="0"/>
                <a:cs typeface="Times New Roman"/>
                <a:sym typeface="Arial"/>
              </a:rPr>
              <a:t>(); </a:t>
            </a:r>
            <a:r>
              <a:rPr lang="en-US" sz="1867" kern="0"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accessing</a:t>
            </a:r>
            <a:r>
              <a:rPr lang="en-US" sz="1867" kern="0" spc="33" dirty="0">
                <a:solidFill>
                  <a:srgbClr val="000000"/>
                </a:solidFill>
                <a:latin typeface="Lato" panose="020B0604020202020204" charset="0"/>
                <a:cs typeface="Times New Roman"/>
                <a:sym typeface="Arial"/>
              </a:rPr>
              <a:t> </a:t>
            </a:r>
            <a:r>
              <a:rPr lang="en-US" sz="1867" kern="0" spc="-7" dirty="0">
                <a:solidFill>
                  <a:srgbClr val="000000"/>
                </a:solidFill>
                <a:latin typeface="Lato" panose="020B0604020202020204" charset="0"/>
                <a:cs typeface="Times New Roman"/>
                <a:sym typeface="Arial"/>
              </a:rPr>
              <a:t>method</a:t>
            </a:r>
            <a:endParaRPr lang="en-US" sz="1867" kern="0" dirty="0">
              <a:solidFill>
                <a:srgbClr val="000000"/>
              </a:solidFill>
              <a:latin typeface="Lato" panose="020B0604020202020204" charset="0"/>
              <a:cs typeface="Times New Roman"/>
              <a:sym typeface="Arial"/>
            </a:endParaRPr>
          </a:p>
        </p:txBody>
      </p:sp>
    </p:spTree>
    <p:extLst>
      <p:ext uri="{BB962C8B-B14F-4D97-AF65-F5344CB8AC3E}">
        <p14:creationId xmlns:p14="http://schemas.microsoft.com/office/powerpoint/2010/main" val="3222712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BB7A-7D4D-46E1-BF87-ADF35951134C}"/>
              </a:ext>
            </a:extLst>
          </p:cNvPr>
          <p:cNvSpPr>
            <a:spLocks noGrp="1"/>
          </p:cNvSpPr>
          <p:nvPr>
            <p:ph type="title"/>
          </p:nvPr>
        </p:nvSpPr>
        <p:spPr/>
        <p:txBody>
          <a:bodyPr>
            <a:normAutofit/>
          </a:bodyPr>
          <a:lstStyle/>
          <a:p>
            <a:r>
              <a:rPr lang="en-US" dirty="0"/>
              <a:t>Exercises</a:t>
            </a:r>
          </a:p>
        </p:txBody>
      </p:sp>
      <p:sp>
        <p:nvSpPr>
          <p:cNvPr id="3" name="Text Placeholder 2">
            <a:extLst>
              <a:ext uri="{FF2B5EF4-FFF2-40B4-BE49-F238E27FC236}">
                <a16:creationId xmlns:a16="http://schemas.microsoft.com/office/drawing/2014/main" id="{88360BDF-862B-462B-8F2F-07581604FE3E}"/>
              </a:ext>
            </a:extLst>
          </p:cNvPr>
          <p:cNvSpPr>
            <a:spLocks noGrp="1"/>
          </p:cNvSpPr>
          <p:nvPr>
            <p:ph type="body" idx="1"/>
          </p:nvPr>
        </p:nvSpPr>
        <p:spPr/>
        <p:txBody>
          <a:bodyPr>
            <a:noAutofit/>
          </a:bodyPr>
          <a:lstStyle/>
          <a:p>
            <a:r>
              <a:rPr lang="en-US" sz="2667" dirty="0"/>
              <a:t>Objectives</a:t>
            </a:r>
          </a:p>
          <a:p>
            <a:pPr lvl="1"/>
            <a:r>
              <a:rPr lang="en-US" sz="2667" dirty="0"/>
              <a:t>Creating Classes</a:t>
            </a:r>
          </a:p>
          <a:p>
            <a:pPr lvl="1"/>
            <a:r>
              <a:rPr lang="en-US" sz="2667" dirty="0"/>
              <a:t>Creating Objects via different Types of Constructors</a:t>
            </a:r>
          </a:p>
          <a:p>
            <a:pPr lvl="1"/>
            <a:r>
              <a:rPr lang="en-US" sz="2667" dirty="0"/>
              <a:t>Apply the visibilities Rules</a:t>
            </a:r>
          </a:p>
          <a:p>
            <a:pPr lvl="1"/>
            <a:r>
              <a:rPr lang="en-US" sz="2667" dirty="0"/>
              <a:t>Testing the “==“ operator</a:t>
            </a:r>
          </a:p>
          <a:p>
            <a:pPr lvl="1"/>
            <a:r>
              <a:rPr lang="en-US" sz="2667" dirty="0"/>
              <a:t>Example of Destruction: automatic Garbage Collector</a:t>
            </a:r>
          </a:p>
        </p:txBody>
      </p:sp>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16</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a:solidFill>
                  <a:srgbClr val="1A1A1A"/>
                </a:solidFill>
              </a:rPr>
              <a:t>Classes and Objects</a:t>
            </a:r>
            <a:endParaRPr lang="en-US" sz="3467" kern="0" dirty="0">
              <a:solidFill>
                <a:srgbClr val="1A1A1A"/>
              </a:solidFill>
            </a:endParaRPr>
          </a:p>
        </p:txBody>
      </p:sp>
    </p:spTree>
    <p:extLst>
      <p:ext uri="{BB962C8B-B14F-4D97-AF65-F5344CB8AC3E}">
        <p14:creationId xmlns:p14="http://schemas.microsoft.com/office/powerpoint/2010/main" val="4006334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BB7A-7D4D-46E1-BF87-ADF35951134C}"/>
              </a:ext>
            </a:extLst>
          </p:cNvPr>
          <p:cNvSpPr>
            <a:spLocks noGrp="1"/>
          </p:cNvSpPr>
          <p:nvPr>
            <p:ph type="title"/>
          </p:nvPr>
        </p:nvSpPr>
        <p:spPr/>
        <p:txBody>
          <a:bodyPr>
            <a:normAutofit/>
          </a:bodyPr>
          <a:lstStyle/>
          <a:p>
            <a:r>
              <a:rPr lang="en-US" dirty="0"/>
              <a:t>Exercise 1</a:t>
            </a:r>
          </a:p>
        </p:txBody>
      </p:sp>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17</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a:solidFill>
                  <a:srgbClr val="1A1A1A"/>
                </a:solidFill>
              </a:rPr>
              <a:t>Classes and Objects</a:t>
            </a:r>
            <a:endParaRPr lang="en-US" sz="3467" kern="0" dirty="0">
              <a:solidFill>
                <a:srgbClr val="1A1A1A"/>
              </a:solidFill>
            </a:endParaRPr>
          </a:p>
        </p:txBody>
      </p:sp>
      <p:pic>
        <p:nvPicPr>
          <p:cNvPr id="9" name="Picture 8">
            <a:extLst>
              <a:ext uri="{FF2B5EF4-FFF2-40B4-BE49-F238E27FC236}">
                <a16:creationId xmlns:a16="http://schemas.microsoft.com/office/drawing/2014/main" id="{20D969AE-1773-49D8-B42F-418563920C82}"/>
              </a:ext>
            </a:extLst>
          </p:cNvPr>
          <p:cNvPicPr>
            <a:picLocks noChangeAspect="1"/>
          </p:cNvPicPr>
          <p:nvPr/>
        </p:nvPicPr>
        <p:blipFill rotWithShape="1">
          <a:blip r:embed="rId2"/>
          <a:srcRect l="34070" t="22387" r="16163" b="41493"/>
          <a:stretch/>
        </p:blipFill>
        <p:spPr>
          <a:xfrm>
            <a:off x="811184" y="2689995"/>
            <a:ext cx="8928240" cy="3643140"/>
          </a:xfrm>
          <a:prstGeom prst="rect">
            <a:avLst/>
          </a:prstGeom>
        </p:spPr>
      </p:pic>
    </p:spTree>
    <p:extLst>
      <p:ext uri="{BB962C8B-B14F-4D97-AF65-F5344CB8AC3E}">
        <p14:creationId xmlns:p14="http://schemas.microsoft.com/office/powerpoint/2010/main" val="2988213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BB7A-7D4D-46E1-BF87-ADF35951134C}"/>
              </a:ext>
            </a:extLst>
          </p:cNvPr>
          <p:cNvSpPr>
            <a:spLocks noGrp="1"/>
          </p:cNvSpPr>
          <p:nvPr>
            <p:ph type="title"/>
          </p:nvPr>
        </p:nvSpPr>
        <p:spPr/>
        <p:txBody>
          <a:bodyPr>
            <a:normAutofit/>
          </a:bodyPr>
          <a:lstStyle/>
          <a:p>
            <a:r>
              <a:rPr lang="en-US" dirty="0"/>
              <a:t>Exercise 1</a:t>
            </a:r>
          </a:p>
        </p:txBody>
      </p:sp>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18</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a:solidFill>
                  <a:srgbClr val="1A1A1A"/>
                </a:solidFill>
              </a:rPr>
              <a:t>Classes and Objects</a:t>
            </a:r>
            <a:endParaRPr lang="en-US" sz="3467" kern="0" dirty="0">
              <a:solidFill>
                <a:srgbClr val="1A1A1A"/>
              </a:solidFill>
            </a:endParaRPr>
          </a:p>
        </p:txBody>
      </p:sp>
      <p:pic>
        <p:nvPicPr>
          <p:cNvPr id="9" name="Picture 8">
            <a:extLst>
              <a:ext uri="{FF2B5EF4-FFF2-40B4-BE49-F238E27FC236}">
                <a16:creationId xmlns:a16="http://schemas.microsoft.com/office/drawing/2014/main" id="{20D969AE-1773-49D8-B42F-418563920C82}"/>
              </a:ext>
            </a:extLst>
          </p:cNvPr>
          <p:cNvPicPr>
            <a:picLocks noChangeAspect="1"/>
          </p:cNvPicPr>
          <p:nvPr/>
        </p:nvPicPr>
        <p:blipFill rotWithShape="1">
          <a:blip r:embed="rId2"/>
          <a:srcRect l="31152" t="56559" r="14419" b="6412"/>
          <a:stretch/>
        </p:blipFill>
        <p:spPr>
          <a:xfrm>
            <a:off x="920817" y="2296632"/>
            <a:ext cx="9764667" cy="3734979"/>
          </a:xfrm>
          <a:prstGeom prst="rect">
            <a:avLst/>
          </a:prstGeom>
        </p:spPr>
      </p:pic>
    </p:spTree>
    <p:extLst>
      <p:ext uri="{BB962C8B-B14F-4D97-AF65-F5344CB8AC3E}">
        <p14:creationId xmlns:p14="http://schemas.microsoft.com/office/powerpoint/2010/main" val="1539533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0200" y="1592673"/>
            <a:ext cx="10251600" cy="5002862"/>
          </a:xfrm>
        </p:spPr>
        <p:txBody>
          <a:bodyPr>
            <a:noAutofit/>
          </a:bodyPr>
          <a:lstStyle/>
          <a:p>
            <a:pPr marL="194729" indent="0">
              <a:buNone/>
            </a:pPr>
            <a:r>
              <a:rPr lang="en-US" sz="2400" dirty="0"/>
              <a:t>public class Holiday {</a:t>
            </a:r>
          </a:p>
          <a:p>
            <a:pPr marL="194729" indent="0">
              <a:buNone/>
            </a:pPr>
            <a:r>
              <a:rPr lang="en-US" sz="2400" dirty="0"/>
              <a:t>    </a:t>
            </a:r>
          </a:p>
          <a:p>
            <a:pPr marL="194729" indent="0">
              <a:buNone/>
            </a:pPr>
            <a:r>
              <a:rPr lang="en-US" sz="2400" dirty="0"/>
              <a:t>    private String name;</a:t>
            </a:r>
          </a:p>
          <a:p>
            <a:pPr marL="194729" indent="0">
              <a:buNone/>
            </a:pPr>
            <a:r>
              <a:rPr lang="en-US" sz="2400" dirty="0"/>
              <a:t>    private </a:t>
            </a:r>
            <a:r>
              <a:rPr lang="en-US" sz="2400" dirty="0" err="1"/>
              <a:t>int</a:t>
            </a:r>
            <a:r>
              <a:rPr lang="en-US" sz="2400" dirty="0"/>
              <a:t> day;</a:t>
            </a:r>
          </a:p>
          <a:p>
            <a:pPr marL="194729" indent="0">
              <a:buNone/>
            </a:pPr>
            <a:r>
              <a:rPr lang="en-US" sz="2400" dirty="0"/>
              <a:t>    private String month;</a:t>
            </a:r>
          </a:p>
          <a:p>
            <a:pPr marL="194729" indent="0">
              <a:buNone/>
            </a:pPr>
            <a:endParaRPr lang="en-US" sz="2400" dirty="0"/>
          </a:p>
          <a:p>
            <a:pPr marL="194729" indent="0">
              <a:buNone/>
            </a:pPr>
            <a:r>
              <a:rPr lang="en-US" sz="2400" dirty="0"/>
              <a:t>    public Holiday(String name, </a:t>
            </a:r>
            <a:r>
              <a:rPr lang="en-US" sz="2400" dirty="0" err="1"/>
              <a:t>int</a:t>
            </a:r>
            <a:r>
              <a:rPr lang="en-US" sz="2400" dirty="0"/>
              <a:t> day, String month) {</a:t>
            </a:r>
          </a:p>
          <a:p>
            <a:pPr marL="194729" indent="0">
              <a:buNone/>
            </a:pPr>
            <a:r>
              <a:rPr lang="en-US" sz="2400" dirty="0"/>
              <a:t>        this.name = name;</a:t>
            </a:r>
          </a:p>
          <a:p>
            <a:pPr marL="194729" indent="0">
              <a:buNone/>
            </a:pPr>
            <a:r>
              <a:rPr lang="en-US" sz="2400" dirty="0"/>
              <a:t>        </a:t>
            </a:r>
            <a:r>
              <a:rPr lang="en-US" sz="2400" dirty="0" err="1"/>
              <a:t>this.day</a:t>
            </a:r>
            <a:r>
              <a:rPr lang="en-US" sz="2400" dirty="0"/>
              <a:t> = day;</a:t>
            </a:r>
          </a:p>
          <a:p>
            <a:pPr marL="194729" indent="0">
              <a:buNone/>
            </a:pPr>
            <a:r>
              <a:rPr lang="en-US" sz="2400" dirty="0"/>
              <a:t>        </a:t>
            </a:r>
            <a:r>
              <a:rPr lang="en-US" sz="2400" dirty="0" err="1"/>
              <a:t>this.month</a:t>
            </a:r>
            <a:r>
              <a:rPr lang="en-US" sz="2400" dirty="0"/>
              <a:t> = month;</a:t>
            </a:r>
          </a:p>
          <a:p>
            <a:pPr marL="194729" indent="0">
              <a:buNone/>
            </a:pPr>
            <a:r>
              <a:rPr lang="en-US" sz="2400" dirty="0"/>
              <a:t>    }</a:t>
            </a:r>
          </a:p>
        </p:txBody>
      </p:sp>
      <p:sp>
        <p:nvSpPr>
          <p:cNvPr id="4" name="Slide Number Placeholder 3"/>
          <p:cNvSpPr>
            <a:spLocks noGrp="1"/>
          </p:cNvSpPr>
          <p:nvPr>
            <p:ph type="sldNum" idx="12"/>
          </p:nvPr>
        </p:nvSpPr>
        <p:spPr/>
        <p:txBody>
          <a:bodyPr/>
          <a:lstStyle/>
          <a:p>
            <a:fld id="{00000000-1234-1234-1234-123412341234}" type="slidenum">
              <a:rPr lang="en" smtClean="0"/>
              <a:pPr/>
              <a:t>19</a:t>
            </a:fld>
            <a:endParaRPr lang="en"/>
          </a:p>
        </p:txBody>
      </p:sp>
    </p:spTree>
    <p:extLst>
      <p:ext uri="{BB962C8B-B14F-4D97-AF65-F5344CB8AC3E}">
        <p14:creationId xmlns:p14="http://schemas.microsoft.com/office/powerpoint/2010/main" val="3067302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30136" y="1152739"/>
            <a:ext cx="10251600" cy="5002862"/>
          </a:xfrm>
        </p:spPr>
        <p:txBody>
          <a:bodyPr>
            <a:noAutofit/>
          </a:bodyPr>
          <a:lstStyle/>
          <a:p>
            <a:pPr marL="194729" indent="0">
              <a:buNone/>
            </a:pPr>
            <a:endParaRPr lang="en-US" sz="2400" dirty="0"/>
          </a:p>
          <a:p>
            <a:pPr marL="194729" indent="0">
              <a:buNone/>
            </a:pPr>
            <a:r>
              <a:rPr lang="en-US" sz="2400" dirty="0"/>
              <a:t>    public Holiday(String name, String month) {</a:t>
            </a:r>
          </a:p>
          <a:p>
            <a:pPr marL="194729" indent="0">
              <a:buNone/>
            </a:pPr>
            <a:r>
              <a:rPr lang="en-US" sz="2400" dirty="0"/>
              <a:t>        this.name = name;</a:t>
            </a:r>
          </a:p>
          <a:p>
            <a:pPr marL="194729" indent="0">
              <a:buNone/>
            </a:pPr>
            <a:r>
              <a:rPr lang="en-US" sz="2400" dirty="0"/>
              <a:t>        </a:t>
            </a:r>
            <a:r>
              <a:rPr lang="en-US" sz="2400" dirty="0" err="1"/>
              <a:t>this.month</a:t>
            </a:r>
            <a:r>
              <a:rPr lang="en-US" sz="2400" dirty="0"/>
              <a:t> = month;</a:t>
            </a:r>
          </a:p>
          <a:p>
            <a:pPr marL="194729" indent="0">
              <a:buNone/>
            </a:pPr>
            <a:r>
              <a:rPr lang="en-US" sz="2400" dirty="0"/>
              <a:t>        </a:t>
            </a:r>
            <a:r>
              <a:rPr lang="en-US" sz="2400" dirty="0" err="1"/>
              <a:t>this.day</a:t>
            </a:r>
            <a:r>
              <a:rPr lang="en-US" sz="2400" dirty="0"/>
              <a:t>=7;</a:t>
            </a:r>
          </a:p>
          <a:p>
            <a:pPr marL="194729" indent="0">
              <a:buNone/>
            </a:pPr>
            <a:r>
              <a:rPr lang="en-US" sz="2400" dirty="0"/>
              <a:t>       </a:t>
            </a:r>
          </a:p>
          <a:p>
            <a:pPr marL="194729" indent="0">
              <a:buNone/>
            </a:pPr>
            <a:r>
              <a:rPr lang="en-US" sz="2400" dirty="0"/>
              <a:t>    }</a:t>
            </a:r>
          </a:p>
          <a:p>
            <a:pPr marL="194729" indent="0">
              <a:buNone/>
            </a:pPr>
            <a:endParaRPr lang="en-US" sz="2400" dirty="0"/>
          </a:p>
          <a:p>
            <a:pPr marL="194729" indent="0">
              <a:buNone/>
            </a:pPr>
            <a:r>
              <a:rPr lang="en-US" sz="2400" dirty="0"/>
              <a:t>    public Holiday(String name) {</a:t>
            </a:r>
          </a:p>
          <a:p>
            <a:pPr marL="194729" indent="0">
              <a:buNone/>
            </a:pPr>
            <a:r>
              <a:rPr lang="en-US" sz="2400" dirty="0"/>
              <a:t>        this.name = name;</a:t>
            </a:r>
          </a:p>
          <a:p>
            <a:pPr marL="194729" indent="0">
              <a:buNone/>
            </a:pPr>
            <a:r>
              <a:rPr lang="en-US" sz="2400" dirty="0"/>
              <a:t>        </a:t>
            </a:r>
            <a:r>
              <a:rPr lang="en-US" sz="2400" dirty="0" err="1"/>
              <a:t>this.day</a:t>
            </a:r>
            <a:r>
              <a:rPr lang="en-US" sz="2400" dirty="0"/>
              <a:t>=23;</a:t>
            </a:r>
          </a:p>
          <a:p>
            <a:pPr marL="194729" indent="0">
              <a:buNone/>
            </a:pPr>
            <a:r>
              <a:rPr lang="en-US" sz="2400" dirty="0"/>
              <a:t>        </a:t>
            </a:r>
            <a:r>
              <a:rPr lang="en-US" sz="2400" dirty="0" err="1"/>
              <a:t>this.month</a:t>
            </a:r>
            <a:r>
              <a:rPr lang="en-US" sz="2400" dirty="0"/>
              <a:t>="September";</a:t>
            </a:r>
          </a:p>
          <a:p>
            <a:pPr marL="194729" indent="0">
              <a:buNone/>
            </a:pPr>
            <a:r>
              <a:rPr lang="en-US" sz="2400" dirty="0"/>
              <a:t>    }</a:t>
            </a:r>
          </a:p>
        </p:txBody>
      </p:sp>
      <p:sp>
        <p:nvSpPr>
          <p:cNvPr id="4" name="Slide Number Placeholder 3"/>
          <p:cNvSpPr>
            <a:spLocks noGrp="1"/>
          </p:cNvSpPr>
          <p:nvPr>
            <p:ph type="sldNum" idx="12"/>
          </p:nvPr>
        </p:nvSpPr>
        <p:spPr/>
        <p:txBody>
          <a:bodyPr/>
          <a:lstStyle/>
          <a:p>
            <a:fld id="{00000000-1234-1234-1234-123412341234}" type="slidenum">
              <a:rPr lang="en" smtClean="0"/>
              <a:pPr/>
              <a:t>20</a:t>
            </a:fld>
            <a:endParaRPr lang="en"/>
          </a:p>
        </p:txBody>
      </p:sp>
    </p:spTree>
    <p:extLst>
      <p:ext uri="{BB962C8B-B14F-4D97-AF65-F5344CB8AC3E}">
        <p14:creationId xmlns:p14="http://schemas.microsoft.com/office/powerpoint/2010/main" val="2134051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0200" y="1714213"/>
            <a:ext cx="10251600" cy="5002862"/>
          </a:xfrm>
        </p:spPr>
        <p:txBody>
          <a:bodyPr>
            <a:noAutofit/>
          </a:bodyPr>
          <a:lstStyle/>
          <a:p>
            <a:pPr marL="194729" indent="0">
              <a:buNone/>
            </a:pPr>
            <a:r>
              <a:rPr lang="en-US" sz="2000" dirty="0"/>
              <a:t>public </a:t>
            </a:r>
            <a:r>
              <a:rPr lang="en-US" sz="2000" dirty="0" err="1"/>
              <a:t>boolean</a:t>
            </a:r>
            <a:r>
              <a:rPr lang="en-US" sz="2000" dirty="0"/>
              <a:t> </a:t>
            </a:r>
            <a:r>
              <a:rPr lang="en-US" sz="2000" dirty="0" err="1"/>
              <a:t>sameMonth</a:t>
            </a:r>
            <a:r>
              <a:rPr lang="en-US" sz="2000" dirty="0"/>
              <a:t> (Holiday h)</a:t>
            </a:r>
          </a:p>
          <a:p>
            <a:pPr marL="194729" indent="0">
              <a:buNone/>
            </a:pPr>
            <a:r>
              <a:rPr lang="en-US" sz="2000" dirty="0"/>
              <a:t>    {</a:t>
            </a:r>
          </a:p>
          <a:p>
            <a:pPr marL="194729" indent="0">
              <a:buNone/>
            </a:pPr>
            <a:r>
              <a:rPr lang="en-US" sz="2000" dirty="0"/>
              <a:t>        return </a:t>
            </a:r>
            <a:r>
              <a:rPr lang="en-US" sz="2000" dirty="0" err="1"/>
              <a:t>this.month.equals</a:t>
            </a:r>
            <a:r>
              <a:rPr lang="en-US" sz="2000" dirty="0"/>
              <a:t>(</a:t>
            </a:r>
            <a:r>
              <a:rPr lang="en-US" sz="2000" dirty="0" err="1"/>
              <a:t>h.month</a:t>
            </a:r>
            <a:r>
              <a:rPr lang="en-US" sz="2000" dirty="0"/>
              <a:t>);</a:t>
            </a:r>
          </a:p>
          <a:p>
            <a:pPr marL="194729" indent="0">
              <a:buNone/>
            </a:pPr>
            <a:r>
              <a:rPr lang="en-US" sz="2000" dirty="0"/>
              <a:t>    }</a:t>
            </a:r>
          </a:p>
          <a:p>
            <a:pPr marL="194729" indent="0">
              <a:buNone/>
            </a:pPr>
            <a:r>
              <a:rPr lang="en-US" sz="2000" dirty="0"/>
              <a:t>    </a:t>
            </a:r>
          </a:p>
          <a:p>
            <a:pPr marL="194729" indent="0">
              <a:buNone/>
            </a:pPr>
            <a:r>
              <a:rPr lang="en-US" sz="2000" dirty="0"/>
              <a:t>    double </a:t>
            </a:r>
            <a:r>
              <a:rPr lang="en-US" sz="2000" dirty="0" err="1"/>
              <a:t>avgDay</a:t>
            </a:r>
            <a:r>
              <a:rPr lang="en-US" sz="2000" dirty="0"/>
              <a:t>(Holiday [] </a:t>
            </a:r>
            <a:r>
              <a:rPr lang="en-US" sz="2000" dirty="0" err="1"/>
              <a:t>hol</a:t>
            </a:r>
            <a:r>
              <a:rPr lang="en-US" sz="2000" dirty="0"/>
              <a:t>)</a:t>
            </a:r>
          </a:p>
          <a:p>
            <a:pPr marL="194729" indent="0">
              <a:buNone/>
            </a:pPr>
            <a:r>
              <a:rPr lang="en-US" sz="2000" dirty="0"/>
              <a:t>    {</a:t>
            </a:r>
          </a:p>
          <a:p>
            <a:pPr marL="194729" indent="0">
              <a:buNone/>
            </a:pPr>
            <a:r>
              <a:rPr lang="en-US" sz="2000" dirty="0"/>
              <a:t>        </a:t>
            </a:r>
            <a:r>
              <a:rPr lang="en-US" sz="2000" dirty="0" err="1"/>
              <a:t>int</a:t>
            </a:r>
            <a:r>
              <a:rPr lang="en-US" sz="2000" dirty="0"/>
              <a:t> sum=0;</a:t>
            </a:r>
          </a:p>
          <a:p>
            <a:pPr marL="194729" indent="0">
              <a:buNone/>
            </a:pPr>
            <a:r>
              <a:rPr lang="en-US" sz="2000" dirty="0"/>
              <a:t>        for(</a:t>
            </a:r>
            <a:r>
              <a:rPr lang="en-US" sz="2000" dirty="0" err="1"/>
              <a:t>int</a:t>
            </a:r>
            <a:r>
              <a:rPr lang="en-US" sz="2000" dirty="0"/>
              <a:t> </a:t>
            </a:r>
            <a:r>
              <a:rPr lang="en-US" sz="2000" dirty="0" err="1"/>
              <a:t>i</a:t>
            </a:r>
            <a:r>
              <a:rPr lang="en-US" sz="2000" dirty="0"/>
              <a:t>=0;i&lt;</a:t>
            </a:r>
            <a:r>
              <a:rPr lang="en-US" sz="2000" dirty="0" err="1"/>
              <a:t>hol.length;i</a:t>
            </a:r>
            <a:r>
              <a:rPr lang="en-US" sz="2000" dirty="0"/>
              <a:t>++)</a:t>
            </a:r>
          </a:p>
          <a:p>
            <a:pPr marL="194729" indent="0">
              <a:buNone/>
            </a:pPr>
            <a:r>
              <a:rPr lang="en-US" sz="2000" dirty="0"/>
              <a:t>            sum+=</a:t>
            </a:r>
            <a:r>
              <a:rPr lang="en-US" sz="2000" dirty="0" err="1"/>
              <a:t>hol</a:t>
            </a:r>
            <a:r>
              <a:rPr lang="en-US" sz="2000" dirty="0"/>
              <a:t>[</a:t>
            </a:r>
            <a:r>
              <a:rPr lang="en-US" sz="2000" dirty="0" err="1"/>
              <a:t>i</a:t>
            </a:r>
            <a:r>
              <a:rPr lang="en-US" sz="2000" dirty="0"/>
              <a:t>].day;</a:t>
            </a:r>
          </a:p>
          <a:p>
            <a:pPr marL="194729" indent="0">
              <a:buNone/>
            </a:pPr>
            <a:r>
              <a:rPr lang="en-US" sz="2000" dirty="0"/>
              <a:t>        return ((double)sum/</a:t>
            </a:r>
            <a:r>
              <a:rPr lang="en-US" sz="2000" dirty="0" err="1"/>
              <a:t>hol.length</a:t>
            </a:r>
            <a:r>
              <a:rPr lang="en-US" sz="2000" dirty="0"/>
              <a:t>);</a:t>
            </a:r>
          </a:p>
          <a:p>
            <a:pPr marL="194729" indent="0">
              <a:buNone/>
            </a:pPr>
            <a:r>
              <a:rPr lang="en-US" sz="2000" dirty="0"/>
              <a:t>    }</a:t>
            </a:r>
          </a:p>
          <a:p>
            <a:pPr marL="194729" indent="0">
              <a:buNone/>
            </a:pPr>
            <a:r>
              <a:rPr lang="en-US" sz="2000" dirty="0"/>
              <a:t>}</a:t>
            </a:r>
          </a:p>
        </p:txBody>
      </p:sp>
      <p:sp>
        <p:nvSpPr>
          <p:cNvPr id="4" name="Slide Number Placeholder 3"/>
          <p:cNvSpPr>
            <a:spLocks noGrp="1"/>
          </p:cNvSpPr>
          <p:nvPr>
            <p:ph type="sldNum" idx="12"/>
          </p:nvPr>
        </p:nvSpPr>
        <p:spPr/>
        <p:txBody>
          <a:bodyPr/>
          <a:lstStyle/>
          <a:p>
            <a:fld id="{00000000-1234-1234-1234-123412341234}" type="slidenum">
              <a:rPr lang="en" smtClean="0"/>
              <a:pPr/>
              <a:t>21</a:t>
            </a:fld>
            <a:endParaRPr lang="en"/>
          </a:p>
        </p:txBody>
      </p:sp>
    </p:spTree>
    <p:extLst>
      <p:ext uri="{BB962C8B-B14F-4D97-AF65-F5344CB8AC3E}">
        <p14:creationId xmlns:p14="http://schemas.microsoft.com/office/powerpoint/2010/main" val="2585798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0200" y="1604268"/>
            <a:ext cx="10251600" cy="4362392"/>
          </a:xfrm>
        </p:spPr>
        <p:txBody>
          <a:bodyPr>
            <a:normAutofit fontScale="85000" lnSpcReduction="20000"/>
          </a:bodyPr>
          <a:lstStyle/>
          <a:p>
            <a:pPr marL="194729" indent="0">
              <a:buNone/>
            </a:pPr>
            <a:r>
              <a:rPr lang="en-US" dirty="0"/>
              <a:t> </a:t>
            </a:r>
          </a:p>
          <a:p>
            <a:pPr marL="194729" indent="0">
              <a:buNone/>
            </a:pPr>
            <a:r>
              <a:rPr lang="en-US" sz="2000" dirty="0"/>
              <a:t> public static void main(String[] </a:t>
            </a:r>
            <a:r>
              <a:rPr lang="en-US" sz="2000" dirty="0" err="1"/>
              <a:t>args</a:t>
            </a:r>
            <a:r>
              <a:rPr lang="en-US" sz="2000" dirty="0"/>
              <a:t>) {</a:t>
            </a:r>
          </a:p>
          <a:p>
            <a:pPr marL="194729" indent="0">
              <a:buNone/>
            </a:pPr>
            <a:r>
              <a:rPr lang="en-US" sz="2000" dirty="0"/>
              <a:t>// TODO code application logic here</a:t>
            </a:r>
          </a:p>
          <a:p>
            <a:pPr marL="194729" indent="0">
              <a:buNone/>
            </a:pPr>
            <a:r>
              <a:rPr lang="en-US" sz="2000" dirty="0"/>
              <a:t>        </a:t>
            </a:r>
          </a:p>
          <a:p>
            <a:pPr marL="194729" indent="0">
              <a:buNone/>
            </a:pPr>
            <a:r>
              <a:rPr lang="en-US" sz="2000" dirty="0"/>
              <a:t>        Holiday </a:t>
            </a:r>
            <a:r>
              <a:rPr lang="en-US" sz="2000" dirty="0" err="1"/>
              <a:t>hd</a:t>
            </a:r>
            <a:r>
              <a:rPr lang="en-US" sz="2000" dirty="0"/>
              <a:t>[]=new Holiday[3];</a:t>
            </a:r>
          </a:p>
          <a:p>
            <a:pPr marL="194729" indent="0">
              <a:buNone/>
            </a:pPr>
            <a:r>
              <a:rPr lang="en-US" sz="2000" dirty="0"/>
              <a:t>        </a:t>
            </a:r>
            <a:r>
              <a:rPr lang="en-US" sz="2000" dirty="0" err="1"/>
              <a:t>hd</a:t>
            </a:r>
            <a:r>
              <a:rPr lang="en-US" sz="2000" dirty="0"/>
              <a:t>[0]=new Holiday("Vacation1",6,"November");</a:t>
            </a:r>
          </a:p>
          <a:p>
            <a:pPr marL="194729" indent="0">
              <a:buNone/>
            </a:pPr>
            <a:r>
              <a:rPr lang="en-US" sz="2000" dirty="0"/>
              <a:t>         </a:t>
            </a:r>
            <a:r>
              <a:rPr lang="en-US" sz="2000" dirty="0" err="1"/>
              <a:t>hd</a:t>
            </a:r>
            <a:r>
              <a:rPr lang="en-US" sz="2000" dirty="0"/>
              <a:t>[1]=new Holiday("Vacation2","November");</a:t>
            </a:r>
          </a:p>
          <a:p>
            <a:pPr marL="194729" indent="0">
              <a:buNone/>
            </a:pPr>
            <a:r>
              <a:rPr lang="en-US" sz="2000" dirty="0"/>
              <a:t>         </a:t>
            </a:r>
            <a:r>
              <a:rPr lang="en-US" sz="2000" dirty="0" err="1"/>
              <a:t>hd</a:t>
            </a:r>
            <a:r>
              <a:rPr lang="en-US" sz="2000" dirty="0"/>
              <a:t>[2]=new Holiday("Vacation3");</a:t>
            </a:r>
          </a:p>
          <a:p>
            <a:pPr marL="194729" indent="0">
              <a:buNone/>
            </a:pPr>
            <a:r>
              <a:rPr lang="en-US" sz="2000" dirty="0"/>
              <a:t>         </a:t>
            </a:r>
          </a:p>
          <a:p>
            <a:pPr marL="194729" indent="0">
              <a:buNone/>
            </a:pPr>
            <a:r>
              <a:rPr lang="en-US" sz="2000" dirty="0"/>
              <a:t>         </a:t>
            </a:r>
            <a:r>
              <a:rPr lang="en-US" sz="2000" dirty="0" err="1"/>
              <a:t>System.out.println</a:t>
            </a:r>
            <a:r>
              <a:rPr lang="en-US" sz="2000" dirty="0"/>
              <a:t>("testing month: </a:t>
            </a:r>
            <a:r>
              <a:rPr lang="en-US" sz="2000" dirty="0" err="1"/>
              <a:t>Hd</a:t>
            </a:r>
            <a:r>
              <a:rPr lang="en-US" sz="2000" dirty="0"/>
              <a:t>[0] and </a:t>
            </a:r>
            <a:r>
              <a:rPr lang="en-US" sz="2000" dirty="0" err="1"/>
              <a:t>Hd</a:t>
            </a:r>
            <a:r>
              <a:rPr lang="en-US" sz="2000" dirty="0"/>
              <a:t>[1] are "+((</a:t>
            </a:r>
            <a:r>
              <a:rPr lang="en-US" sz="2000" dirty="0" err="1"/>
              <a:t>hd</a:t>
            </a:r>
            <a:r>
              <a:rPr lang="en-US" sz="2000" dirty="0"/>
              <a:t>[0].</a:t>
            </a:r>
            <a:r>
              <a:rPr lang="en-US" sz="2000" dirty="0" err="1"/>
              <a:t>sameMonth</a:t>
            </a:r>
            <a:r>
              <a:rPr lang="en-US" sz="2000" dirty="0"/>
              <a:t>(</a:t>
            </a:r>
            <a:r>
              <a:rPr lang="en-US" sz="2000" dirty="0" err="1"/>
              <a:t>hd</a:t>
            </a:r>
            <a:r>
              <a:rPr lang="en-US" sz="2000" dirty="0"/>
              <a:t>[2]))?"</a:t>
            </a:r>
            <a:r>
              <a:rPr lang="en-US" sz="2000" dirty="0" err="1"/>
              <a:t>equal":"not</a:t>
            </a:r>
            <a:r>
              <a:rPr lang="en-US" sz="2000" dirty="0"/>
              <a:t> equal"));</a:t>
            </a:r>
          </a:p>
          <a:p>
            <a:pPr marL="194729" indent="0">
              <a:buNone/>
            </a:pPr>
            <a:r>
              <a:rPr lang="en-US" sz="2000" dirty="0"/>
              <a:t>         </a:t>
            </a:r>
          </a:p>
          <a:p>
            <a:pPr marL="194729" indent="0">
              <a:buNone/>
            </a:pPr>
            <a:r>
              <a:rPr lang="en-US" sz="2000" dirty="0"/>
              <a:t>         </a:t>
            </a:r>
            <a:r>
              <a:rPr lang="en-US" sz="2000" dirty="0" err="1"/>
              <a:t>System.out.println</a:t>
            </a:r>
            <a:r>
              <a:rPr lang="en-US" sz="2000" dirty="0"/>
              <a:t>("the </a:t>
            </a:r>
            <a:r>
              <a:rPr lang="en-US" sz="2000" dirty="0" err="1"/>
              <a:t>avg</a:t>
            </a:r>
            <a:r>
              <a:rPr lang="en-US" sz="2000" dirty="0"/>
              <a:t> of days= "+</a:t>
            </a:r>
            <a:r>
              <a:rPr lang="en-US" sz="2000" dirty="0" err="1"/>
              <a:t>hd</a:t>
            </a:r>
            <a:r>
              <a:rPr lang="en-US" sz="2000" dirty="0"/>
              <a:t>[2].</a:t>
            </a:r>
            <a:r>
              <a:rPr lang="en-US" sz="2000" dirty="0" err="1"/>
              <a:t>avgDay</a:t>
            </a:r>
            <a:r>
              <a:rPr lang="en-US" sz="2000" dirty="0"/>
              <a:t>(</a:t>
            </a:r>
            <a:r>
              <a:rPr lang="en-US" sz="2000" dirty="0" err="1"/>
              <a:t>hd</a:t>
            </a:r>
            <a:r>
              <a:rPr lang="en-US" sz="2000" dirty="0"/>
              <a:t>));   </a:t>
            </a:r>
          </a:p>
          <a:p>
            <a:pPr marL="194729" indent="0">
              <a:buNone/>
            </a:pPr>
            <a:r>
              <a:rPr lang="en-US" sz="2000" dirty="0"/>
              <a:t>        </a:t>
            </a:r>
          </a:p>
          <a:p>
            <a:pPr marL="194729" indent="0">
              <a:buNone/>
            </a:pPr>
            <a:r>
              <a:rPr lang="en-US" sz="2000" dirty="0"/>
              <a:t>    }    </a:t>
            </a:r>
          </a:p>
          <a:p>
            <a:pPr marL="194729" indent="0">
              <a:buNone/>
            </a:pPr>
            <a:r>
              <a:rPr lang="en-US" sz="2000" dirty="0"/>
              <a:t>}</a:t>
            </a:r>
          </a:p>
        </p:txBody>
      </p:sp>
      <p:sp>
        <p:nvSpPr>
          <p:cNvPr id="4" name="Slide Number Placeholder 3"/>
          <p:cNvSpPr>
            <a:spLocks noGrp="1"/>
          </p:cNvSpPr>
          <p:nvPr>
            <p:ph type="sldNum" idx="12"/>
          </p:nvPr>
        </p:nvSpPr>
        <p:spPr/>
        <p:txBody>
          <a:bodyPr/>
          <a:lstStyle/>
          <a:p>
            <a:fld id="{00000000-1234-1234-1234-123412341234}" type="slidenum">
              <a:rPr lang="en" smtClean="0"/>
              <a:pPr/>
              <a:t>22</a:t>
            </a:fld>
            <a:endParaRPr lang="en"/>
          </a:p>
        </p:txBody>
      </p:sp>
    </p:spTree>
    <p:extLst>
      <p:ext uri="{BB962C8B-B14F-4D97-AF65-F5344CB8AC3E}">
        <p14:creationId xmlns:p14="http://schemas.microsoft.com/office/powerpoint/2010/main" val="2191961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BB7A-7D4D-46E1-BF87-ADF35951134C}"/>
              </a:ext>
            </a:extLst>
          </p:cNvPr>
          <p:cNvSpPr>
            <a:spLocks noGrp="1"/>
          </p:cNvSpPr>
          <p:nvPr>
            <p:ph type="title"/>
          </p:nvPr>
        </p:nvSpPr>
        <p:spPr/>
        <p:txBody>
          <a:bodyPr>
            <a:normAutofit/>
          </a:bodyPr>
          <a:lstStyle/>
          <a:p>
            <a:r>
              <a:rPr lang="en-US" dirty="0"/>
              <a:t>Exercise 2</a:t>
            </a:r>
          </a:p>
        </p:txBody>
      </p:sp>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23</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a:solidFill>
                  <a:srgbClr val="1A1A1A"/>
                </a:solidFill>
              </a:rPr>
              <a:t>Classes and Objects</a:t>
            </a:r>
            <a:endParaRPr lang="en-US" sz="3467" kern="0" dirty="0">
              <a:solidFill>
                <a:srgbClr val="1A1A1A"/>
              </a:solidFill>
            </a:endParaRPr>
          </a:p>
        </p:txBody>
      </p:sp>
      <p:pic>
        <p:nvPicPr>
          <p:cNvPr id="6" name="Picture 5">
            <a:extLst>
              <a:ext uri="{FF2B5EF4-FFF2-40B4-BE49-F238E27FC236}">
                <a16:creationId xmlns:a16="http://schemas.microsoft.com/office/drawing/2014/main" id="{C706A5D3-E554-4849-BA67-939F3F999113}"/>
              </a:ext>
            </a:extLst>
          </p:cNvPr>
          <p:cNvPicPr>
            <a:picLocks noChangeAspect="1"/>
          </p:cNvPicPr>
          <p:nvPr/>
        </p:nvPicPr>
        <p:blipFill rotWithShape="1">
          <a:blip r:embed="rId2"/>
          <a:srcRect l="35117" t="19623" r="15930" b="42115"/>
          <a:stretch/>
        </p:blipFill>
        <p:spPr>
          <a:xfrm>
            <a:off x="967800" y="2353339"/>
            <a:ext cx="9154397" cy="4022715"/>
          </a:xfrm>
          <a:prstGeom prst="rect">
            <a:avLst/>
          </a:prstGeom>
        </p:spPr>
      </p:pic>
    </p:spTree>
    <p:extLst>
      <p:ext uri="{BB962C8B-B14F-4D97-AF65-F5344CB8AC3E}">
        <p14:creationId xmlns:p14="http://schemas.microsoft.com/office/powerpoint/2010/main" val="1327019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BB7A-7D4D-46E1-BF87-ADF35951134C}"/>
              </a:ext>
            </a:extLst>
          </p:cNvPr>
          <p:cNvSpPr>
            <a:spLocks noGrp="1"/>
          </p:cNvSpPr>
          <p:nvPr>
            <p:ph type="title"/>
          </p:nvPr>
        </p:nvSpPr>
        <p:spPr/>
        <p:txBody>
          <a:bodyPr>
            <a:normAutofit/>
          </a:bodyPr>
          <a:lstStyle/>
          <a:p>
            <a:r>
              <a:rPr lang="en-US" dirty="0"/>
              <a:t>Exercise 2</a:t>
            </a:r>
          </a:p>
        </p:txBody>
      </p:sp>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24</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a:solidFill>
                  <a:srgbClr val="1A1A1A"/>
                </a:solidFill>
              </a:rPr>
              <a:t>Classes and Objects</a:t>
            </a:r>
            <a:endParaRPr lang="en-US" sz="3467" kern="0" dirty="0">
              <a:solidFill>
                <a:srgbClr val="1A1A1A"/>
              </a:solidFill>
            </a:endParaRPr>
          </a:p>
        </p:txBody>
      </p:sp>
      <p:pic>
        <p:nvPicPr>
          <p:cNvPr id="7" name="Picture 6">
            <a:extLst>
              <a:ext uri="{FF2B5EF4-FFF2-40B4-BE49-F238E27FC236}">
                <a16:creationId xmlns:a16="http://schemas.microsoft.com/office/drawing/2014/main" id="{ACB306F1-AF87-4C25-897A-71C04D1EAB3C}"/>
              </a:ext>
            </a:extLst>
          </p:cNvPr>
          <p:cNvPicPr>
            <a:picLocks noChangeAspect="1"/>
          </p:cNvPicPr>
          <p:nvPr/>
        </p:nvPicPr>
        <p:blipFill rotWithShape="1">
          <a:blip r:embed="rId2"/>
          <a:srcRect l="35814" t="27483" r="13954" b="30533"/>
          <a:stretch/>
        </p:blipFill>
        <p:spPr>
          <a:xfrm>
            <a:off x="765545" y="2298698"/>
            <a:ext cx="9144000" cy="4296837"/>
          </a:xfrm>
          <a:prstGeom prst="rect">
            <a:avLst/>
          </a:prstGeom>
        </p:spPr>
      </p:pic>
    </p:spTree>
    <p:extLst>
      <p:ext uri="{BB962C8B-B14F-4D97-AF65-F5344CB8AC3E}">
        <p14:creationId xmlns:p14="http://schemas.microsoft.com/office/powerpoint/2010/main" val="2625939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25</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dirty="0">
                <a:solidFill>
                  <a:srgbClr val="1A1A1A"/>
                </a:solidFill>
              </a:rPr>
              <a:t>Inheritance</a:t>
            </a:r>
          </a:p>
        </p:txBody>
      </p:sp>
      <p:pic>
        <p:nvPicPr>
          <p:cNvPr id="10" name="Picture 9">
            <a:extLst>
              <a:ext uri="{FF2B5EF4-FFF2-40B4-BE49-F238E27FC236}">
                <a16:creationId xmlns:a16="http://schemas.microsoft.com/office/drawing/2014/main" id="{F46E87E4-EF0C-4C22-BB26-C826D5886EDA}"/>
              </a:ext>
            </a:extLst>
          </p:cNvPr>
          <p:cNvPicPr>
            <a:picLocks noChangeAspect="1"/>
          </p:cNvPicPr>
          <p:nvPr/>
        </p:nvPicPr>
        <p:blipFill>
          <a:blip r:embed="rId2"/>
          <a:stretch>
            <a:fillRect/>
          </a:stretch>
        </p:blipFill>
        <p:spPr>
          <a:xfrm>
            <a:off x="1105788" y="1656246"/>
            <a:ext cx="8646201" cy="5107783"/>
          </a:xfrm>
          <a:prstGeom prst="rect">
            <a:avLst/>
          </a:prstGeom>
        </p:spPr>
      </p:pic>
    </p:spTree>
    <p:extLst>
      <p:ext uri="{BB962C8B-B14F-4D97-AF65-F5344CB8AC3E}">
        <p14:creationId xmlns:p14="http://schemas.microsoft.com/office/powerpoint/2010/main" val="2409197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26</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dirty="0">
                <a:solidFill>
                  <a:srgbClr val="1A1A1A"/>
                </a:solidFill>
              </a:rPr>
              <a:t>Inheritance: Syntax</a:t>
            </a:r>
          </a:p>
        </p:txBody>
      </p:sp>
      <p:pic>
        <p:nvPicPr>
          <p:cNvPr id="2" name="Picture 1">
            <a:extLst>
              <a:ext uri="{FF2B5EF4-FFF2-40B4-BE49-F238E27FC236}">
                <a16:creationId xmlns:a16="http://schemas.microsoft.com/office/drawing/2014/main" id="{9001A0F2-E386-451C-B057-7336FFF017BD}"/>
              </a:ext>
            </a:extLst>
          </p:cNvPr>
          <p:cNvPicPr>
            <a:picLocks noChangeAspect="1"/>
          </p:cNvPicPr>
          <p:nvPr/>
        </p:nvPicPr>
        <p:blipFill>
          <a:blip r:embed="rId2"/>
          <a:stretch>
            <a:fillRect/>
          </a:stretch>
        </p:blipFill>
        <p:spPr>
          <a:xfrm>
            <a:off x="1119964" y="1650058"/>
            <a:ext cx="8229409" cy="4945477"/>
          </a:xfrm>
          <a:prstGeom prst="rect">
            <a:avLst/>
          </a:prstGeom>
        </p:spPr>
      </p:pic>
    </p:spTree>
    <p:extLst>
      <p:ext uri="{BB962C8B-B14F-4D97-AF65-F5344CB8AC3E}">
        <p14:creationId xmlns:p14="http://schemas.microsoft.com/office/powerpoint/2010/main" val="492635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27</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dirty="0">
                <a:solidFill>
                  <a:srgbClr val="1A1A1A"/>
                </a:solidFill>
              </a:rPr>
              <a:t>Inheritance: super Keyword</a:t>
            </a:r>
          </a:p>
        </p:txBody>
      </p:sp>
      <p:pic>
        <p:nvPicPr>
          <p:cNvPr id="3" name="Picture 2">
            <a:extLst>
              <a:ext uri="{FF2B5EF4-FFF2-40B4-BE49-F238E27FC236}">
                <a16:creationId xmlns:a16="http://schemas.microsoft.com/office/drawing/2014/main" id="{6AEF6644-DCB0-4747-AA33-31F9670036F9}"/>
              </a:ext>
            </a:extLst>
          </p:cNvPr>
          <p:cNvPicPr>
            <a:picLocks noChangeAspect="1"/>
          </p:cNvPicPr>
          <p:nvPr/>
        </p:nvPicPr>
        <p:blipFill>
          <a:blip r:embed="rId2"/>
          <a:stretch>
            <a:fillRect/>
          </a:stretch>
        </p:blipFill>
        <p:spPr>
          <a:xfrm>
            <a:off x="652129" y="1745022"/>
            <a:ext cx="8894971" cy="5254745"/>
          </a:xfrm>
          <a:prstGeom prst="rect">
            <a:avLst/>
          </a:prstGeom>
        </p:spPr>
      </p:pic>
    </p:spTree>
    <p:extLst>
      <p:ext uri="{BB962C8B-B14F-4D97-AF65-F5344CB8AC3E}">
        <p14:creationId xmlns:p14="http://schemas.microsoft.com/office/powerpoint/2010/main" val="1565055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28</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433884" y="822535"/>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dirty="0">
                <a:solidFill>
                  <a:srgbClr val="1A1A1A"/>
                </a:solidFill>
              </a:rPr>
              <a:t>Inheritance: the class Object</a:t>
            </a:r>
          </a:p>
        </p:txBody>
      </p:sp>
      <p:pic>
        <p:nvPicPr>
          <p:cNvPr id="2" name="Picture 1">
            <a:extLst>
              <a:ext uri="{FF2B5EF4-FFF2-40B4-BE49-F238E27FC236}">
                <a16:creationId xmlns:a16="http://schemas.microsoft.com/office/drawing/2014/main" id="{BB4BAE3B-1515-4620-A765-AAE375647536}"/>
              </a:ext>
            </a:extLst>
          </p:cNvPr>
          <p:cNvPicPr>
            <a:picLocks noChangeAspect="1"/>
          </p:cNvPicPr>
          <p:nvPr/>
        </p:nvPicPr>
        <p:blipFill>
          <a:blip r:embed="rId2"/>
          <a:stretch>
            <a:fillRect/>
          </a:stretch>
        </p:blipFill>
        <p:spPr>
          <a:xfrm>
            <a:off x="297712" y="1883013"/>
            <a:ext cx="9140013" cy="5343583"/>
          </a:xfrm>
          <a:prstGeom prst="rect">
            <a:avLst/>
          </a:prstGeom>
        </p:spPr>
      </p:pic>
    </p:spTree>
    <p:extLst>
      <p:ext uri="{BB962C8B-B14F-4D97-AF65-F5344CB8AC3E}">
        <p14:creationId xmlns:p14="http://schemas.microsoft.com/office/powerpoint/2010/main" val="2808128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29</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207931" y="693261"/>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dirty="0">
                <a:solidFill>
                  <a:srgbClr val="1A1A1A"/>
                </a:solidFill>
              </a:rPr>
              <a:t>Inheritance: The </a:t>
            </a:r>
            <a:r>
              <a:rPr lang="en-US" sz="3467" kern="0" dirty="0" err="1">
                <a:solidFill>
                  <a:srgbClr val="1A1A1A"/>
                </a:solidFill>
              </a:rPr>
              <a:t>instanceOf</a:t>
            </a:r>
            <a:r>
              <a:rPr lang="en-US" sz="3467" kern="0" dirty="0">
                <a:solidFill>
                  <a:srgbClr val="1A1A1A"/>
                </a:solidFill>
              </a:rPr>
              <a:t> keyword</a:t>
            </a:r>
          </a:p>
        </p:txBody>
      </p:sp>
      <p:pic>
        <p:nvPicPr>
          <p:cNvPr id="3" name="Picture 2">
            <a:extLst>
              <a:ext uri="{FF2B5EF4-FFF2-40B4-BE49-F238E27FC236}">
                <a16:creationId xmlns:a16="http://schemas.microsoft.com/office/drawing/2014/main" id="{6C260306-4986-42B7-B26D-25E2688D4954}"/>
              </a:ext>
            </a:extLst>
          </p:cNvPr>
          <p:cNvPicPr>
            <a:picLocks noChangeAspect="1"/>
          </p:cNvPicPr>
          <p:nvPr/>
        </p:nvPicPr>
        <p:blipFill>
          <a:blip r:embed="rId2"/>
          <a:stretch>
            <a:fillRect/>
          </a:stretch>
        </p:blipFill>
        <p:spPr>
          <a:xfrm>
            <a:off x="779719" y="1520237"/>
            <a:ext cx="8793791" cy="5437220"/>
          </a:xfrm>
          <a:prstGeom prst="rect">
            <a:avLst/>
          </a:prstGeom>
        </p:spPr>
      </p:pic>
    </p:spTree>
    <p:extLst>
      <p:ext uri="{BB962C8B-B14F-4D97-AF65-F5344CB8AC3E}">
        <p14:creationId xmlns:p14="http://schemas.microsoft.com/office/powerpoint/2010/main" val="825065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pPr defTabSz="1219170">
              <a:buClr>
                <a:srgbClr val="000000"/>
              </a:buClr>
            </a:pPr>
            <a:fld id="{00000000-1234-1234-1234-123412341234}" type="slidenum">
              <a:rPr lang="en" kern="0">
                <a:solidFill>
                  <a:srgbClr val="595959"/>
                </a:solidFill>
              </a:rPr>
              <a:pPr defTabSz="1219170">
                <a:buClr>
                  <a:srgbClr val="000000"/>
                </a:buClr>
              </a:pPr>
              <a:t>30</a:t>
            </a:fld>
            <a:endParaRPr lang="en" kern="0">
              <a:solidFill>
                <a:srgbClr val="595959"/>
              </a:solidFill>
            </a:endParaRPr>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207567" y="84867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defTabSz="1219170">
              <a:buClr>
                <a:srgbClr val="1A1A1A"/>
              </a:buClr>
            </a:pPr>
            <a:r>
              <a:rPr lang="en-US" sz="3467" kern="0" dirty="0">
                <a:solidFill>
                  <a:srgbClr val="1A1A1A"/>
                </a:solidFill>
              </a:rPr>
              <a:t>Polymorphism</a:t>
            </a:r>
          </a:p>
        </p:txBody>
      </p:sp>
      <p:pic>
        <p:nvPicPr>
          <p:cNvPr id="2" name="Picture 1">
            <a:extLst>
              <a:ext uri="{FF2B5EF4-FFF2-40B4-BE49-F238E27FC236}">
                <a16:creationId xmlns:a16="http://schemas.microsoft.com/office/drawing/2014/main" id="{45B06B89-55E3-48B3-B50A-0F5061A8C34C}"/>
              </a:ext>
            </a:extLst>
          </p:cNvPr>
          <p:cNvPicPr>
            <a:picLocks noChangeAspect="1"/>
          </p:cNvPicPr>
          <p:nvPr/>
        </p:nvPicPr>
        <p:blipFill rotWithShape="1">
          <a:blip r:embed="rId3"/>
          <a:srcRect b="82371"/>
          <a:stretch/>
        </p:blipFill>
        <p:spPr>
          <a:xfrm>
            <a:off x="675118" y="1799768"/>
            <a:ext cx="9316497" cy="947725"/>
          </a:xfrm>
          <a:prstGeom prst="rect">
            <a:avLst/>
          </a:prstGeom>
        </p:spPr>
      </p:pic>
    </p:spTree>
    <p:extLst>
      <p:ext uri="{BB962C8B-B14F-4D97-AF65-F5344CB8AC3E}">
        <p14:creationId xmlns:p14="http://schemas.microsoft.com/office/powerpoint/2010/main" val="3175956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4E0A10E3-5674-43E5-B401-B1FB22EE22A3}"/>
              </a:ext>
            </a:extLst>
          </p:cNvPr>
          <p:cNvSpPr>
            <a:spLocks noGrp="1" noChangeArrowheads="1"/>
          </p:cNvSpPr>
          <p:nvPr>
            <p:ph type="title"/>
          </p:nvPr>
        </p:nvSpPr>
        <p:spPr/>
        <p:txBody>
          <a:bodyPr/>
          <a:lstStyle/>
          <a:p>
            <a:r>
              <a:rPr lang="en-US" altLang="en-US"/>
              <a:t>Polymorphism (contd.)</a:t>
            </a:r>
          </a:p>
        </p:txBody>
      </p:sp>
      <p:sp>
        <p:nvSpPr>
          <p:cNvPr id="108547" name="Rectangle 3">
            <a:extLst>
              <a:ext uri="{FF2B5EF4-FFF2-40B4-BE49-F238E27FC236}">
                <a16:creationId xmlns:a16="http://schemas.microsoft.com/office/drawing/2014/main" id="{00229C05-BD41-4A32-B696-99609359D714}"/>
              </a:ext>
            </a:extLst>
          </p:cNvPr>
          <p:cNvSpPr>
            <a:spLocks noGrp="1" noChangeArrowheads="1"/>
          </p:cNvSpPr>
          <p:nvPr>
            <p:ph idx="1"/>
          </p:nvPr>
        </p:nvSpPr>
        <p:spPr/>
        <p:txBody>
          <a:bodyPr>
            <a:normAutofit/>
          </a:bodyPr>
          <a:lstStyle/>
          <a:p>
            <a:pPr lvl="2">
              <a:buFont typeface="Monotype Sorts" pitchFamily="2" charset="2"/>
              <a:buNone/>
            </a:pPr>
            <a:r>
              <a:rPr lang="en-US" altLang="en-US" sz="3600" dirty="0" err="1"/>
              <a:t>someanimal</a:t>
            </a:r>
            <a:r>
              <a:rPr lang="en-US" altLang="en-US" sz="3600" dirty="0"/>
              <a:t> = </a:t>
            </a:r>
            <a:r>
              <a:rPr lang="en-US" altLang="en-US" sz="3600" dirty="0" err="1"/>
              <a:t>somecat</a:t>
            </a:r>
            <a:r>
              <a:rPr lang="en-US" altLang="en-US" sz="3600" dirty="0"/>
              <a:t>;</a:t>
            </a:r>
          </a:p>
          <a:p>
            <a:pPr lvl="2">
              <a:buFont typeface="Monotype Sorts" pitchFamily="2" charset="2"/>
              <a:buNone/>
            </a:pPr>
            <a:r>
              <a:rPr lang="en-US" altLang="en-US" sz="3600" dirty="0" err="1"/>
              <a:t>someanimal.display</a:t>
            </a:r>
            <a:r>
              <a:rPr lang="en-US" altLang="en-US" sz="3600" dirty="0"/>
              <a:t>();</a:t>
            </a:r>
          </a:p>
          <a:p>
            <a:pPr lvl="2">
              <a:buFont typeface="Monotype Sorts" pitchFamily="2" charset="2"/>
              <a:buNone/>
            </a:pPr>
            <a:r>
              <a:rPr lang="en-US" altLang="en-US" sz="3600" dirty="0" err="1"/>
              <a:t>someanimal</a:t>
            </a:r>
            <a:r>
              <a:rPr lang="en-US" altLang="en-US" sz="3600" dirty="0"/>
              <a:t> = </a:t>
            </a:r>
            <a:r>
              <a:rPr lang="en-US" altLang="en-US" sz="3600" dirty="0" err="1"/>
              <a:t>somebird</a:t>
            </a:r>
            <a:r>
              <a:rPr lang="en-US" altLang="en-US" sz="3600" dirty="0"/>
              <a:t>;</a:t>
            </a:r>
          </a:p>
          <a:p>
            <a:pPr lvl="2">
              <a:buFont typeface="Monotype Sorts" pitchFamily="2" charset="2"/>
              <a:buNone/>
            </a:pPr>
            <a:r>
              <a:rPr lang="en-US" altLang="en-US" sz="3600" dirty="0" err="1"/>
              <a:t>someanimal.display</a:t>
            </a:r>
            <a:r>
              <a:rPr lang="en-US" altLang="en-US" sz="3600" dirty="0"/>
              <a:t>();</a:t>
            </a:r>
          </a:p>
          <a:p>
            <a:pPr lvl="3"/>
            <a:endParaRPr lang="en-US" altLang="en-US" sz="3600" dirty="0"/>
          </a:p>
          <a:p>
            <a:pPr lvl="3"/>
            <a:r>
              <a:rPr lang="en-US" altLang="en-US" sz="3600" dirty="0"/>
              <a:t>display is a method of Animal, Cat and Bird</a:t>
            </a:r>
          </a:p>
        </p:txBody>
      </p:sp>
      <p:sp>
        <p:nvSpPr>
          <p:cNvPr id="108548" name="Text Box 4">
            <a:extLst>
              <a:ext uri="{FF2B5EF4-FFF2-40B4-BE49-F238E27FC236}">
                <a16:creationId xmlns:a16="http://schemas.microsoft.com/office/drawing/2014/main" id="{A0709EF6-9AF9-4106-A820-7B719BD7A1C8}"/>
              </a:ext>
            </a:extLst>
          </p:cNvPr>
          <p:cNvSpPr txBox="1">
            <a:spLocks noChangeArrowheads="1"/>
          </p:cNvSpPr>
          <p:nvPr/>
        </p:nvSpPr>
        <p:spPr bwMode="auto">
          <a:xfrm>
            <a:off x="7611979" y="2386263"/>
            <a:ext cx="271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400" dirty="0">
                <a:solidFill>
                  <a:srgbClr val="000000"/>
                </a:solidFill>
                <a:latin typeface="Times New Roman" panose="02020603050405020304" pitchFamily="18" charset="0"/>
              </a:rPr>
              <a:t>calls display() in Cat</a:t>
            </a:r>
          </a:p>
        </p:txBody>
      </p:sp>
      <p:sp>
        <p:nvSpPr>
          <p:cNvPr id="108549" name="Text Box 5">
            <a:extLst>
              <a:ext uri="{FF2B5EF4-FFF2-40B4-BE49-F238E27FC236}">
                <a16:creationId xmlns:a16="http://schemas.microsoft.com/office/drawing/2014/main" id="{A941590A-37F2-4367-B426-5EDF9EF39DA6}"/>
              </a:ext>
            </a:extLst>
          </p:cNvPr>
          <p:cNvSpPr txBox="1">
            <a:spLocks noChangeArrowheads="1"/>
          </p:cNvSpPr>
          <p:nvPr/>
        </p:nvSpPr>
        <p:spPr bwMode="auto">
          <a:xfrm>
            <a:off x="7552447" y="3357813"/>
            <a:ext cx="2830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400" dirty="0">
                <a:solidFill>
                  <a:srgbClr val="000000"/>
                </a:solidFill>
                <a:latin typeface="Times New Roman" panose="02020603050405020304" pitchFamily="18" charset="0"/>
              </a:rPr>
              <a:t>calls display() in Bird</a:t>
            </a:r>
          </a:p>
        </p:txBody>
      </p:sp>
      <p:sp>
        <p:nvSpPr>
          <p:cNvPr id="108550" name="Line 6">
            <a:extLst>
              <a:ext uri="{FF2B5EF4-FFF2-40B4-BE49-F238E27FC236}">
                <a16:creationId xmlns:a16="http://schemas.microsoft.com/office/drawing/2014/main" id="{763CE1E8-EED5-4CFC-BCA2-8ADE1E86370B}"/>
              </a:ext>
            </a:extLst>
          </p:cNvPr>
          <p:cNvSpPr>
            <a:spLocks noChangeShapeType="1"/>
          </p:cNvSpPr>
          <p:nvPr/>
        </p:nvSpPr>
        <p:spPr bwMode="auto">
          <a:xfrm flipH="1" flipV="1">
            <a:off x="6095997" y="2560320"/>
            <a:ext cx="1347538" cy="545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108551" name="Line 7">
            <a:extLst>
              <a:ext uri="{FF2B5EF4-FFF2-40B4-BE49-F238E27FC236}">
                <a16:creationId xmlns:a16="http://schemas.microsoft.com/office/drawing/2014/main" id="{BA6B57E9-088C-4A32-A491-B2C09EF2FACB}"/>
              </a:ext>
            </a:extLst>
          </p:cNvPr>
          <p:cNvSpPr>
            <a:spLocks noChangeShapeType="1"/>
          </p:cNvSpPr>
          <p:nvPr/>
        </p:nvSpPr>
        <p:spPr bwMode="auto">
          <a:xfrm flipH="1">
            <a:off x="6096000" y="3577390"/>
            <a:ext cx="1347536" cy="3088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5121D465-B59D-4614-B105-3922B414AF74}"/>
              </a:ext>
            </a:extLst>
          </p:cNvPr>
          <p:cNvSpPr>
            <a:spLocks noGrp="1" noChangeArrowheads="1"/>
          </p:cNvSpPr>
          <p:nvPr>
            <p:ph type="title"/>
          </p:nvPr>
        </p:nvSpPr>
        <p:spPr/>
        <p:txBody>
          <a:bodyPr>
            <a:normAutofit/>
          </a:bodyPr>
          <a:lstStyle/>
          <a:p>
            <a:r>
              <a:rPr lang="en-US" altLang="en-US" sz="3200" dirty="0"/>
              <a:t>Polymorphism (contd.)</a:t>
            </a:r>
          </a:p>
        </p:txBody>
      </p:sp>
      <p:sp>
        <p:nvSpPr>
          <p:cNvPr id="110595" name="Rectangle 3">
            <a:extLst>
              <a:ext uri="{FF2B5EF4-FFF2-40B4-BE49-F238E27FC236}">
                <a16:creationId xmlns:a16="http://schemas.microsoft.com/office/drawing/2014/main" id="{FCA78367-8996-423E-B230-91A8936E1376}"/>
              </a:ext>
            </a:extLst>
          </p:cNvPr>
          <p:cNvSpPr>
            <a:spLocks noGrp="1" noChangeArrowheads="1"/>
          </p:cNvSpPr>
          <p:nvPr>
            <p:ph idx="1"/>
          </p:nvPr>
        </p:nvSpPr>
        <p:spPr>
          <a:xfrm>
            <a:off x="332473" y="1356967"/>
            <a:ext cx="11360800" cy="4555200"/>
          </a:xfrm>
        </p:spPr>
        <p:txBody>
          <a:bodyPr>
            <a:normAutofit/>
          </a:bodyPr>
          <a:lstStyle/>
          <a:p>
            <a:pPr lvl="1"/>
            <a:r>
              <a:rPr lang="en-US" altLang="en-US" sz="2800" dirty="0"/>
              <a:t>big deal!?</a:t>
            </a:r>
          </a:p>
          <a:p>
            <a:pPr lvl="2">
              <a:buFont typeface="Monotype Sorts" pitchFamily="2" charset="2"/>
              <a:buNone/>
            </a:pPr>
            <a:r>
              <a:rPr lang="en-US" altLang="en-US" sz="2400" dirty="0"/>
              <a:t>Animal </a:t>
            </a:r>
            <a:r>
              <a:rPr lang="en-US" altLang="en-US" sz="2400" dirty="0" err="1"/>
              <a:t>someanimal</a:t>
            </a:r>
            <a:r>
              <a:rPr lang="en-US" altLang="en-US" sz="2400" dirty="0"/>
              <a:t>[0] = new Cat(“Siamese”, 15, “Grey”, “Raju”, “White”);</a:t>
            </a:r>
          </a:p>
          <a:p>
            <a:pPr lvl="2">
              <a:buFont typeface="Monotype Sorts" pitchFamily="2" charset="2"/>
              <a:buNone/>
            </a:pPr>
            <a:r>
              <a:rPr lang="en-US" altLang="en-US" sz="2400" dirty="0"/>
              <a:t>Animal </a:t>
            </a:r>
            <a:r>
              <a:rPr lang="en-US" altLang="en-US" sz="2400" dirty="0" err="1"/>
              <a:t>someanimal</a:t>
            </a:r>
            <a:r>
              <a:rPr lang="en-US" altLang="en-US" sz="2400" dirty="0"/>
              <a:t>[1] = new Bird(“Eagle”, 100, “White”, 15.5, 70.76);</a:t>
            </a:r>
          </a:p>
          <a:p>
            <a:pPr lvl="2">
              <a:buFont typeface="Monotype Sorts" pitchFamily="2" charset="2"/>
              <a:buNone/>
            </a:pPr>
            <a:r>
              <a:rPr lang="en-US" altLang="en-US" sz="2400" dirty="0"/>
              <a:t>…..</a:t>
            </a:r>
          </a:p>
          <a:p>
            <a:pPr lvl="2">
              <a:buFont typeface="Monotype Sorts" pitchFamily="2" charset="2"/>
              <a:buNone/>
            </a:pPr>
            <a:r>
              <a:rPr lang="en-US" altLang="en-US" sz="2400" dirty="0"/>
              <a:t>for (int j =0; j&lt;200; </a:t>
            </a:r>
            <a:r>
              <a:rPr lang="en-US" altLang="en-US" sz="2400" dirty="0" err="1"/>
              <a:t>j++</a:t>
            </a:r>
            <a:r>
              <a:rPr lang="en-US" altLang="en-US" sz="2400" dirty="0"/>
              <a:t>)</a:t>
            </a:r>
          </a:p>
          <a:p>
            <a:pPr lvl="3">
              <a:buFontTx/>
              <a:buNone/>
            </a:pPr>
            <a:r>
              <a:rPr lang="en-US" altLang="en-US" sz="2400" dirty="0" err="1"/>
              <a:t>someanimal</a:t>
            </a:r>
            <a:r>
              <a:rPr lang="en-US" altLang="en-US" sz="2400" dirty="0"/>
              <a:t>[j].display();</a:t>
            </a:r>
          </a:p>
          <a:p>
            <a:pPr lvl="3">
              <a:buFontTx/>
              <a:buNone/>
            </a:pPr>
            <a:r>
              <a:rPr lang="en-US" altLang="en-US" sz="2400" dirty="0"/>
              <a:t>// I don’t have to worry if it is a Cat or a Bird</a:t>
            </a:r>
          </a:p>
        </p:txBody>
      </p:sp>
      <p:sp>
        <p:nvSpPr>
          <p:cNvPr id="2" name="مستطيل 1">
            <a:extLst>
              <a:ext uri="{FF2B5EF4-FFF2-40B4-BE49-F238E27FC236}">
                <a16:creationId xmlns:a16="http://schemas.microsoft.com/office/drawing/2014/main" id="{71DC5BAE-29B1-CA1D-CB2C-E6332DA72A75}"/>
              </a:ext>
            </a:extLst>
          </p:cNvPr>
          <p:cNvSpPr/>
          <p:nvPr/>
        </p:nvSpPr>
        <p:spPr>
          <a:xfrm>
            <a:off x="221674" y="4703689"/>
            <a:ext cx="11877962" cy="19720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ar-SA" sz="2400" dirty="0" err="1"/>
              <a:t>Java</a:t>
            </a:r>
            <a:r>
              <a:rPr lang="ar-SA" sz="2400" dirty="0"/>
              <a:t> </a:t>
            </a:r>
            <a:r>
              <a:rPr lang="ar-SA" sz="2400" dirty="0" err="1"/>
              <a:t>looks</a:t>
            </a:r>
            <a:r>
              <a:rPr lang="ar-SA" sz="2400" dirty="0"/>
              <a:t> </a:t>
            </a:r>
            <a:r>
              <a:rPr lang="ar-SA" sz="2400" dirty="0" err="1"/>
              <a:t>at</a:t>
            </a:r>
            <a:r>
              <a:rPr lang="ar-SA" sz="2400" dirty="0"/>
              <a:t> </a:t>
            </a:r>
            <a:r>
              <a:rPr lang="ar-SA" sz="2400" dirty="0" err="1"/>
              <a:t>the</a:t>
            </a:r>
            <a:r>
              <a:rPr lang="ar-SA" sz="2400" dirty="0"/>
              <a:t> </a:t>
            </a:r>
            <a:r>
              <a:rPr lang="ar-SA" sz="2400" b="1" dirty="0" err="1"/>
              <a:t>actual</a:t>
            </a:r>
            <a:r>
              <a:rPr lang="ar-SA" sz="2400" b="1" dirty="0"/>
              <a:t> </a:t>
            </a:r>
            <a:r>
              <a:rPr lang="ar-SA" sz="2400" b="1" dirty="0" err="1"/>
              <a:t>object</a:t>
            </a:r>
            <a:r>
              <a:rPr lang="ar-SA" sz="2400" dirty="0"/>
              <a:t> </a:t>
            </a:r>
            <a:r>
              <a:rPr lang="ar-SA" sz="2400" dirty="0" err="1"/>
              <a:t>when</a:t>
            </a:r>
            <a:r>
              <a:rPr lang="ar-SA" sz="2400" dirty="0"/>
              <a:t> </a:t>
            </a:r>
            <a:r>
              <a:rPr lang="ar-SA" sz="2400" dirty="0" err="1"/>
              <a:t>calling</a:t>
            </a:r>
            <a:r>
              <a:rPr lang="ar-SA" sz="2400" dirty="0"/>
              <a:t> </a:t>
            </a:r>
            <a:r>
              <a:rPr lang="ar-SA" sz="2400" dirty="0" err="1"/>
              <a:t>an</a:t>
            </a:r>
            <a:r>
              <a:rPr lang="ar-SA" sz="2400" dirty="0"/>
              <a:t> </a:t>
            </a:r>
            <a:r>
              <a:rPr lang="ar-SA" sz="2400" dirty="0" err="1"/>
              <a:t>overridden</a:t>
            </a:r>
            <a:r>
              <a:rPr lang="ar-SA" sz="2400" dirty="0"/>
              <a:t> </a:t>
            </a:r>
            <a:r>
              <a:rPr lang="ar-SA" sz="2400" dirty="0" err="1"/>
              <a:t>instance</a:t>
            </a:r>
            <a:r>
              <a:rPr lang="ar-SA" sz="2400" dirty="0"/>
              <a:t> </a:t>
            </a:r>
            <a:r>
              <a:rPr lang="ar-SA" sz="2400" dirty="0" err="1"/>
              <a:t>method</a:t>
            </a:r>
            <a:r>
              <a:rPr lang="ar-SA" sz="2400" dirty="0"/>
              <a:t>.</a:t>
            </a:r>
          </a:p>
          <a:p>
            <a:r>
              <a:rPr lang="ar-SA" sz="2400" dirty="0" err="1"/>
              <a:t>So</a:t>
            </a:r>
            <a:r>
              <a:rPr lang="ar-SA" sz="2400" dirty="0"/>
              <a:t> </a:t>
            </a:r>
            <a:r>
              <a:rPr lang="ar-SA" sz="2400" dirty="0" err="1"/>
              <a:t>the</a:t>
            </a:r>
            <a:r>
              <a:rPr lang="ar-SA" sz="2400" dirty="0"/>
              <a:t> </a:t>
            </a:r>
            <a:r>
              <a:rPr lang="ar-SA" sz="2400" dirty="0" err="1"/>
              <a:t>rule</a:t>
            </a:r>
            <a:r>
              <a:rPr lang="ar-SA" sz="2400" dirty="0"/>
              <a:t> </a:t>
            </a:r>
            <a:r>
              <a:rPr lang="ar-SA" sz="2400" dirty="0" err="1"/>
              <a:t>is</a:t>
            </a:r>
            <a:r>
              <a:rPr lang="ar-SA" sz="2400" dirty="0"/>
              <a:t>:</a:t>
            </a:r>
          </a:p>
          <a:p>
            <a:r>
              <a:rPr lang="ar-SA" sz="2400" b="1" dirty="0" err="1"/>
              <a:t>Reference</a:t>
            </a:r>
            <a:r>
              <a:rPr lang="ar-SA" sz="2400" b="1" dirty="0"/>
              <a:t> </a:t>
            </a:r>
            <a:r>
              <a:rPr lang="ar-SA" sz="2400" b="1" dirty="0" err="1"/>
              <a:t>type</a:t>
            </a:r>
            <a:r>
              <a:rPr lang="ar-SA" sz="2400" b="1" dirty="0"/>
              <a:t> </a:t>
            </a:r>
            <a:r>
              <a:rPr lang="ar-SA" sz="2400" b="1" dirty="0" err="1"/>
              <a:t>determines</a:t>
            </a:r>
            <a:r>
              <a:rPr lang="ar-SA" sz="2400" b="1" dirty="0"/>
              <a:t> </a:t>
            </a:r>
            <a:r>
              <a:rPr lang="ar-SA" sz="2400" b="1" dirty="0" err="1"/>
              <a:t>which</a:t>
            </a:r>
            <a:r>
              <a:rPr lang="ar-SA" sz="2400" b="1" dirty="0"/>
              <a:t> </a:t>
            </a:r>
            <a:r>
              <a:rPr lang="ar-SA" sz="2400" b="1" dirty="0" err="1"/>
              <a:t>methods</a:t>
            </a:r>
            <a:r>
              <a:rPr lang="ar-SA" sz="2400" b="1" dirty="0"/>
              <a:t> </a:t>
            </a:r>
            <a:r>
              <a:rPr lang="ar-SA" sz="2400" b="1" dirty="0" err="1"/>
              <a:t>the</a:t>
            </a:r>
            <a:r>
              <a:rPr lang="ar-SA" sz="2400" b="1" dirty="0"/>
              <a:t> </a:t>
            </a:r>
            <a:r>
              <a:rPr lang="ar-SA" sz="2400" b="1" dirty="0" err="1"/>
              <a:t>compiler</a:t>
            </a:r>
            <a:r>
              <a:rPr lang="ar-SA" sz="2400" b="1" dirty="0"/>
              <a:t> </a:t>
            </a:r>
            <a:r>
              <a:rPr lang="ar-SA" sz="2400" b="1" dirty="0" err="1"/>
              <a:t>allows</a:t>
            </a:r>
            <a:r>
              <a:rPr lang="ar-SA" sz="2400" b="1" dirty="0"/>
              <a:t> </a:t>
            </a:r>
            <a:r>
              <a:rPr lang="ar-SA" sz="2400" b="1" dirty="0" err="1"/>
              <a:t>you</a:t>
            </a:r>
            <a:r>
              <a:rPr lang="ar-SA" sz="2400" b="1" dirty="0"/>
              <a:t> </a:t>
            </a:r>
            <a:r>
              <a:rPr lang="ar-SA" sz="2400" b="1" dirty="0" err="1"/>
              <a:t>to</a:t>
            </a:r>
            <a:r>
              <a:rPr lang="ar-SA" sz="2400" b="1" dirty="0"/>
              <a:t> </a:t>
            </a:r>
            <a:r>
              <a:rPr lang="ar-SA" sz="2400" b="1" dirty="0" err="1"/>
              <a:t>call</a:t>
            </a:r>
            <a:r>
              <a:rPr lang="ar-SA" sz="2400" b="1" dirty="0"/>
              <a:t>; </a:t>
            </a:r>
            <a:r>
              <a:rPr lang="ar-SA" sz="2400" b="1" dirty="0" err="1"/>
              <a:t>actual</a:t>
            </a:r>
            <a:r>
              <a:rPr lang="ar-SA" sz="2400" b="1" dirty="0"/>
              <a:t> </a:t>
            </a:r>
            <a:r>
              <a:rPr lang="ar-SA" sz="2400" b="1" dirty="0" err="1"/>
              <a:t>object</a:t>
            </a:r>
            <a:r>
              <a:rPr lang="ar-SA" sz="2400" b="1" dirty="0"/>
              <a:t> </a:t>
            </a:r>
            <a:r>
              <a:rPr lang="ar-SA" sz="2400" b="1" dirty="0" err="1"/>
              <a:t>type</a:t>
            </a:r>
            <a:r>
              <a:rPr lang="ar-SA" sz="2400" b="1" dirty="0"/>
              <a:t> </a:t>
            </a:r>
            <a:r>
              <a:rPr lang="ar-SA" sz="2400" b="1" dirty="0" err="1"/>
              <a:t>determines</a:t>
            </a:r>
            <a:r>
              <a:rPr lang="ar-SA" sz="2400" b="1" dirty="0"/>
              <a:t> </a:t>
            </a:r>
            <a:r>
              <a:rPr lang="ar-SA" sz="2400" b="1" dirty="0" err="1"/>
              <a:t>which</a:t>
            </a:r>
            <a:r>
              <a:rPr lang="ar-SA" sz="2400" b="1" dirty="0"/>
              <a:t> </a:t>
            </a:r>
            <a:r>
              <a:rPr lang="ar-SA" sz="2400" b="1" dirty="0" err="1"/>
              <a:t>overridden</a:t>
            </a:r>
            <a:r>
              <a:rPr lang="ar-SA" sz="2400" b="1" dirty="0"/>
              <a:t> </a:t>
            </a:r>
            <a:r>
              <a:rPr lang="ar-SA" sz="2400" b="1" dirty="0" err="1"/>
              <a:t>method</a:t>
            </a:r>
            <a:r>
              <a:rPr lang="ar-SA" sz="2400" b="1" dirty="0"/>
              <a:t> </a:t>
            </a:r>
            <a:r>
              <a:rPr lang="ar-SA" sz="2400" b="1" dirty="0" err="1"/>
              <a:t>is</a:t>
            </a:r>
            <a:r>
              <a:rPr lang="ar-SA" sz="2400" b="1" dirty="0"/>
              <a:t> </a:t>
            </a:r>
            <a:r>
              <a:rPr lang="ar-SA" sz="2400" b="1" dirty="0" err="1"/>
              <a:t>executed</a:t>
            </a:r>
            <a:r>
              <a:rPr lang="ar-SA" sz="2400" b="1" dirty="0"/>
              <a:t> </a:t>
            </a:r>
            <a:r>
              <a:rPr lang="ar-SA" sz="2400" b="1" dirty="0" err="1"/>
              <a:t>at</a:t>
            </a:r>
            <a:r>
              <a:rPr lang="ar-SA" sz="2400" b="1" dirty="0"/>
              <a:t> </a:t>
            </a:r>
            <a:r>
              <a:rPr lang="ar-SA" sz="2400" b="1" dirty="0" err="1"/>
              <a:t>runtime</a:t>
            </a:r>
            <a:r>
              <a:rPr lang="ar-SA" sz="2400" b="1" dirty="0"/>
              <a:t>.</a:t>
            </a:r>
            <a:endParaRPr lang="ar-SA"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74A7524C-66AE-40DA-82E2-2D5C7008D392}"/>
              </a:ext>
            </a:extLst>
          </p:cNvPr>
          <p:cNvSpPr>
            <a:spLocks noGrp="1" noChangeArrowheads="1"/>
          </p:cNvSpPr>
          <p:nvPr>
            <p:ph type="title"/>
          </p:nvPr>
        </p:nvSpPr>
        <p:spPr/>
        <p:txBody>
          <a:bodyPr>
            <a:normAutofit/>
          </a:bodyPr>
          <a:lstStyle/>
          <a:p>
            <a:r>
              <a:rPr lang="en-US" altLang="en-US" sz="3200" dirty="0"/>
              <a:t>Casting</a:t>
            </a:r>
          </a:p>
        </p:txBody>
      </p:sp>
      <p:sp>
        <p:nvSpPr>
          <p:cNvPr id="118787" name="Rectangle 3">
            <a:extLst>
              <a:ext uri="{FF2B5EF4-FFF2-40B4-BE49-F238E27FC236}">
                <a16:creationId xmlns:a16="http://schemas.microsoft.com/office/drawing/2014/main" id="{858AAC99-F36E-4CC2-8F29-F989A26981F0}"/>
              </a:ext>
            </a:extLst>
          </p:cNvPr>
          <p:cNvSpPr>
            <a:spLocks noGrp="1" noChangeArrowheads="1"/>
          </p:cNvSpPr>
          <p:nvPr>
            <p:ph idx="1"/>
          </p:nvPr>
        </p:nvSpPr>
        <p:spPr/>
        <p:txBody>
          <a:bodyPr>
            <a:noAutofit/>
          </a:bodyPr>
          <a:lstStyle/>
          <a:p>
            <a:r>
              <a:rPr lang="en-US" altLang="en-US" sz="3200" b="1" i="1" u="sng" dirty="0"/>
              <a:t>Casting Upwards</a:t>
            </a:r>
          </a:p>
          <a:p>
            <a:pPr lvl="1"/>
            <a:r>
              <a:rPr lang="en-US" altLang="en-US" sz="2800" dirty="0"/>
              <a:t>Objects once created always know their type (class)</a:t>
            </a:r>
          </a:p>
          <a:p>
            <a:pPr lvl="1"/>
            <a:r>
              <a:rPr lang="en-US" altLang="en-US" sz="2800" dirty="0"/>
              <a:t>You can assign objects of a subclass to a superclass object without using the cast operator (implicit casting)</a:t>
            </a:r>
          </a:p>
          <a:p>
            <a:pPr lvl="2">
              <a:buFont typeface="Monotype Sorts" pitchFamily="2" charset="2"/>
              <a:buNone/>
            </a:pPr>
            <a:r>
              <a:rPr lang="en-US" altLang="en-US" sz="2800" dirty="0" err="1"/>
              <a:t>someanimal</a:t>
            </a:r>
            <a:r>
              <a:rPr lang="en-US" altLang="en-US" sz="2800" dirty="0"/>
              <a:t> = </a:t>
            </a:r>
            <a:r>
              <a:rPr lang="en-US" altLang="en-US" sz="2800" dirty="0" err="1"/>
              <a:t>somecat</a:t>
            </a:r>
            <a:r>
              <a:rPr lang="en-US" altLang="en-US" sz="2800" dirty="0"/>
              <a:t>;</a:t>
            </a:r>
          </a:p>
          <a:p>
            <a:pPr lvl="1"/>
            <a:r>
              <a:rPr lang="en-US" altLang="en-US" sz="2800" dirty="0"/>
              <a:t>The individual objects still know how to perform their behavior</a:t>
            </a:r>
          </a:p>
          <a:p>
            <a:pPr lvl="2">
              <a:buFont typeface="Monotype Sorts" pitchFamily="2" charset="2"/>
              <a:buNone/>
            </a:pPr>
            <a:r>
              <a:rPr lang="en-US" altLang="en-US" sz="2800" dirty="0" err="1"/>
              <a:t>someanimal.display</a:t>
            </a:r>
            <a:r>
              <a:rPr lang="en-US" altLang="en-US" sz="2800" dirty="0"/>
              <a:t>();</a:t>
            </a:r>
          </a:p>
        </p:txBody>
      </p:sp>
      <p:sp>
        <p:nvSpPr>
          <p:cNvPr id="2" name="مستطيل 1">
            <a:extLst>
              <a:ext uri="{FF2B5EF4-FFF2-40B4-BE49-F238E27FC236}">
                <a16:creationId xmlns:a16="http://schemas.microsoft.com/office/drawing/2014/main" id="{4871D75D-9884-AF8E-1BF0-BEB132B6AF9E}"/>
              </a:ext>
            </a:extLst>
          </p:cNvPr>
          <p:cNvSpPr/>
          <p:nvPr/>
        </p:nvSpPr>
        <p:spPr>
          <a:xfrm>
            <a:off x="2494789" y="5183653"/>
            <a:ext cx="3154680" cy="14274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b="1" dirty="0" err="1"/>
              <a:t>downcasting</a:t>
            </a:r>
            <a:endParaRPr lang="en-US" b="1" dirty="0"/>
          </a:p>
          <a:p>
            <a:pPr algn="ctr"/>
            <a:r>
              <a:rPr lang="en-US" dirty="0"/>
              <a:t>Cat </a:t>
            </a:r>
            <a:r>
              <a:rPr lang="en-US" dirty="0" err="1"/>
              <a:t>cat</a:t>
            </a:r>
            <a:r>
              <a:rPr lang="en-US" dirty="0"/>
              <a:t> = new Cat();</a:t>
            </a:r>
          </a:p>
          <a:p>
            <a:pPr algn="ctr"/>
            <a:r>
              <a:rPr lang="en-US" dirty="0"/>
              <a:t>Animal </a:t>
            </a:r>
            <a:r>
              <a:rPr lang="en-US" dirty="0" err="1"/>
              <a:t>animal</a:t>
            </a:r>
            <a:r>
              <a:rPr lang="en-US" dirty="0"/>
              <a:t> = cat;</a:t>
            </a:r>
            <a:endParaRPr lang="ar-SA" dirty="0"/>
          </a:p>
        </p:txBody>
      </p:sp>
      <p:sp>
        <p:nvSpPr>
          <p:cNvPr id="3" name="شكل بيضاوي 2">
            <a:extLst>
              <a:ext uri="{FF2B5EF4-FFF2-40B4-BE49-F238E27FC236}">
                <a16:creationId xmlns:a16="http://schemas.microsoft.com/office/drawing/2014/main" id="{C1E3F79A-F461-4189-6F89-B2EFE22D35A0}"/>
              </a:ext>
            </a:extLst>
          </p:cNvPr>
          <p:cNvSpPr/>
          <p:nvPr/>
        </p:nvSpPr>
        <p:spPr>
          <a:xfrm>
            <a:off x="6291072" y="5307593"/>
            <a:ext cx="2496312" cy="11795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t>Animal</a:t>
            </a:r>
          </a:p>
          <a:p>
            <a:pPr algn="ctr"/>
            <a:r>
              <a:rPr lang="en-US"/>
              <a:t>   ↑</a:t>
            </a:r>
          </a:p>
          <a:p>
            <a:pPr algn="ctr"/>
            <a:r>
              <a:rPr lang="en-US"/>
              <a:t>  Cat</a:t>
            </a:r>
            <a:endParaRPr lang="ar-SA"/>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4398E1A2-B7C0-4F05-9FCD-90D904B76BAB}"/>
              </a:ext>
            </a:extLst>
          </p:cNvPr>
          <p:cNvSpPr>
            <a:spLocks noGrp="1" noChangeArrowheads="1"/>
          </p:cNvSpPr>
          <p:nvPr>
            <p:ph type="title"/>
          </p:nvPr>
        </p:nvSpPr>
        <p:spPr/>
        <p:txBody>
          <a:bodyPr>
            <a:normAutofit/>
          </a:bodyPr>
          <a:lstStyle/>
          <a:p>
            <a:r>
              <a:rPr lang="en-US" altLang="en-US" sz="3600" dirty="0"/>
              <a:t>Casting (contd.)</a:t>
            </a:r>
          </a:p>
        </p:txBody>
      </p:sp>
      <p:sp>
        <p:nvSpPr>
          <p:cNvPr id="119811" name="Rectangle 3">
            <a:extLst>
              <a:ext uri="{FF2B5EF4-FFF2-40B4-BE49-F238E27FC236}">
                <a16:creationId xmlns:a16="http://schemas.microsoft.com/office/drawing/2014/main" id="{4EE31C81-50AF-45A7-A066-A5DA4A06AAD6}"/>
              </a:ext>
            </a:extLst>
          </p:cNvPr>
          <p:cNvSpPr>
            <a:spLocks noGrp="1" noChangeArrowheads="1"/>
          </p:cNvSpPr>
          <p:nvPr>
            <p:ph idx="1"/>
          </p:nvPr>
        </p:nvSpPr>
        <p:spPr>
          <a:xfrm>
            <a:off x="415600" y="1536632"/>
            <a:ext cx="11360800" cy="4937319"/>
          </a:xfrm>
        </p:spPr>
        <p:txBody>
          <a:bodyPr>
            <a:normAutofit lnSpcReduction="10000"/>
          </a:bodyPr>
          <a:lstStyle/>
          <a:p>
            <a:r>
              <a:rPr lang="en-US" altLang="en-US" sz="2800" b="1" i="1" u="sng" dirty="0"/>
              <a:t>Casting Downwards</a:t>
            </a:r>
          </a:p>
          <a:p>
            <a:pPr lvl="1"/>
            <a:r>
              <a:rPr lang="en-US" altLang="en-US" sz="2800" dirty="0"/>
              <a:t>have to use </a:t>
            </a:r>
            <a:r>
              <a:rPr lang="en-US" altLang="en-US" sz="2800" dirty="0" err="1"/>
              <a:t>use</a:t>
            </a:r>
            <a:r>
              <a:rPr lang="en-US" altLang="en-US" sz="2800" dirty="0"/>
              <a:t> an explicit cast</a:t>
            </a:r>
          </a:p>
          <a:p>
            <a:pPr lvl="2">
              <a:buFont typeface="Monotype Sorts" pitchFamily="2" charset="2"/>
              <a:buNone/>
            </a:pPr>
            <a:r>
              <a:rPr lang="en-US" altLang="en-US" sz="2800" dirty="0"/>
              <a:t>Cat </a:t>
            </a:r>
            <a:r>
              <a:rPr lang="en-US" altLang="en-US" sz="2800" dirty="0" err="1"/>
              <a:t>somecat</a:t>
            </a:r>
            <a:r>
              <a:rPr lang="en-US" altLang="en-US" sz="2800" dirty="0"/>
              <a:t> = </a:t>
            </a:r>
            <a:r>
              <a:rPr lang="en-US" altLang="en-US" sz="2800" dirty="0" err="1"/>
              <a:t>someanimal</a:t>
            </a:r>
            <a:r>
              <a:rPr lang="en-US" altLang="en-US" sz="2800" dirty="0"/>
              <a:t>; //syntax error!!</a:t>
            </a:r>
          </a:p>
          <a:p>
            <a:pPr lvl="2">
              <a:buFont typeface="Monotype Sorts" pitchFamily="2" charset="2"/>
              <a:buNone/>
            </a:pPr>
            <a:endParaRPr lang="en-US" altLang="en-US" sz="2800" dirty="0"/>
          </a:p>
          <a:p>
            <a:pPr lvl="2">
              <a:buFont typeface="Monotype Sorts" pitchFamily="2" charset="2"/>
              <a:buNone/>
            </a:pPr>
            <a:endParaRPr lang="en-US" altLang="en-US" sz="2800" dirty="0"/>
          </a:p>
          <a:p>
            <a:pPr lvl="2">
              <a:buFont typeface="Monotype Sorts" pitchFamily="2" charset="2"/>
              <a:buNone/>
            </a:pPr>
            <a:endParaRPr lang="en-US" altLang="en-US" sz="2800" dirty="0"/>
          </a:p>
          <a:p>
            <a:pPr lvl="2">
              <a:buFont typeface="Monotype Sorts" pitchFamily="2" charset="2"/>
              <a:buNone/>
            </a:pPr>
            <a:endParaRPr lang="en-US" altLang="en-US" sz="2800" dirty="0"/>
          </a:p>
          <a:p>
            <a:pPr lvl="2">
              <a:buFont typeface="Monotype Sorts" pitchFamily="2" charset="2"/>
              <a:buNone/>
            </a:pPr>
            <a:r>
              <a:rPr lang="en-US" altLang="en-US" sz="2800" dirty="0"/>
              <a:t>Cat </a:t>
            </a:r>
            <a:r>
              <a:rPr lang="en-US" altLang="en-US" sz="2800" dirty="0" err="1"/>
              <a:t>somecat</a:t>
            </a:r>
            <a:r>
              <a:rPr lang="en-US" altLang="en-US" sz="2800" dirty="0"/>
              <a:t> = (Cat) </a:t>
            </a:r>
            <a:r>
              <a:rPr lang="en-US" altLang="en-US" sz="2800" dirty="0" err="1"/>
              <a:t>someanimal</a:t>
            </a:r>
            <a:r>
              <a:rPr lang="en-US" altLang="en-US" sz="2800" dirty="0"/>
              <a:t>;</a:t>
            </a:r>
          </a:p>
          <a:p>
            <a:pPr lvl="1"/>
            <a:r>
              <a:rPr lang="en-US" altLang="en-US" sz="2800" dirty="0"/>
              <a:t>The object itself is </a:t>
            </a:r>
            <a:r>
              <a:rPr lang="en-US" altLang="en-US" sz="2800" b="1" u="sng" dirty="0"/>
              <a:t>NOT</a:t>
            </a:r>
            <a:r>
              <a:rPr lang="en-US" altLang="en-US" sz="2800" dirty="0"/>
              <a:t> changed or converted.</a:t>
            </a:r>
          </a:p>
          <a:p>
            <a:pPr lvl="2">
              <a:buFont typeface="Wingdings" panose="05000000000000000000" pitchFamily="2" charset="2"/>
              <a:buChar char="§"/>
            </a:pPr>
            <a:r>
              <a:rPr lang="en-US" altLang="en-US" sz="2400" dirty="0"/>
              <a:t> Casting is telling the compiler to ignore the "type mismatch."</a:t>
            </a:r>
          </a:p>
          <a:p>
            <a:pPr marL="615950" lvl="1" indent="0">
              <a:buNone/>
            </a:pPr>
            <a:endParaRPr lang="en-US" altLang="en-US" sz="2800" dirty="0"/>
          </a:p>
          <a:p>
            <a:pPr marL="1073150" lvl="2" indent="0">
              <a:buNone/>
            </a:pPr>
            <a:endParaRPr lang="en-US" altLang="en-US" sz="2800" dirty="0"/>
          </a:p>
        </p:txBody>
      </p:sp>
      <p:sp>
        <p:nvSpPr>
          <p:cNvPr id="119812" name="Text Box 4">
            <a:extLst>
              <a:ext uri="{FF2B5EF4-FFF2-40B4-BE49-F238E27FC236}">
                <a16:creationId xmlns:a16="http://schemas.microsoft.com/office/drawing/2014/main" id="{6174AA4F-6C1F-4969-A3AA-B3D8E8E4B296}"/>
              </a:ext>
            </a:extLst>
          </p:cNvPr>
          <p:cNvSpPr txBox="1">
            <a:spLocks noChangeArrowheads="1"/>
          </p:cNvSpPr>
          <p:nvPr/>
        </p:nvSpPr>
        <p:spPr bwMode="auto">
          <a:xfrm>
            <a:off x="9562066" y="2206149"/>
            <a:ext cx="208582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dirty="0">
                <a:solidFill>
                  <a:srgbClr val="000000"/>
                </a:solidFill>
                <a:latin typeface="Times New Roman" panose="02020603050405020304" pitchFamily="18" charset="0"/>
              </a:rPr>
              <a:t>Can't assign </a:t>
            </a:r>
          </a:p>
          <a:p>
            <a:pPr eaLnBrk="0" fontAlgn="base" hangingPunct="0">
              <a:spcBef>
                <a:spcPct val="0"/>
              </a:spcBef>
              <a:spcAft>
                <a:spcPct val="0"/>
              </a:spcAft>
            </a:pPr>
            <a:r>
              <a:rPr lang="en-US" altLang="en-US" sz="2800" dirty="0">
                <a:solidFill>
                  <a:srgbClr val="000000"/>
                </a:solidFill>
                <a:latin typeface="Times New Roman" panose="02020603050405020304" pitchFamily="18" charset="0"/>
              </a:rPr>
              <a:t>a super class </a:t>
            </a:r>
          </a:p>
          <a:p>
            <a:pPr eaLnBrk="0" fontAlgn="base" hangingPunct="0">
              <a:spcBef>
                <a:spcPct val="0"/>
              </a:spcBef>
              <a:spcAft>
                <a:spcPct val="0"/>
              </a:spcAft>
            </a:pPr>
            <a:r>
              <a:rPr lang="en-US" altLang="en-US" sz="2800" dirty="0">
                <a:solidFill>
                  <a:srgbClr val="000000"/>
                </a:solidFill>
                <a:latin typeface="Times New Roman" panose="02020603050405020304" pitchFamily="18" charset="0"/>
              </a:rPr>
              <a:t>to a sub class</a:t>
            </a:r>
          </a:p>
        </p:txBody>
      </p:sp>
      <p:sp>
        <p:nvSpPr>
          <p:cNvPr id="119814" name="Line 6">
            <a:extLst>
              <a:ext uri="{FF2B5EF4-FFF2-40B4-BE49-F238E27FC236}">
                <a16:creationId xmlns:a16="http://schemas.microsoft.com/office/drawing/2014/main" id="{0662EFB0-35B7-4F74-9DF6-5257C6DD571B}"/>
              </a:ext>
            </a:extLst>
          </p:cNvPr>
          <p:cNvSpPr>
            <a:spLocks noChangeShapeType="1"/>
          </p:cNvSpPr>
          <p:nvPr/>
        </p:nvSpPr>
        <p:spPr bwMode="auto">
          <a:xfrm flipH="1" flipV="1">
            <a:off x="8476485" y="2787102"/>
            <a:ext cx="1085580" cy="115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2" name="مستطيل: زوايا مستديرة 1">
            <a:extLst>
              <a:ext uri="{FF2B5EF4-FFF2-40B4-BE49-F238E27FC236}">
                <a16:creationId xmlns:a16="http://schemas.microsoft.com/office/drawing/2014/main" id="{8D6A3416-E0AE-C93C-9A44-11D5B6ED110F}"/>
              </a:ext>
            </a:extLst>
          </p:cNvPr>
          <p:cNvSpPr/>
          <p:nvPr/>
        </p:nvSpPr>
        <p:spPr>
          <a:xfrm>
            <a:off x="2507979" y="3201957"/>
            <a:ext cx="5259803" cy="13849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sz="2400" dirty="0" err="1"/>
              <a:t>Can</a:t>
            </a:r>
            <a:r>
              <a:rPr lang="ar-SA" sz="2400" dirty="0"/>
              <a:t> I </a:t>
            </a:r>
            <a:r>
              <a:rPr lang="ar-SA" sz="2400" dirty="0" err="1"/>
              <a:t>guarantee</a:t>
            </a:r>
            <a:r>
              <a:rPr lang="ar-SA" sz="2400" dirty="0"/>
              <a:t> </a:t>
            </a:r>
            <a:r>
              <a:rPr lang="ar-SA" sz="2400" dirty="0" err="1"/>
              <a:t>that</a:t>
            </a:r>
            <a:r>
              <a:rPr lang="ar-SA" sz="2400" dirty="0"/>
              <a:t> </a:t>
            </a:r>
            <a:r>
              <a:rPr lang="ar-SA" sz="2400" dirty="0" err="1"/>
              <a:t>every</a:t>
            </a:r>
            <a:r>
              <a:rPr lang="ar-SA" sz="2400" dirty="0"/>
              <a:t> </a:t>
            </a:r>
            <a:r>
              <a:rPr lang="ar-SA" sz="2400" dirty="0" err="1"/>
              <a:t>Animal</a:t>
            </a:r>
            <a:r>
              <a:rPr lang="ar-SA" sz="2400" dirty="0"/>
              <a:t> </a:t>
            </a:r>
            <a:r>
              <a:rPr lang="ar-SA" sz="2400" dirty="0" err="1"/>
              <a:t>is</a:t>
            </a:r>
            <a:r>
              <a:rPr lang="ar-SA" sz="2400" dirty="0"/>
              <a:t> a </a:t>
            </a:r>
            <a:r>
              <a:rPr lang="ar-SA" sz="2400" dirty="0" err="1"/>
              <a:t>Cat</a:t>
            </a:r>
            <a:r>
              <a:rPr lang="ar-SA" sz="2400" dirty="0"/>
              <a:t>? ❌ NO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1530A-885C-D2F5-5101-ADA35D93E878}"/>
            </a:ext>
          </a:extLst>
        </p:cNvPr>
        <p:cNvGrpSpPr/>
        <p:nvPr/>
      </p:nvGrpSpPr>
      <p:grpSpPr>
        <a:xfrm>
          <a:off x="0" y="0"/>
          <a:ext cx="0" cy="0"/>
          <a:chOff x="0" y="0"/>
          <a:chExt cx="0" cy="0"/>
        </a:xfrm>
      </p:grpSpPr>
      <p:sp>
        <p:nvSpPr>
          <p:cNvPr id="119810" name="Rectangle 2">
            <a:extLst>
              <a:ext uri="{FF2B5EF4-FFF2-40B4-BE49-F238E27FC236}">
                <a16:creationId xmlns:a16="http://schemas.microsoft.com/office/drawing/2014/main" id="{0B413A94-8641-30A7-17FB-4B8219CD7A8D}"/>
              </a:ext>
            </a:extLst>
          </p:cNvPr>
          <p:cNvSpPr>
            <a:spLocks noGrp="1" noChangeArrowheads="1"/>
          </p:cNvSpPr>
          <p:nvPr>
            <p:ph type="title"/>
          </p:nvPr>
        </p:nvSpPr>
        <p:spPr/>
        <p:txBody>
          <a:bodyPr>
            <a:normAutofit/>
          </a:bodyPr>
          <a:lstStyle/>
          <a:p>
            <a:r>
              <a:rPr lang="en-US" altLang="en-US" sz="3600" dirty="0"/>
              <a:t>Casting (contd.)</a:t>
            </a:r>
          </a:p>
        </p:txBody>
      </p:sp>
      <p:sp>
        <p:nvSpPr>
          <p:cNvPr id="119811" name="Rectangle 3">
            <a:extLst>
              <a:ext uri="{FF2B5EF4-FFF2-40B4-BE49-F238E27FC236}">
                <a16:creationId xmlns:a16="http://schemas.microsoft.com/office/drawing/2014/main" id="{75AAEF04-E40A-9B9D-9624-4424D28CACCE}"/>
              </a:ext>
            </a:extLst>
          </p:cNvPr>
          <p:cNvSpPr>
            <a:spLocks noGrp="1" noChangeArrowheads="1"/>
          </p:cNvSpPr>
          <p:nvPr>
            <p:ph idx="1"/>
          </p:nvPr>
        </p:nvSpPr>
        <p:spPr>
          <a:xfrm>
            <a:off x="415600" y="1536632"/>
            <a:ext cx="11360800" cy="4937319"/>
          </a:xfrm>
        </p:spPr>
        <p:txBody>
          <a:bodyPr>
            <a:normAutofit/>
          </a:bodyPr>
          <a:lstStyle/>
          <a:p>
            <a:r>
              <a:rPr lang="en-US" altLang="en-US" sz="2800" b="1" i="1" u="sng" dirty="0"/>
              <a:t>Casting Downwards</a:t>
            </a:r>
          </a:p>
          <a:p>
            <a:pPr lvl="2">
              <a:buFont typeface="Monotype Sorts" pitchFamily="2" charset="2"/>
              <a:buNone/>
            </a:pPr>
            <a:endParaRPr lang="en-US" altLang="en-US" sz="2800" dirty="0"/>
          </a:p>
        </p:txBody>
      </p:sp>
      <p:sp>
        <p:nvSpPr>
          <p:cNvPr id="3" name="مستطيل: زوايا مستديرة 2">
            <a:extLst>
              <a:ext uri="{FF2B5EF4-FFF2-40B4-BE49-F238E27FC236}">
                <a16:creationId xmlns:a16="http://schemas.microsoft.com/office/drawing/2014/main" id="{7E61B5F9-DF41-EE5D-30DB-B6019D1E169D}"/>
              </a:ext>
            </a:extLst>
          </p:cNvPr>
          <p:cNvSpPr/>
          <p:nvPr/>
        </p:nvSpPr>
        <p:spPr>
          <a:xfrm>
            <a:off x="711164" y="2835045"/>
            <a:ext cx="4919472" cy="18745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lnSpc>
                <a:spcPct val="150000"/>
              </a:lnSpc>
            </a:pPr>
            <a:r>
              <a:rPr lang="en-US" sz="2400" dirty="0"/>
              <a:t>Animal </a:t>
            </a:r>
            <a:r>
              <a:rPr lang="en-US" sz="2400" dirty="0" err="1"/>
              <a:t>someanimal</a:t>
            </a:r>
            <a:r>
              <a:rPr lang="en-US" sz="2400" dirty="0"/>
              <a:t> = new Cat();</a:t>
            </a:r>
          </a:p>
          <a:p>
            <a:pPr algn="ctr">
              <a:lnSpc>
                <a:spcPct val="150000"/>
              </a:lnSpc>
            </a:pPr>
            <a:r>
              <a:rPr lang="en-US" sz="2400" dirty="0"/>
              <a:t>Cat </a:t>
            </a:r>
            <a:r>
              <a:rPr lang="en-US" sz="2400" dirty="0" err="1"/>
              <a:t>somecat</a:t>
            </a:r>
            <a:r>
              <a:rPr lang="en-US" sz="2400" dirty="0"/>
              <a:t> = (Cat) </a:t>
            </a:r>
            <a:r>
              <a:rPr lang="en-US" sz="2400" dirty="0" err="1"/>
              <a:t>someanimal</a:t>
            </a:r>
            <a:r>
              <a:rPr lang="en-US" sz="2400" dirty="0"/>
              <a:t>;</a:t>
            </a:r>
            <a:endParaRPr lang="ar-SA" sz="2400" dirty="0"/>
          </a:p>
        </p:txBody>
      </p:sp>
      <p:sp>
        <p:nvSpPr>
          <p:cNvPr id="4" name="شكل بيضاوي 3">
            <a:extLst>
              <a:ext uri="{FF2B5EF4-FFF2-40B4-BE49-F238E27FC236}">
                <a16:creationId xmlns:a16="http://schemas.microsoft.com/office/drawing/2014/main" id="{C37EDA58-A227-E46E-F878-D08E47BD6D3C}"/>
              </a:ext>
            </a:extLst>
          </p:cNvPr>
          <p:cNvSpPr/>
          <p:nvPr/>
        </p:nvSpPr>
        <p:spPr>
          <a:xfrm>
            <a:off x="6281928" y="2901862"/>
            <a:ext cx="4974336" cy="19810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dirty="0" err="1"/>
              <a:t>someanimal</a:t>
            </a:r>
            <a:r>
              <a:rPr lang="en-US" dirty="0"/>
              <a:t> ──► </a:t>
            </a:r>
            <a:r>
              <a:rPr lang="ar-SA" dirty="0"/>
              <a:t>🐱</a:t>
            </a:r>
          </a:p>
          <a:p>
            <a:r>
              <a:rPr lang="en-US" dirty="0" err="1"/>
              <a:t>somecat</a:t>
            </a:r>
            <a:r>
              <a:rPr lang="en-US" dirty="0"/>
              <a:t>       ──► </a:t>
            </a:r>
            <a:r>
              <a:rPr lang="ar-SA" dirty="0"/>
              <a:t>🐱</a:t>
            </a:r>
          </a:p>
          <a:p>
            <a:pPr algn="ctr"/>
            <a:r>
              <a:rPr lang="en-US" dirty="0"/>
              <a:t>                           </a:t>
            </a:r>
            <a:r>
              <a:rPr lang="ar-SA" dirty="0"/>
              <a:t>                ↑</a:t>
            </a:r>
          </a:p>
          <a:p>
            <a:pPr algn="ctr"/>
            <a:r>
              <a:rPr lang="ar-SA" dirty="0"/>
              <a:t>                   </a:t>
            </a:r>
            <a:r>
              <a:rPr lang="en-US" dirty="0"/>
              <a:t>SAME OBJECT</a:t>
            </a:r>
            <a:endParaRPr lang="ar-SA" dirty="0"/>
          </a:p>
        </p:txBody>
      </p:sp>
      <p:sp>
        <p:nvSpPr>
          <p:cNvPr id="5" name="مربع نص 4">
            <a:extLst>
              <a:ext uri="{FF2B5EF4-FFF2-40B4-BE49-F238E27FC236}">
                <a16:creationId xmlns:a16="http://schemas.microsoft.com/office/drawing/2014/main" id="{0E2BF03A-F711-1C85-5187-B9DD4102D568}"/>
              </a:ext>
            </a:extLst>
          </p:cNvPr>
          <p:cNvSpPr txBox="1"/>
          <p:nvPr/>
        </p:nvSpPr>
        <p:spPr>
          <a:xfrm>
            <a:off x="1133856" y="5358384"/>
            <a:ext cx="9924288" cy="830997"/>
          </a:xfrm>
          <a:prstGeom prst="rect">
            <a:avLst/>
          </a:prstGeom>
          <a:noFill/>
        </p:spPr>
        <p:txBody>
          <a:bodyPr wrap="square" rtlCol="1">
            <a:spAutoFit/>
          </a:bodyPr>
          <a:lstStyle/>
          <a:p>
            <a:pPr algn="just"/>
            <a:r>
              <a:rPr lang="ar-SA" sz="2400" dirty="0" err="1">
                <a:solidFill>
                  <a:schemeClr val="bg2"/>
                </a:solidFill>
              </a:rPr>
              <a:t>There</a:t>
            </a:r>
            <a:r>
              <a:rPr lang="ar-SA" sz="2400" dirty="0">
                <a:solidFill>
                  <a:schemeClr val="bg2"/>
                </a:solidFill>
              </a:rPr>
              <a:t> </a:t>
            </a:r>
            <a:r>
              <a:rPr lang="ar-SA" sz="2400" dirty="0" err="1">
                <a:solidFill>
                  <a:schemeClr val="bg2"/>
                </a:solidFill>
              </a:rPr>
              <a:t>is</a:t>
            </a:r>
            <a:r>
              <a:rPr lang="ar-SA" sz="2400" dirty="0">
                <a:solidFill>
                  <a:schemeClr val="bg2"/>
                </a:solidFill>
              </a:rPr>
              <a:t> </a:t>
            </a:r>
            <a:r>
              <a:rPr lang="ar-SA" sz="2400" dirty="0" err="1">
                <a:solidFill>
                  <a:schemeClr val="bg2"/>
                </a:solidFill>
              </a:rPr>
              <a:t>still</a:t>
            </a:r>
            <a:r>
              <a:rPr lang="ar-SA" sz="2400" dirty="0">
                <a:solidFill>
                  <a:schemeClr val="bg2"/>
                </a:solidFill>
              </a:rPr>
              <a:t> </a:t>
            </a:r>
            <a:r>
              <a:rPr lang="ar-SA" sz="2400" b="1" dirty="0" err="1">
                <a:solidFill>
                  <a:schemeClr val="bg2"/>
                </a:solidFill>
              </a:rPr>
              <a:t>one</a:t>
            </a:r>
            <a:r>
              <a:rPr lang="ar-SA" sz="2400" b="1" dirty="0">
                <a:solidFill>
                  <a:schemeClr val="bg2"/>
                </a:solidFill>
              </a:rPr>
              <a:t> </a:t>
            </a:r>
            <a:r>
              <a:rPr lang="ar-SA" sz="2400" b="1" dirty="0" err="1">
                <a:solidFill>
                  <a:schemeClr val="bg2"/>
                </a:solidFill>
              </a:rPr>
              <a:t>Cat</a:t>
            </a:r>
            <a:r>
              <a:rPr lang="ar-SA" sz="2400" b="1" dirty="0">
                <a:solidFill>
                  <a:schemeClr val="bg2"/>
                </a:solidFill>
              </a:rPr>
              <a:t> </a:t>
            </a:r>
            <a:r>
              <a:rPr lang="ar-SA" sz="2400" b="1" dirty="0" err="1">
                <a:solidFill>
                  <a:schemeClr val="bg2"/>
                </a:solidFill>
              </a:rPr>
              <a:t>object</a:t>
            </a:r>
            <a:r>
              <a:rPr lang="ar-SA" sz="2400" b="1" dirty="0">
                <a:solidFill>
                  <a:schemeClr val="bg2"/>
                </a:solidFill>
              </a:rPr>
              <a:t> </a:t>
            </a:r>
            <a:r>
              <a:rPr lang="ar-SA" sz="2400" b="1" dirty="0" err="1">
                <a:solidFill>
                  <a:schemeClr val="bg2"/>
                </a:solidFill>
              </a:rPr>
              <a:t>in</a:t>
            </a:r>
            <a:r>
              <a:rPr lang="ar-SA" sz="2400" b="1" dirty="0">
                <a:solidFill>
                  <a:schemeClr val="bg2"/>
                </a:solidFill>
              </a:rPr>
              <a:t> </a:t>
            </a:r>
            <a:r>
              <a:rPr lang="ar-SA" sz="2400" b="1" dirty="0" err="1">
                <a:solidFill>
                  <a:schemeClr val="bg2"/>
                </a:solidFill>
              </a:rPr>
              <a:t>memory</a:t>
            </a:r>
            <a:r>
              <a:rPr lang="ar-SA" sz="2400" dirty="0">
                <a:solidFill>
                  <a:schemeClr val="bg2"/>
                </a:solidFill>
              </a:rPr>
              <a:t>. </a:t>
            </a:r>
            <a:r>
              <a:rPr lang="ar-SA" sz="2400" dirty="0" err="1">
                <a:solidFill>
                  <a:schemeClr val="bg2"/>
                </a:solidFill>
              </a:rPr>
              <a:t>We</a:t>
            </a:r>
            <a:r>
              <a:rPr lang="ar-SA" sz="2400" dirty="0">
                <a:solidFill>
                  <a:schemeClr val="bg2"/>
                </a:solidFill>
              </a:rPr>
              <a:t> </a:t>
            </a:r>
            <a:r>
              <a:rPr lang="ar-SA" sz="2400" dirty="0" err="1">
                <a:solidFill>
                  <a:schemeClr val="bg2"/>
                </a:solidFill>
              </a:rPr>
              <a:t>simply</a:t>
            </a:r>
            <a:r>
              <a:rPr lang="ar-SA" sz="2400" dirty="0">
                <a:solidFill>
                  <a:schemeClr val="bg2"/>
                </a:solidFill>
              </a:rPr>
              <a:t> </a:t>
            </a:r>
            <a:r>
              <a:rPr lang="ar-SA" sz="2400" dirty="0" err="1">
                <a:solidFill>
                  <a:schemeClr val="bg2"/>
                </a:solidFill>
              </a:rPr>
              <a:t>have</a:t>
            </a:r>
            <a:r>
              <a:rPr lang="ar-SA" sz="2400" dirty="0">
                <a:solidFill>
                  <a:schemeClr val="bg2"/>
                </a:solidFill>
              </a:rPr>
              <a:t> </a:t>
            </a:r>
            <a:r>
              <a:rPr lang="ar-SA" sz="2400" b="1" dirty="0" err="1">
                <a:solidFill>
                  <a:schemeClr val="bg2"/>
                </a:solidFill>
              </a:rPr>
              <a:t>two</a:t>
            </a:r>
            <a:r>
              <a:rPr lang="ar-SA" sz="2400" b="1" dirty="0">
                <a:solidFill>
                  <a:schemeClr val="bg2"/>
                </a:solidFill>
              </a:rPr>
              <a:t> </a:t>
            </a:r>
            <a:r>
              <a:rPr lang="ar-SA" sz="2400" b="1" dirty="0" err="1">
                <a:solidFill>
                  <a:schemeClr val="bg2"/>
                </a:solidFill>
              </a:rPr>
              <a:t>references</a:t>
            </a:r>
            <a:r>
              <a:rPr lang="ar-SA" sz="2400" b="1" dirty="0">
                <a:solidFill>
                  <a:schemeClr val="bg2"/>
                </a:solidFill>
              </a:rPr>
              <a:t> </a:t>
            </a:r>
            <a:r>
              <a:rPr lang="ar-SA" sz="2400" b="1" dirty="0" err="1">
                <a:solidFill>
                  <a:schemeClr val="bg2"/>
                </a:solidFill>
              </a:rPr>
              <a:t>pointing</a:t>
            </a:r>
            <a:r>
              <a:rPr lang="ar-SA" sz="2400" b="1" dirty="0">
                <a:solidFill>
                  <a:schemeClr val="bg2"/>
                </a:solidFill>
              </a:rPr>
              <a:t> </a:t>
            </a:r>
            <a:r>
              <a:rPr lang="ar-SA" sz="2400" b="1" dirty="0" err="1">
                <a:solidFill>
                  <a:schemeClr val="bg2"/>
                </a:solidFill>
              </a:rPr>
              <a:t>to</a:t>
            </a:r>
            <a:r>
              <a:rPr lang="ar-SA" sz="2400" b="1" dirty="0">
                <a:solidFill>
                  <a:schemeClr val="bg2"/>
                </a:solidFill>
              </a:rPr>
              <a:t> </a:t>
            </a:r>
            <a:r>
              <a:rPr lang="ar-SA" sz="2400" b="1" dirty="0" err="1">
                <a:solidFill>
                  <a:schemeClr val="bg2"/>
                </a:solidFill>
              </a:rPr>
              <a:t>the</a:t>
            </a:r>
            <a:r>
              <a:rPr lang="ar-SA" sz="2400" b="1" dirty="0">
                <a:solidFill>
                  <a:schemeClr val="bg2"/>
                </a:solidFill>
              </a:rPr>
              <a:t> </a:t>
            </a:r>
            <a:r>
              <a:rPr lang="ar-SA" sz="2400" b="1" dirty="0" err="1">
                <a:solidFill>
                  <a:schemeClr val="bg2"/>
                </a:solidFill>
              </a:rPr>
              <a:t>same</a:t>
            </a:r>
            <a:r>
              <a:rPr lang="ar-SA" sz="2400" b="1" dirty="0">
                <a:solidFill>
                  <a:schemeClr val="bg2"/>
                </a:solidFill>
              </a:rPr>
              <a:t> </a:t>
            </a:r>
            <a:r>
              <a:rPr lang="ar-SA" sz="2400" b="1" dirty="0" err="1">
                <a:solidFill>
                  <a:schemeClr val="bg2"/>
                </a:solidFill>
              </a:rPr>
              <a:t>object</a:t>
            </a:r>
            <a:r>
              <a:rPr lang="ar-SA" sz="2400" dirty="0">
                <a:solidFill>
                  <a:schemeClr val="bg2"/>
                </a:solidFill>
              </a:rPr>
              <a:t>.</a:t>
            </a:r>
          </a:p>
        </p:txBody>
      </p:sp>
    </p:spTree>
    <p:extLst>
      <p:ext uri="{BB962C8B-B14F-4D97-AF65-F5344CB8AC3E}">
        <p14:creationId xmlns:p14="http://schemas.microsoft.com/office/powerpoint/2010/main" val="4160706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BE1A7-CBA0-4A1D-F292-B5FE0599FA0C}"/>
            </a:ext>
          </a:extLst>
        </p:cNvPr>
        <p:cNvGrpSpPr/>
        <p:nvPr/>
      </p:nvGrpSpPr>
      <p:grpSpPr>
        <a:xfrm>
          <a:off x="0" y="0"/>
          <a:ext cx="0" cy="0"/>
          <a:chOff x="0" y="0"/>
          <a:chExt cx="0" cy="0"/>
        </a:xfrm>
      </p:grpSpPr>
      <p:sp>
        <p:nvSpPr>
          <p:cNvPr id="119810" name="Rectangle 2">
            <a:extLst>
              <a:ext uri="{FF2B5EF4-FFF2-40B4-BE49-F238E27FC236}">
                <a16:creationId xmlns:a16="http://schemas.microsoft.com/office/drawing/2014/main" id="{C85F7F3D-31C0-90D4-2671-930DACAAEA07}"/>
              </a:ext>
            </a:extLst>
          </p:cNvPr>
          <p:cNvSpPr>
            <a:spLocks noGrp="1" noChangeArrowheads="1"/>
          </p:cNvSpPr>
          <p:nvPr>
            <p:ph type="title"/>
          </p:nvPr>
        </p:nvSpPr>
        <p:spPr/>
        <p:txBody>
          <a:bodyPr>
            <a:normAutofit/>
          </a:bodyPr>
          <a:lstStyle/>
          <a:p>
            <a:r>
              <a:rPr lang="en-US" altLang="en-US" sz="3600" dirty="0"/>
              <a:t>Casting (contd.)</a:t>
            </a:r>
          </a:p>
        </p:txBody>
      </p:sp>
      <p:sp>
        <p:nvSpPr>
          <p:cNvPr id="119811" name="Rectangle 3">
            <a:extLst>
              <a:ext uri="{FF2B5EF4-FFF2-40B4-BE49-F238E27FC236}">
                <a16:creationId xmlns:a16="http://schemas.microsoft.com/office/drawing/2014/main" id="{479712BC-28FF-67A6-8BE9-03D280B8AE64}"/>
              </a:ext>
            </a:extLst>
          </p:cNvPr>
          <p:cNvSpPr>
            <a:spLocks noGrp="1" noChangeArrowheads="1"/>
          </p:cNvSpPr>
          <p:nvPr>
            <p:ph idx="1"/>
          </p:nvPr>
        </p:nvSpPr>
        <p:spPr>
          <a:xfrm>
            <a:off x="415600" y="1536632"/>
            <a:ext cx="11360800" cy="4937319"/>
          </a:xfrm>
        </p:spPr>
        <p:txBody>
          <a:bodyPr>
            <a:normAutofit/>
          </a:bodyPr>
          <a:lstStyle/>
          <a:p>
            <a:r>
              <a:rPr lang="en-US" altLang="en-US" sz="2800" b="1" i="1" u="sng" dirty="0"/>
              <a:t>Casting Downwards</a:t>
            </a:r>
            <a:endParaRPr lang="ar-SA" altLang="en-US" sz="2800" b="1" i="1" u="sng" dirty="0"/>
          </a:p>
          <a:p>
            <a:pPr marL="146050" indent="0">
              <a:buNone/>
            </a:pPr>
            <a:r>
              <a:rPr lang="ar-SA" sz="2800" dirty="0" err="1">
                <a:solidFill>
                  <a:schemeClr val="bg2"/>
                </a:solidFill>
              </a:rPr>
              <a:t>Why</a:t>
            </a:r>
            <a:r>
              <a:rPr lang="ar-SA" sz="2800" dirty="0">
                <a:solidFill>
                  <a:schemeClr val="bg2"/>
                </a:solidFill>
              </a:rPr>
              <a:t> </a:t>
            </a:r>
            <a:r>
              <a:rPr lang="ar-SA" sz="2800" dirty="0" err="1">
                <a:solidFill>
                  <a:schemeClr val="bg2"/>
                </a:solidFill>
              </a:rPr>
              <a:t>can</a:t>
            </a:r>
            <a:r>
              <a:rPr lang="ar-SA" sz="2800" dirty="0">
                <a:solidFill>
                  <a:schemeClr val="bg2"/>
                </a:solidFill>
              </a:rPr>
              <a:t> </a:t>
            </a:r>
            <a:r>
              <a:rPr lang="ar-SA" sz="2800" dirty="0" err="1">
                <a:solidFill>
                  <a:schemeClr val="bg2"/>
                </a:solidFill>
              </a:rPr>
              <a:t>we</a:t>
            </a:r>
            <a:r>
              <a:rPr lang="ar-SA" sz="2800" dirty="0">
                <a:solidFill>
                  <a:schemeClr val="bg2"/>
                </a:solidFill>
              </a:rPr>
              <a:t> </a:t>
            </a:r>
            <a:r>
              <a:rPr lang="ar-SA" sz="2800" dirty="0" err="1">
                <a:solidFill>
                  <a:schemeClr val="bg2"/>
                </a:solidFill>
              </a:rPr>
              <a:t>get</a:t>
            </a:r>
            <a:r>
              <a:rPr lang="ar-SA" sz="2800" dirty="0">
                <a:solidFill>
                  <a:schemeClr val="bg2"/>
                </a:solidFill>
              </a:rPr>
              <a:t> a </a:t>
            </a:r>
            <a:r>
              <a:rPr lang="ar-SA" sz="2800" dirty="0" err="1">
                <a:solidFill>
                  <a:schemeClr val="bg2"/>
                </a:solidFill>
              </a:rPr>
              <a:t>runtime</a:t>
            </a:r>
            <a:r>
              <a:rPr lang="ar-SA" sz="2800" dirty="0">
                <a:solidFill>
                  <a:schemeClr val="bg2"/>
                </a:solidFill>
              </a:rPr>
              <a:t> </a:t>
            </a:r>
            <a:r>
              <a:rPr lang="ar-SA" sz="2800" dirty="0" err="1">
                <a:solidFill>
                  <a:schemeClr val="bg2"/>
                </a:solidFill>
              </a:rPr>
              <a:t>error</a:t>
            </a:r>
            <a:r>
              <a:rPr lang="ar-SA" sz="2800" dirty="0">
                <a:solidFill>
                  <a:schemeClr val="bg2"/>
                </a:solidFill>
              </a:rPr>
              <a:t>?</a:t>
            </a:r>
            <a:endParaRPr lang="en-US" altLang="en-US" sz="2800" dirty="0">
              <a:solidFill>
                <a:schemeClr val="bg2"/>
              </a:solidFill>
            </a:endParaRPr>
          </a:p>
        </p:txBody>
      </p:sp>
      <p:sp>
        <p:nvSpPr>
          <p:cNvPr id="3" name="مستطيل: زوايا مستديرة 2">
            <a:extLst>
              <a:ext uri="{FF2B5EF4-FFF2-40B4-BE49-F238E27FC236}">
                <a16:creationId xmlns:a16="http://schemas.microsoft.com/office/drawing/2014/main" id="{860C187E-5538-E870-9D7D-98B08F3D3B08}"/>
              </a:ext>
            </a:extLst>
          </p:cNvPr>
          <p:cNvSpPr/>
          <p:nvPr/>
        </p:nvSpPr>
        <p:spPr>
          <a:xfrm>
            <a:off x="500425" y="2779482"/>
            <a:ext cx="5253829" cy="12990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lnSpc>
                <a:spcPct val="150000"/>
              </a:lnSpc>
              <a:spcBef>
                <a:spcPts val="1200"/>
              </a:spcBef>
            </a:pPr>
            <a:r>
              <a:rPr lang="ar-SA" sz="2000" dirty="0" err="1"/>
              <a:t>Animal</a:t>
            </a:r>
            <a:r>
              <a:rPr lang="ar-SA" sz="2000" dirty="0"/>
              <a:t> </a:t>
            </a:r>
            <a:r>
              <a:rPr lang="ar-SA" sz="2000" dirty="0" err="1"/>
              <a:t>someanimal</a:t>
            </a:r>
            <a:r>
              <a:rPr lang="ar-SA" sz="2000" dirty="0"/>
              <a:t> = </a:t>
            </a:r>
            <a:r>
              <a:rPr lang="ar-SA" sz="2000" dirty="0" err="1"/>
              <a:t>new</a:t>
            </a:r>
            <a:r>
              <a:rPr lang="ar-SA" sz="2000" dirty="0"/>
              <a:t> </a:t>
            </a:r>
            <a:r>
              <a:rPr lang="ar-SA" sz="2000" dirty="0" err="1"/>
              <a:t>Animal</a:t>
            </a:r>
            <a:r>
              <a:rPr lang="ar-SA" sz="2000" dirty="0"/>
              <a:t>();          </a:t>
            </a:r>
            <a:r>
              <a:rPr lang="ar-SA" sz="2000" dirty="0" err="1"/>
              <a:t>Cat</a:t>
            </a:r>
            <a:r>
              <a:rPr lang="ar-SA" sz="2000" dirty="0"/>
              <a:t> </a:t>
            </a:r>
            <a:r>
              <a:rPr lang="ar-SA" sz="2000" dirty="0" err="1"/>
              <a:t>somecat</a:t>
            </a:r>
            <a:r>
              <a:rPr lang="ar-SA" sz="2000" dirty="0"/>
              <a:t> = (</a:t>
            </a:r>
            <a:r>
              <a:rPr lang="ar-SA" sz="2000" dirty="0" err="1"/>
              <a:t>Cat</a:t>
            </a:r>
            <a:r>
              <a:rPr lang="ar-SA" sz="2000" dirty="0"/>
              <a:t>) </a:t>
            </a:r>
            <a:r>
              <a:rPr lang="ar-SA" sz="2000" dirty="0" err="1"/>
              <a:t>someanimal</a:t>
            </a:r>
            <a:r>
              <a:rPr lang="ar-SA" sz="2000" dirty="0"/>
              <a:t>;</a:t>
            </a:r>
          </a:p>
        </p:txBody>
      </p:sp>
      <p:sp>
        <p:nvSpPr>
          <p:cNvPr id="2" name="مربع نص 1">
            <a:extLst>
              <a:ext uri="{FF2B5EF4-FFF2-40B4-BE49-F238E27FC236}">
                <a16:creationId xmlns:a16="http://schemas.microsoft.com/office/drawing/2014/main" id="{46A82D05-B07C-25C4-5B96-F21631F7E926}"/>
              </a:ext>
            </a:extLst>
          </p:cNvPr>
          <p:cNvSpPr txBox="1"/>
          <p:nvPr/>
        </p:nvSpPr>
        <p:spPr>
          <a:xfrm>
            <a:off x="500425" y="4258183"/>
            <a:ext cx="9410193" cy="2308324"/>
          </a:xfrm>
          <a:prstGeom prst="rect">
            <a:avLst/>
          </a:prstGeom>
          <a:noFill/>
        </p:spPr>
        <p:txBody>
          <a:bodyPr wrap="square" rtlCol="1">
            <a:spAutoFit/>
          </a:bodyPr>
          <a:lstStyle/>
          <a:p>
            <a:r>
              <a:rPr lang="ar-SA" sz="2400" dirty="0" err="1">
                <a:solidFill>
                  <a:schemeClr val="bg2"/>
                </a:solidFill>
              </a:rPr>
              <a:t>When</a:t>
            </a:r>
            <a:r>
              <a:rPr lang="ar-SA" sz="2400" dirty="0">
                <a:solidFill>
                  <a:schemeClr val="bg2"/>
                </a:solidFill>
              </a:rPr>
              <a:t> </a:t>
            </a:r>
            <a:r>
              <a:rPr lang="ar-SA" sz="2400" dirty="0" err="1">
                <a:solidFill>
                  <a:schemeClr val="bg2"/>
                </a:solidFill>
              </a:rPr>
              <a:t>Java</a:t>
            </a:r>
            <a:r>
              <a:rPr lang="ar-SA" sz="2400" dirty="0">
                <a:solidFill>
                  <a:schemeClr val="bg2"/>
                </a:solidFill>
              </a:rPr>
              <a:t> </a:t>
            </a:r>
            <a:r>
              <a:rPr lang="ar-SA" sz="2400" dirty="0" err="1">
                <a:solidFill>
                  <a:schemeClr val="bg2"/>
                </a:solidFill>
              </a:rPr>
              <a:t>executes</a:t>
            </a:r>
            <a:r>
              <a:rPr lang="ar-SA" sz="2400" dirty="0">
                <a:solidFill>
                  <a:schemeClr val="bg2"/>
                </a:solidFill>
              </a:rPr>
              <a:t>: </a:t>
            </a:r>
            <a:r>
              <a:rPr lang="en-US" sz="2400" dirty="0">
                <a:solidFill>
                  <a:schemeClr val="accent5"/>
                </a:solidFill>
              </a:rPr>
              <a:t>(Cat) </a:t>
            </a:r>
            <a:r>
              <a:rPr lang="en-US" sz="2400" dirty="0" err="1">
                <a:solidFill>
                  <a:schemeClr val="accent5"/>
                </a:solidFill>
              </a:rPr>
              <a:t>someanimal</a:t>
            </a:r>
            <a:endParaRPr lang="ar-SA" sz="2400" dirty="0">
              <a:solidFill>
                <a:schemeClr val="accent5"/>
              </a:solidFill>
            </a:endParaRPr>
          </a:p>
          <a:p>
            <a:r>
              <a:rPr lang="ar-SA" sz="2400" dirty="0" err="1">
                <a:solidFill>
                  <a:schemeClr val="bg2"/>
                </a:solidFill>
              </a:rPr>
              <a:t>it</a:t>
            </a:r>
            <a:r>
              <a:rPr lang="ar-SA" sz="2400" dirty="0">
                <a:solidFill>
                  <a:schemeClr val="bg2"/>
                </a:solidFill>
              </a:rPr>
              <a:t> </a:t>
            </a:r>
            <a:r>
              <a:rPr lang="ar-SA" sz="2400" dirty="0" err="1">
                <a:solidFill>
                  <a:schemeClr val="bg2"/>
                </a:solidFill>
              </a:rPr>
              <a:t>checks</a:t>
            </a:r>
            <a:r>
              <a:rPr lang="ar-SA" sz="2400" dirty="0">
                <a:solidFill>
                  <a:schemeClr val="bg2"/>
                </a:solidFill>
              </a:rPr>
              <a:t> </a:t>
            </a:r>
            <a:r>
              <a:rPr lang="ar-SA" sz="2400" dirty="0" err="1">
                <a:solidFill>
                  <a:schemeClr val="bg2"/>
                </a:solidFill>
              </a:rPr>
              <a:t>the</a:t>
            </a:r>
            <a:r>
              <a:rPr lang="ar-SA" sz="2400" dirty="0">
                <a:solidFill>
                  <a:schemeClr val="bg2"/>
                </a:solidFill>
              </a:rPr>
              <a:t> </a:t>
            </a:r>
            <a:r>
              <a:rPr lang="ar-SA" sz="2400" b="1" dirty="0" err="1">
                <a:solidFill>
                  <a:schemeClr val="bg2"/>
                </a:solidFill>
              </a:rPr>
              <a:t>actual</a:t>
            </a:r>
            <a:r>
              <a:rPr lang="ar-SA" sz="2400" b="1" dirty="0">
                <a:solidFill>
                  <a:schemeClr val="bg2"/>
                </a:solidFill>
              </a:rPr>
              <a:t> </a:t>
            </a:r>
            <a:r>
              <a:rPr lang="ar-SA" sz="2400" b="1" dirty="0" err="1">
                <a:solidFill>
                  <a:schemeClr val="bg2"/>
                </a:solidFill>
              </a:rPr>
              <a:t>object</a:t>
            </a:r>
            <a:r>
              <a:rPr lang="ar-SA" sz="2400" b="1" dirty="0">
                <a:solidFill>
                  <a:schemeClr val="bg2"/>
                </a:solidFill>
              </a:rPr>
              <a:t> </a:t>
            </a:r>
            <a:r>
              <a:rPr lang="ar-SA" sz="2400" b="1" dirty="0" err="1">
                <a:solidFill>
                  <a:schemeClr val="bg2"/>
                </a:solidFill>
              </a:rPr>
              <a:t>in</a:t>
            </a:r>
            <a:r>
              <a:rPr lang="ar-SA" sz="2400" b="1" dirty="0">
                <a:solidFill>
                  <a:schemeClr val="bg2"/>
                </a:solidFill>
              </a:rPr>
              <a:t> </a:t>
            </a:r>
            <a:r>
              <a:rPr lang="ar-SA" sz="2400" b="1" dirty="0" err="1">
                <a:solidFill>
                  <a:schemeClr val="bg2"/>
                </a:solidFill>
              </a:rPr>
              <a:t>memory</a:t>
            </a:r>
            <a:r>
              <a:rPr lang="ar-SA" sz="2400" dirty="0">
                <a:solidFill>
                  <a:schemeClr val="bg2"/>
                </a:solidFill>
              </a:rPr>
              <a:t>.</a:t>
            </a:r>
          </a:p>
          <a:p>
            <a:r>
              <a:rPr lang="ar-SA" sz="2400" dirty="0" err="1">
                <a:solidFill>
                  <a:schemeClr val="bg2"/>
                </a:solidFill>
              </a:rPr>
              <a:t>It</a:t>
            </a:r>
            <a:r>
              <a:rPr lang="ar-SA" sz="2400" dirty="0">
                <a:solidFill>
                  <a:schemeClr val="bg2"/>
                </a:solidFill>
              </a:rPr>
              <a:t> </a:t>
            </a:r>
            <a:r>
              <a:rPr lang="ar-SA" sz="2400" dirty="0" err="1">
                <a:solidFill>
                  <a:schemeClr val="bg2"/>
                </a:solidFill>
              </a:rPr>
              <a:t>discovers</a:t>
            </a:r>
            <a:r>
              <a:rPr lang="ar-SA" sz="2400" dirty="0">
                <a:solidFill>
                  <a:schemeClr val="bg2"/>
                </a:solidFill>
              </a:rPr>
              <a:t>:</a:t>
            </a:r>
          </a:p>
          <a:p>
            <a:r>
              <a:rPr lang="en-US" sz="2400" dirty="0">
                <a:solidFill>
                  <a:schemeClr val="accent5"/>
                </a:solidFill>
              </a:rPr>
              <a:t>Compiler: "You told me this was a Cat."</a:t>
            </a:r>
          </a:p>
          <a:p>
            <a:r>
              <a:rPr lang="en-US" sz="2400" dirty="0">
                <a:solidFill>
                  <a:schemeClr val="accent5"/>
                </a:solidFill>
              </a:rPr>
              <a:t>Runtime:  "I checked the object...  It's actually an Animal!"</a:t>
            </a:r>
          </a:p>
          <a:p>
            <a:r>
              <a:rPr lang="en-US" sz="2400" dirty="0">
                <a:solidFill>
                  <a:schemeClr val="accent5"/>
                </a:solidFill>
              </a:rPr>
              <a:t>→ </a:t>
            </a:r>
            <a:r>
              <a:rPr lang="en-US" sz="2400" dirty="0" err="1">
                <a:solidFill>
                  <a:schemeClr val="accent5"/>
                </a:solidFill>
              </a:rPr>
              <a:t>ClassCastException</a:t>
            </a:r>
            <a:endParaRPr lang="ar-SA" sz="2400" dirty="0">
              <a:solidFill>
                <a:schemeClr val="accent5"/>
              </a:solidFill>
            </a:endParaRPr>
          </a:p>
        </p:txBody>
      </p:sp>
      <p:sp>
        <p:nvSpPr>
          <p:cNvPr id="6" name="مستطيل: زوايا مستديرة 5">
            <a:extLst>
              <a:ext uri="{FF2B5EF4-FFF2-40B4-BE49-F238E27FC236}">
                <a16:creationId xmlns:a16="http://schemas.microsoft.com/office/drawing/2014/main" id="{AE625F2C-F7C2-AF14-3730-2E70A31FFE5D}"/>
              </a:ext>
            </a:extLst>
          </p:cNvPr>
          <p:cNvSpPr/>
          <p:nvPr/>
        </p:nvSpPr>
        <p:spPr>
          <a:xfrm>
            <a:off x="6096000" y="2779482"/>
            <a:ext cx="5253828" cy="12990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ar-SA" sz="2000" dirty="0" err="1">
                <a:solidFill>
                  <a:schemeClr val="bg1"/>
                </a:solidFill>
              </a:rPr>
              <a:t>Memory</a:t>
            </a:r>
            <a:r>
              <a:rPr lang="ar-SA" sz="2000" dirty="0">
                <a:solidFill>
                  <a:schemeClr val="bg1"/>
                </a:solidFill>
              </a:rPr>
              <a:t> </a:t>
            </a:r>
            <a:r>
              <a:rPr lang="ar-SA" sz="2000" dirty="0" err="1">
                <a:solidFill>
                  <a:schemeClr val="bg1"/>
                </a:solidFill>
              </a:rPr>
              <a:t>would</a:t>
            </a:r>
            <a:r>
              <a:rPr lang="ar-SA" sz="2000" dirty="0">
                <a:solidFill>
                  <a:schemeClr val="bg1"/>
                </a:solidFill>
              </a:rPr>
              <a:t> </a:t>
            </a:r>
            <a:r>
              <a:rPr lang="ar-SA" sz="2000" dirty="0" err="1">
                <a:solidFill>
                  <a:schemeClr val="bg1"/>
                </a:solidFill>
              </a:rPr>
              <a:t>be</a:t>
            </a:r>
            <a:r>
              <a:rPr lang="en-US" sz="2000" dirty="0">
                <a:solidFill>
                  <a:schemeClr val="bg1"/>
                </a:solidFill>
              </a:rPr>
              <a:t> :</a:t>
            </a:r>
          </a:p>
          <a:p>
            <a:r>
              <a:rPr lang="en-US" sz="2000" dirty="0" err="1">
                <a:solidFill>
                  <a:schemeClr val="bg1"/>
                </a:solidFill>
              </a:rPr>
              <a:t>someanimal</a:t>
            </a:r>
            <a:r>
              <a:rPr lang="en-US" sz="2000" dirty="0">
                <a:solidFill>
                  <a:schemeClr val="bg1"/>
                </a:solidFill>
              </a:rPr>
              <a:t> ────► Animal object</a:t>
            </a:r>
          </a:p>
          <a:p>
            <a:r>
              <a:rPr lang="en-US" sz="2000" dirty="0">
                <a:solidFill>
                  <a:schemeClr val="bg1"/>
                </a:solidFill>
              </a:rPr>
              <a:t>                                   NOT a Cat</a:t>
            </a:r>
          </a:p>
        </p:txBody>
      </p:sp>
    </p:spTree>
    <p:extLst>
      <p:ext uri="{BB962C8B-B14F-4D97-AF65-F5344CB8AC3E}">
        <p14:creationId xmlns:p14="http://schemas.microsoft.com/office/powerpoint/2010/main" val="9644062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a:extLst>
              <a:ext uri="{FF2B5EF4-FFF2-40B4-BE49-F238E27FC236}">
                <a16:creationId xmlns:a16="http://schemas.microsoft.com/office/drawing/2014/main" id="{3AF83992-2288-45C9-08B7-AB4D7858D99D}"/>
              </a:ext>
            </a:extLst>
          </p:cNvPr>
          <p:cNvSpPr>
            <a:spLocks noGrp="1"/>
          </p:cNvSpPr>
          <p:nvPr>
            <p:ph type="sldNum" sz="quarter" idx="12"/>
          </p:nvPr>
        </p:nvSpPr>
        <p:spPr/>
        <p:txBody>
          <a:bodyPr/>
          <a:lstStyle/>
          <a:p>
            <a:fld id="{0F291FCB-DF33-43F2-BB04-2926E6CA137D}" type="slidenum">
              <a:rPr lang="en-US" altLang="en-US" smtClean="0"/>
              <a:pPr/>
              <a:t>37</a:t>
            </a:fld>
            <a:endParaRPr lang="en-US" altLang="en-US"/>
          </a:p>
        </p:txBody>
      </p:sp>
      <p:sp>
        <p:nvSpPr>
          <p:cNvPr id="9" name="Rectangle 2">
            <a:extLst>
              <a:ext uri="{FF2B5EF4-FFF2-40B4-BE49-F238E27FC236}">
                <a16:creationId xmlns:a16="http://schemas.microsoft.com/office/drawing/2014/main" id="{E4FAFCF3-E44B-5A30-48A4-E5715310A53C}"/>
              </a:ext>
            </a:extLst>
          </p:cNvPr>
          <p:cNvSpPr>
            <a:spLocks noGrp="1" noChangeArrowheads="1"/>
          </p:cNvSpPr>
          <p:nvPr>
            <p:ph type="title"/>
          </p:nvPr>
        </p:nvSpPr>
        <p:spPr>
          <a:xfrm>
            <a:off x="415600" y="593367"/>
            <a:ext cx="11360800" cy="763600"/>
          </a:xfrm>
        </p:spPr>
        <p:txBody>
          <a:bodyPr/>
          <a:lstStyle/>
          <a:p>
            <a:r>
              <a:rPr lang="en-US" altLang="en-US" dirty="0"/>
              <a:t>Casting (contd.)</a:t>
            </a:r>
          </a:p>
        </p:txBody>
      </p:sp>
      <p:sp>
        <p:nvSpPr>
          <p:cNvPr id="10" name="مستطيل: زوايا مستديرة 9">
            <a:extLst>
              <a:ext uri="{FF2B5EF4-FFF2-40B4-BE49-F238E27FC236}">
                <a16:creationId xmlns:a16="http://schemas.microsoft.com/office/drawing/2014/main" id="{030EF627-5BC3-5322-6717-28F7003A2D86}"/>
              </a:ext>
            </a:extLst>
          </p:cNvPr>
          <p:cNvSpPr/>
          <p:nvPr/>
        </p:nvSpPr>
        <p:spPr>
          <a:xfrm>
            <a:off x="7241271" y="2812077"/>
            <a:ext cx="4872066" cy="3893523"/>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ar-SA" sz="2200" b="1" dirty="0" err="1">
                <a:solidFill>
                  <a:schemeClr val="bg2"/>
                </a:solidFill>
              </a:rPr>
              <a:t>If</a:t>
            </a:r>
            <a:r>
              <a:rPr lang="ar-SA" sz="2200" b="1" dirty="0">
                <a:solidFill>
                  <a:schemeClr val="bg2"/>
                </a:solidFill>
              </a:rPr>
              <a:t> </a:t>
            </a:r>
            <a:r>
              <a:rPr lang="ar-SA" sz="2200" b="1" dirty="0" err="1">
                <a:solidFill>
                  <a:schemeClr val="bg2"/>
                </a:solidFill>
              </a:rPr>
              <a:t>the</a:t>
            </a:r>
            <a:r>
              <a:rPr lang="ar-SA" sz="2200" b="1" dirty="0">
                <a:solidFill>
                  <a:schemeClr val="bg2"/>
                </a:solidFill>
              </a:rPr>
              <a:t> </a:t>
            </a:r>
            <a:r>
              <a:rPr lang="ar-SA" sz="2200" b="1" dirty="0" err="1">
                <a:solidFill>
                  <a:schemeClr val="bg2"/>
                </a:solidFill>
              </a:rPr>
              <a:t>method</a:t>
            </a:r>
            <a:r>
              <a:rPr lang="ar-SA" sz="2200" b="1" dirty="0">
                <a:solidFill>
                  <a:schemeClr val="bg2"/>
                </a:solidFill>
              </a:rPr>
              <a:t> </a:t>
            </a:r>
            <a:r>
              <a:rPr lang="ar-SA" sz="2200" b="1" dirty="0" err="1">
                <a:solidFill>
                  <a:schemeClr val="bg2"/>
                </a:solidFill>
              </a:rPr>
              <a:t>exists</a:t>
            </a:r>
            <a:r>
              <a:rPr lang="ar-SA" sz="2200" b="1" dirty="0">
                <a:solidFill>
                  <a:schemeClr val="bg2"/>
                </a:solidFill>
              </a:rPr>
              <a:t> </a:t>
            </a:r>
            <a:r>
              <a:rPr lang="ar-SA" sz="2200" b="1" dirty="0" err="1">
                <a:solidFill>
                  <a:schemeClr val="bg2"/>
                </a:solidFill>
              </a:rPr>
              <a:t>in</a:t>
            </a:r>
            <a:r>
              <a:rPr lang="ar-SA" sz="2200" b="1" dirty="0">
                <a:solidFill>
                  <a:schemeClr val="bg2"/>
                </a:solidFill>
              </a:rPr>
              <a:t> </a:t>
            </a:r>
            <a:r>
              <a:rPr lang="ar-SA" sz="2200" b="1" dirty="0" err="1">
                <a:solidFill>
                  <a:schemeClr val="bg2"/>
                </a:solidFill>
              </a:rPr>
              <a:t>the</a:t>
            </a:r>
            <a:r>
              <a:rPr lang="ar-SA" sz="2200" b="1" dirty="0">
                <a:solidFill>
                  <a:schemeClr val="bg2"/>
                </a:solidFill>
              </a:rPr>
              <a:t> </a:t>
            </a:r>
            <a:r>
              <a:rPr lang="ar-SA" sz="2200" b="1" dirty="0" err="1">
                <a:solidFill>
                  <a:schemeClr val="bg2"/>
                </a:solidFill>
              </a:rPr>
              <a:t>superclass</a:t>
            </a:r>
            <a:r>
              <a:rPr lang="ar-SA" sz="2200" b="1" dirty="0">
                <a:solidFill>
                  <a:schemeClr val="bg2"/>
                </a:solidFill>
              </a:rPr>
              <a:t> </a:t>
            </a:r>
            <a:r>
              <a:rPr lang="ar-SA" sz="2200" b="1" dirty="0" err="1">
                <a:solidFill>
                  <a:schemeClr val="bg2"/>
                </a:solidFill>
              </a:rPr>
              <a:t>and</a:t>
            </a:r>
            <a:r>
              <a:rPr lang="ar-SA" sz="2200" b="1" dirty="0">
                <a:solidFill>
                  <a:schemeClr val="bg2"/>
                </a:solidFill>
              </a:rPr>
              <a:t> </a:t>
            </a:r>
            <a:r>
              <a:rPr lang="ar-SA" sz="2200" b="1" dirty="0" err="1">
                <a:solidFill>
                  <a:schemeClr val="bg2"/>
                </a:solidFill>
              </a:rPr>
              <a:t>is</a:t>
            </a:r>
            <a:r>
              <a:rPr lang="ar-SA" sz="2200" b="1" dirty="0">
                <a:solidFill>
                  <a:schemeClr val="bg2"/>
                </a:solidFill>
              </a:rPr>
              <a:t> </a:t>
            </a:r>
            <a:r>
              <a:rPr lang="ar-SA" sz="2200" b="1" dirty="0" err="1">
                <a:solidFill>
                  <a:schemeClr val="bg2"/>
                </a:solidFill>
              </a:rPr>
              <a:t>overridden</a:t>
            </a:r>
            <a:r>
              <a:rPr lang="ar-SA" sz="2200" b="1" dirty="0">
                <a:solidFill>
                  <a:schemeClr val="bg2"/>
                </a:solidFill>
              </a:rPr>
              <a:t>    </a:t>
            </a:r>
          </a:p>
          <a:p>
            <a:r>
              <a:rPr lang="ar-SA" sz="2200" b="1" dirty="0">
                <a:solidFill>
                  <a:schemeClr val="bg2"/>
                </a:solidFill>
              </a:rPr>
              <a:t> → </a:t>
            </a:r>
            <a:r>
              <a:rPr lang="ar-SA" sz="2200" b="1" dirty="0" err="1">
                <a:solidFill>
                  <a:schemeClr val="bg2"/>
                </a:solidFill>
              </a:rPr>
              <a:t>no</a:t>
            </a:r>
            <a:r>
              <a:rPr lang="ar-SA" sz="2200" b="1" dirty="0">
                <a:solidFill>
                  <a:schemeClr val="bg2"/>
                </a:solidFill>
              </a:rPr>
              <a:t> </a:t>
            </a:r>
            <a:r>
              <a:rPr lang="ar-SA" sz="2200" b="1" dirty="0" err="1">
                <a:solidFill>
                  <a:schemeClr val="bg2"/>
                </a:solidFill>
              </a:rPr>
              <a:t>casting</a:t>
            </a:r>
            <a:r>
              <a:rPr lang="ar-SA" sz="2200" b="1" dirty="0">
                <a:solidFill>
                  <a:schemeClr val="bg2"/>
                </a:solidFill>
              </a:rPr>
              <a:t> </a:t>
            </a:r>
            <a:r>
              <a:rPr lang="ar-SA" sz="2200" b="1" dirty="0" err="1">
                <a:solidFill>
                  <a:schemeClr val="bg2"/>
                </a:solidFill>
              </a:rPr>
              <a:t>is</a:t>
            </a:r>
            <a:r>
              <a:rPr lang="ar-SA" sz="2200" b="1" dirty="0">
                <a:solidFill>
                  <a:schemeClr val="bg2"/>
                </a:solidFill>
              </a:rPr>
              <a:t> </a:t>
            </a:r>
            <a:r>
              <a:rPr lang="ar-SA" sz="2200" b="1" dirty="0" err="1">
                <a:solidFill>
                  <a:schemeClr val="bg2"/>
                </a:solidFill>
              </a:rPr>
              <a:t>needed</a:t>
            </a:r>
            <a:r>
              <a:rPr lang="ar-SA" sz="2200" b="1" dirty="0">
                <a:solidFill>
                  <a:schemeClr val="bg2"/>
                </a:solidFill>
              </a:rPr>
              <a:t>. </a:t>
            </a:r>
            <a:r>
              <a:rPr lang="ar-SA" sz="2200" b="1" dirty="0" err="1">
                <a:solidFill>
                  <a:schemeClr val="bg2"/>
                </a:solidFill>
              </a:rPr>
              <a:t>Java</a:t>
            </a:r>
            <a:r>
              <a:rPr lang="ar-SA" sz="2200" b="1" dirty="0">
                <a:solidFill>
                  <a:schemeClr val="bg2"/>
                </a:solidFill>
              </a:rPr>
              <a:t> </a:t>
            </a:r>
            <a:r>
              <a:rPr lang="ar-SA" sz="2200" b="1" dirty="0" err="1">
                <a:solidFill>
                  <a:schemeClr val="bg2"/>
                </a:solidFill>
              </a:rPr>
              <a:t>uses</a:t>
            </a:r>
            <a:r>
              <a:rPr lang="ar-SA" sz="2200" b="1" dirty="0">
                <a:solidFill>
                  <a:schemeClr val="bg2"/>
                </a:solidFill>
              </a:rPr>
              <a:t> </a:t>
            </a:r>
            <a:r>
              <a:rPr lang="ar-SA" sz="2200" b="1" dirty="0" err="1">
                <a:solidFill>
                  <a:schemeClr val="bg2"/>
                </a:solidFill>
              </a:rPr>
              <a:t>polymorphism</a:t>
            </a:r>
            <a:r>
              <a:rPr lang="ar-SA" sz="2200" b="1" dirty="0">
                <a:solidFill>
                  <a:schemeClr val="bg2"/>
                </a:solidFill>
              </a:rPr>
              <a:t>.</a:t>
            </a:r>
            <a:endParaRPr lang="ar-SA" sz="2200" dirty="0">
              <a:solidFill>
                <a:schemeClr val="bg2"/>
              </a:solidFill>
            </a:endParaRPr>
          </a:p>
          <a:p>
            <a:endParaRPr lang="ar-SA" sz="2200" b="1" dirty="0">
              <a:solidFill>
                <a:schemeClr val="bg2"/>
              </a:solidFill>
            </a:endParaRPr>
          </a:p>
          <a:p>
            <a:r>
              <a:rPr lang="ar-SA" sz="2200" b="1" dirty="0" err="1">
                <a:solidFill>
                  <a:schemeClr val="bg2"/>
                </a:solidFill>
              </a:rPr>
              <a:t>If</a:t>
            </a:r>
            <a:r>
              <a:rPr lang="ar-SA" sz="2200" b="1" dirty="0">
                <a:solidFill>
                  <a:schemeClr val="bg2"/>
                </a:solidFill>
              </a:rPr>
              <a:t> </a:t>
            </a:r>
            <a:r>
              <a:rPr lang="ar-SA" sz="2200" b="1" dirty="0" err="1">
                <a:solidFill>
                  <a:schemeClr val="bg2"/>
                </a:solidFill>
              </a:rPr>
              <a:t>the</a:t>
            </a:r>
            <a:r>
              <a:rPr lang="ar-SA" sz="2200" b="1" dirty="0">
                <a:solidFill>
                  <a:schemeClr val="bg2"/>
                </a:solidFill>
              </a:rPr>
              <a:t> </a:t>
            </a:r>
            <a:r>
              <a:rPr lang="ar-SA" sz="2200" b="1" dirty="0" err="1">
                <a:solidFill>
                  <a:schemeClr val="bg2"/>
                </a:solidFill>
              </a:rPr>
              <a:t>method</a:t>
            </a:r>
            <a:r>
              <a:rPr lang="ar-SA" sz="2200" b="1" dirty="0">
                <a:solidFill>
                  <a:schemeClr val="bg2"/>
                </a:solidFill>
              </a:rPr>
              <a:t> </a:t>
            </a:r>
            <a:r>
              <a:rPr lang="ar-SA" sz="2200" b="1" dirty="0" err="1">
                <a:solidFill>
                  <a:schemeClr val="bg2"/>
                </a:solidFill>
              </a:rPr>
              <a:t>exists</a:t>
            </a:r>
            <a:r>
              <a:rPr lang="ar-SA" sz="2200" b="1" dirty="0">
                <a:solidFill>
                  <a:schemeClr val="bg2"/>
                </a:solidFill>
              </a:rPr>
              <a:t> </a:t>
            </a:r>
            <a:r>
              <a:rPr lang="ar-SA" sz="2200" b="1" dirty="0" err="1">
                <a:solidFill>
                  <a:schemeClr val="bg2"/>
                </a:solidFill>
              </a:rPr>
              <a:t>only</a:t>
            </a:r>
            <a:r>
              <a:rPr lang="ar-SA" sz="2200" b="1" dirty="0">
                <a:solidFill>
                  <a:schemeClr val="bg2"/>
                </a:solidFill>
              </a:rPr>
              <a:t> </a:t>
            </a:r>
            <a:r>
              <a:rPr lang="ar-SA" sz="2200" b="1" dirty="0" err="1">
                <a:solidFill>
                  <a:schemeClr val="bg2"/>
                </a:solidFill>
              </a:rPr>
              <a:t>in</a:t>
            </a:r>
            <a:r>
              <a:rPr lang="ar-SA" sz="2200" b="1" dirty="0">
                <a:solidFill>
                  <a:schemeClr val="bg2"/>
                </a:solidFill>
              </a:rPr>
              <a:t> </a:t>
            </a:r>
            <a:r>
              <a:rPr lang="ar-SA" sz="2200" b="1" dirty="0" err="1">
                <a:solidFill>
                  <a:schemeClr val="bg2"/>
                </a:solidFill>
              </a:rPr>
              <a:t>the</a:t>
            </a:r>
            <a:r>
              <a:rPr lang="ar-SA" sz="2200" b="1" dirty="0">
                <a:solidFill>
                  <a:schemeClr val="bg2"/>
                </a:solidFill>
              </a:rPr>
              <a:t> </a:t>
            </a:r>
            <a:r>
              <a:rPr lang="ar-SA" sz="2200" b="1" dirty="0" err="1">
                <a:solidFill>
                  <a:schemeClr val="bg2"/>
                </a:solidFill>
              </a:rPr>
              <a:t>subclass</a:t>
            </a:r>
            <a:endParaRPr lang="ar-SA" sz="2200" b="1" dirty="0">
              <a:solidFill>
                <a:schemeClr val="bg2"/>
              </a:solidFill>
            </a:endParaRPr>
          </a:p>
          <a:p>
            <a:r>
              <a:rPr lang="ar-SA" sz="2200" b="1" dirty="0">
                <a:solidFill>
                  <a:schemeClr val="bg2"/>
                </a:solidFill>
              </a:rPr>
              <a:t> → </a:t>
            </a:r>
            <a:r>
              <a:rPr lang="ar-SA" sz="2200" b="1" dirty="0" err="1">
                <a:solidFill>
                  <a:schemeClr val="bg2"/>
                </a:solidFill>
              </a:rPr>
              <a:t>downcasting</a:t>
            </a:r>
            <a:r>
              <a:rPr lang="ar-SA" sz="2200" b="1" dirty="0">
                <a:solidFill>
                  <a:schemeClr val="bg2"/>
                </a:solidFill>
              </a:rPr>
              <a:t> </a:t>
            </a:r>
            <a:r>
              <a:rPr lang="ar-SA" sz="2200" b="1" dirty="0" err="1">
                <a:solidFill>
                  <a:schemeClr val="bg2"/>
                </a:solidFill>
              </a:rPr>
              <a:t>is</a:t>
            </a:r>
            <a:r>
              <a:rPr lang="ar-SA" sz="2200" b="1" dirty="0">
                <a:solidFill>
                  <a:schemeClr val="bg2"/>
                </a:solidFill>
              </a:rPr>
              <a:t> </a:t>
            </a:r>
            <a:r>
              <a:rPr lang="ar-SA" sz="2200" b="1" dirty="0" err="1">
                <a:solidFill>
                  <a:schemeClr val="bg2"/>
                </a:solidFill>
              </a:rPr>
              <a:t>needed</a:t>
            </a:r>
            <a:r>
              <a:rPr lang="ar-SA" sz="2200" b="1" dirty="0">
                <a:solidFill>
                  <a:schemeClr val="bg2"/>
                </a:solidFill>
              </a:rPr>
              <a:t> </a:t>
            </a:r>
            <a:r>
              <a:rPr lang="ar-SA" sz="2200" b="1" dirty="0" err="1">
                <a:solidFill>
                  <a:schemeClr val="bg2"/>
                </a:solidFill>
              </a:rPr>
              <a:t>to</a:t>
            </a:r>
            <a:r>
              <a:rPr lang="ar-SA" sz="2200" b="1" dirty="0">
                <a:solidFill>
                  <a:schemeClr val="bg2"/>
                </a:solidFill>
              </a:rPr>
              <a:t> </a:t>
            </a:r>
            <a:r>
              <a:rPr lang="ar-SA" sz="2200" b="1" dirty="0" err="1">
                <a:solidFill>
                  <a:schemeClr val="bg2"/>
                </a:solidFill>
              </a:rPr>
              <a:t>access</a:t>
            </a:r>
            <a:r>
              <a:rPr lang="ar-SA" sz="2200" b="1" dirty="0">
                <a:solidFill>
                  <a:schemeClr val="bg2"/>
                </a:solidFill>
              </a:rPr>
              <a:t> </a:t>
            </a:r>
            <a:r>
              <a:rPr lang="ar-SA" sz="2200" b="1" dirty="0" err="1">
                <a:solidFill>
                  <a:schemeClr val="bg2"/>
                </a:solidFill>
              </a:rPr>
              <a:t>it</a:t>
            </a:r>
            <a:r>
              <a:rPr lang="ar-SA" sz="2200" b="1" dirty="0">
                <a:solidFill>
                  <a:schemeClr val="bg2"/>
                </a:solidFill>
              </a:rPr>
              <a:t>.</a:t>
            </a:r>
            <a:endParaRPr lang="ar-SA" sz="2200" dirty="0">
              <a:solidFill>
                <a:schemeClr val="bg2"/>
              </a:solidFill>
            </a:endParaRPr>
          </a:p>
        </p:txBody>
      </p:sp>
      <p:sp>
        <p:nvSpPr>
          <p:cNvPr id="11" name="Rectangle 3">
            <a:extLst>
              <a:ext uri="{FF2B5EF4-FFF2-40B4-BE49-F238E27FC236}">
                <a16:creationId xmlns:a16="http://schemas.microsoft.com/office/drawing/2014/main" id="{3AE9CFD9-FF63-A416-AD50-BC83EB14298C}"/>
              </a:ext>
            </a:extLst>
          </p:cNvPr>
          <p:cNvSpPr txBox="1">
            <a:spLocks noChangeArrowheads="1"/>
          </p:cNvSpPr>
          <p:nvPr/>
        </p:nvSpPr>
        <p:spPr>
          <a:xfrm>
            <a:off x="147709" y="1181411"/>
            <a:ext cx="11360800" cy="161354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a:lnSpc>
                <a:spcPct val="90000"/>
              </a:lnSpc>
            </a:pPr>
            <a:r>
              <a:rPr lang="en-US" altLang="en-US" sz="2800" i="1" u="sng" kern="0" dirty="0"/>
              <a:t>Casting Downwards</a:t>
            </a:r>
            <a:endParaRPr lang="en-US" altLang="en-US" sz="2800" kern="0" dirty="0"/>
          </a:p>
          <a:p>
            <a:pPr>
              <a:lnSpc>
                <a:spcPct val="90000"/>
              </a:lnSpc>
            </a:pPr>
            <a:endParaRPr lang="en-US" altLang="en-US" sz="2400" kern="0" dirty="0"/>
          </a:p>
          <a:p>
            <a:pPr>
              <a:lnSpc>
                <a:spcPct val="90000"/>
              </a:lnSpc>
            </a:pPr>
            <a:r>
              <a:rPr lang="en-US" altLang="en-US" sz="2400" kern="0" dirty="0"/>
              <a:t>You need to cast downwards to use methods defined only in the derived class type</a:t>
            </a:r>
          </a:p>
          <a:p>
            <a:pPr marL="146050" indent="0">
              <a:lnSpc>
                <a:spcPct val="90000"/>
              </a:lnSpc>
              <a:buFont typeface="Lato"/>
              <a:buNone/>
            </a:pPr>
            <a:endParaRPr lang="en-US" altLang="en-US" sz="2800" i="1" u="sng" kern="0" dirty="0"/>
          </a:p>
          <a:p>
            <a:pPr lvl="2">
              <a:lnSpc>
                <a:spcPct val="90000"/>
              </a:lnSpc>
              <a:buFont typeface="Monotype Sorts" pitchFamily="2" charset="2"/>
              <a:buNone/>
            </a:pPr>
            <a:endParaRPr lang="en-US" altLang="en-US" sz="2000" kern="0" dirty="0"/>
          </a:p>
        </p:txBody>
      </p:sp>
      <p:sp>
        <p:nvSpPr>
          <p:cNvPr id="14" name="مستطيل 13">
            <a:extLst>
              <a:ext uri="{FF2B5EF4-FFF2-40B4-BE49-F238E27FC236}">
                <a16:creationId xmlns:a16="http://schemas.microsoft.com/office/drawing/2014/main" id="{36993192-DA25-A741-250B-78FCED77527B}"/>
              </a:ext>
            </a:extLst>
          </p:cNvPr>
          <p:cNvSpPr/>
          <p:nvPr/>
        </p:nvSpPr>
        <p:spPr>
          <a:xfrm>
            <a:off x="360181" y="2812076"/>
            <a:ext cx="3602182" cy="36588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dirty="0"/>
              <a:t>class Animal {</a:t>
            </a:r>
          </a:p>
          <a:p>
            <a:r>
              <a:rPr lang="en-US" dirty="0"/>
              <a:t>    void display() { ... }</a:t>
            </a:r>
          </a:p>
          <a:p>
            <a:r>
              <a:rPr lang="en-US" dirty="0"/>
              <a:t>}</a:t>
            </a:r>
          </a:p>
          <a:p>
            <a:endParaRPr lang="en-US" dirty="0"/>
          </a:p>
          <a:p>
            <a:r>
              <a:rPr lang="en-US" dirty="0"/>
              <a:t>class Cat extends Animal {</a:t>
            </a:r>
          </a:p>
          <a:p>
            <a:r>
              <a:rPr lang="en-US" dirty="0"/>
              <a:t>    @Override</a:t>
            </a:r>
          </a:p>
          <a:p>
            <a:r>
              <a:rPr lang="en-US" dirty="0"/>
              <a:t>    void display() { ... }</a:t>
            </a:r>
          </a:p>
          <a:p>
            <a:endParaRPr lang="en-US" dirty="0"/>
          </a:p>
          <a:p>
            <a:r>
              <a:rPr lang="en-US" dirty="0"/>
              <a:t>    void motion() { ... }</a:t>
            </a:r>
          </a:p>
          <a:p>
            <a:r>
              <a:rPr lang="en-US" dirty="0"/>
              <a:t>}</a:t>
            </a:r>
            <a:endParaRPr lang="ar-SA" dirty="0"/>
          </a:p>
        </p:txBody>
      </p:sp>
      <p:sp>
        <p:nvSpPr>
          <p:cNvPr id="15" name="مستطيل 14">
            <a:extLst>
              <a:ext uri="{FF2B5EF4-FFF2-40B4-BE49-F238E27FC236}">
                <a16:creationId xmlns:a16="http://schemas.microsoft.com/office/drawing/2014/main" id="{99B241E8-D9AF-5CE6-5CDE-D2822E7155F8}"/>
              </a:ext>
            </a:extLst>
          </p:cNvPr>
          <p:cNvSpPr/>
          <p:nvPr/>
        </p:nvSpPr>
        <p:spPr>
          <a:xfrm>
            <a:off x="4106165" y="2794952"/>
            <a:ext cx="2991305" cy="1902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t>Animal a = new Cat();</a:t>
            </a:r>
          </a:p>
          <a:p>
            <a:pPr algn="ctr"/>
            <a:endParaRPr lang="en-US"/>
          </a:p>
          <a:p>
            <a:pPr algn="ctr"/>
            <a:r>
              <a:rPr lang="en-US"/>
              <a:t>a.display();   // ✅</a:t>
            </a:r>
          </a:p>
          <a:p>
            <a:pPr algn="ctr"/>
            <a:r>
              <a:rPr lang="en-US"/>
              <a:t>a.motion();    // ❌</a:t>
            </a:r>
            <a:endParaRPr lang="ar-SA"/>
          </a:p>
        </p:txBody>
      </p:sp>
      <p:sp>
        <p:nvSpPr>
          <p:cNvPr id="16" name="مستطيل 15">
            <a:extLst>
              <a:ext uri="{FF2B5EF4-FFF2-40B4-BE49-F238E27FC236}">
                <a16:creationId xmlns:a16="http://schemas.microsoft.com/office/drawing/2014/main" id="{91C395F0-8691-4DE7-BAB4-8F379B27CBB0}"/>
              </a:ext>
            </a:extLst>
          </p:cNvPr>
          <p:cNvSpPr/>
          <p:nvPr/>
        </p:nvSpPr>
        <p:spPr>
          <a:xfrm>
            <a:off x="4106164" y="4882261"/>
            <a:ext cx="2991305" cy="15886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So We need :</a:t>
            </a:r>
          </a:p>
          <a:p>
            <a:pPr algn="ctr"/>
            <a:r>
              <a:rPr lang="en-US" dirty="0"/>
              <a:t>((Cat) a).motion();  // </a:t>
            </a:r>
            <a:r>
              <a:rPr lang="ar-SA" dirty="0"/>
              <a:t>✅</a:t>
            </a:r>
          </a:p>
        </p:txBody>
      </p:sp>
    </p:spTree>
    <p:extLst>
      <p:ext uri="{BB962C8B-B14F-4D97-AF65-F5344CB8AC3E}">
        <p14:creationId xmlns:p14="http://schemas.microsoft.com/office/powerpoint/2010/main" val="33972452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3F6B7E08-E6D4-47F6-AA79-F534BAE6ADB3}"/>
              </a:ext>
            </a:extLst>
          </p:cNvPr>
          <p:cNvSpPr>
            <a:spLocks noGrp="1" noChangeArrowheads="1"/>
          </p:cNvSpPr>
          <p:nvPr>
            <p:ph type="title"/>
          </p:nvPr>
        </p:nvSpPr>
        <p:spPr/>
        <p:txBody>
          <a:bodyPr/>
          <a:lstStyle/>
          <a:p>
            <a:r>
              <a:rPr lang="en-US" altLang="en-US"/>
              <a:t>Casting (contd.)</a:t>
            </a:r>
          </a:p>
        </p:txBody>
      </p:sp>
      <p:sp>
        <p:nvSpPr>
          <p:cNvPr id="120835" name="Rectangle 3">
            <a:extLst>
              <a:ext uri="{FF2B5EF4-FFF2-40B4-BE49-F238E27FC236}">
                <a16:creationId xmlns:a16="http://schemas.microsoft.com/office/drawing/2014/main" id="{AB8291A6-405C-40C5-983B-65618403C568}"/>
              </a:ext>
            </a:extLst>
          </p:cNvPr>
          <p:cNvSpPr>
            <a:spLocks noGrp="1" noChangeArrowheads="1"/>
          </p:cNvSpPr>
          <p:nvPr>
            <p:ph idx="1"/>
          </p:nvPr>
        </p:nvSpPr>
        <p:spPr/>
        <p:txBody>
          <a:bodyPr/>
          <a:lstStyle/>
          <a:p>
            <a:r>
              <a:rPr lang="en-US" altLang="en-US" sz="2800" dirty="0"/>
              <a:t>Casting Downwards (cont.)</a:t>
            </a:r>
          </a:p>
          <a:p>
            <a:pPr lvl="1"/>
            <a:r>
              <a:rPr lang="en-US" altLang="en-US" sz="2800" dirty="0"/>
              <a:t>Casting downwards to the wrong object is illegal</a:t>
            </a:r>
          </a:p>
          <a:p>
            <a:pPr lvl="2"/>
            <a:r>
              <a:rPr lang="en-US" altLang="en-US" sz="2800" dirty="0"/>
              <a:t>use </a:t>
            </a:r>
            <a:r>
              <a:rPr lang="en-US" altLang="en-US" sz="2800" dirty="0" err="1"/>
              <a:t>instanceof</a:t>
            </a:r>
            <a:r>
              <a:rPr lang="en-US" altLang="en-US" sz="2800" dirty="0"/>
              <a:t> to check the class</a:t>
            </a:r>
          </a:p>
          <a:p>
            <a:pPr lvl="3">
              <a:buFontTx/>
              <a:buNone/>
            </a:pPr>
            <a:r>
              <a:rPr lang="en-US" altLang="en-US" sz="2800" b="1" dirty="0">
                <a:solidFill>
                  <a:schemeClr val="accent5"/>
                </a:solidFill>
              </a:rPr>
              <a:t>if (</a:t>
            </a:r>
            <a:r>
              <a:rPr lang="en-US" altLang="en-US" sz="2800" b="1" dirty="0" err="1">
                <a:solidFill>
                  <a:schemeClr val="accent5"/>
                </a:solidFill>
              </a:rPr>
              <a:t>someanimal</a:t>
            </a:r>
            <a:r>
              <a:rPr lang="en-US" altLang="en-US" sz="2800" b="1" dirty="0">
                <a:solidFill>
                  <a:schemeClr val="accent5"/>
                </a:solidFill>
              </a:rPr>
              <a:t> </a:t>
            </a:r>
            <a:r>
              <a:rPr lang="en-US" altLang="en-US" sz="2800" b="1" dirty="0" err="1">
                <a:solidFill>
                  <a:schemeClr val="accent5"/>
                </a:solidFill>
              </a:rPr>
              <a:t>instanceof</a:t>
            </a:r>
            <a:r>
              <a:rPr lang="en-US" altLang="en-US" sz="2800" b="1" dirty="0">
                <a:solidFill>
                  <a:schemeClr val="accent5"/>
                </a:solidFill>
              </a:rPr>
              <a:t> Cat)</a:t>
            </a:r>
          </a:p>
          <a:p>
            <a:pPr lvl="4">
              <a:buFontTx/>
              <a:buNone/>
            </a:pPr>
            <a:r>
              <a:rPr lang="en-US" altLang="en-US" sz="2800" b="1" dirty="0">
                <a:solidFill>
                  <a:schemeClr val="accent5"/>
                </a:solidFill>
              </a:rPr>
              <a:t>Cat </a:t>
            </a:r>
            <a:r>
              <a:rPr lang="en-US" altLang="en-US" sz="2800" b="1" dirty="0" err="1">
                <a:solidFill>
                  <a:schemeClr val="accent5"/>
                </a:solidFill>
              </a:rPr>
              <a:t>somecat</a:t>
            </a:r>
            <a:r>
              <a:rPr lang="en-US" altLang="en-US" sz="2800" b="1" dirty="0">
                <a:solidFill>
                  <a:schemeClr val="accent5"/>
                </a:solidFill>
              </a:rPr>
              <a:t> = (Cat) </a:t>
            </a:r>
            <a:r>
              <a:rPr lang="en-US" altLang="en-US" sz="2800" b="1" dirty="0" err="1">
                <a:solidFill>
                  <a:schemeClr val="accent5"/>
                </a:solidFill>
              </a:rPr>
              <a:t>someanimal</a:t>
            </a:r>
            <a:r>
              <a:rPr lang="en-US" altLang="en-US" sz="2800" dirty="0"/>
              <a:t>;</a:t>
            </a:r>
          </a:p>
          <a:p>
            <a:pPr lvl="4"/>
            <a:endParaRPr lang="en-US"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E01F26E9-1F94-4851-A27A-E81E4129632B}"/>
              </a:ext>
            </a:extLst>
          </p:cNvPr>
          <p:cNvSpPr>
            <a:spLocks noGrp="1" noChangeArrowheads="1"/>
          </p:cNvSpPr>
          <p:nvPr>
            <p:ph type="title"/>
          </p:nvPr>
        </p:nvSpPr>
        <p:spPr/>
        <p:txBody>
          <a:bodyPr/>
          <a:lstStyle/>
          <a:p>
            <a:r>
              <a:rPr lang="en-US" altLang="en-US"/>
              <a:t>Casting (contd.)</a:t>
            </a:r>
          </a:p>
        </p:txBody>
      </p:sp>
      <p:sp>
        <p:nvSpPr>
          <p:cNvPr id="122883" name="Rectangle 3">
            <a:extLst>
              <a:ext uri="{FF2B5EF4-FFF2-40B4-BE49-F238E27FC236}">
                <a16:creationId xmlns:a16="http://schemas.microsoft.com/office/drawing/2014/main" id="{F0FAA1DF-DF64-4091-B016-8401E513CEC9}"/>
              </a:ext>
            </a:extLst>
          </p:cNvPr>
          <p:cNvSpPr>
            <a:spLocks noGrp="1" noChangeArrowheads="1"/>
          </p:cNvSpPr>
          <p:nvPr>
            <p:ph idx="1"/>
          </p:nvPr>
        </p:nvSpPr>
        <p:spPr/>
        <p:txBody>
          <a:bodyPr>
            <a:normAutofit/>
          </a:bodyPr>
          <a:lstStyle/>
          <a:p>
            <a:pPr>
              <a:lnSpc>
                <a:spcPct val="90000"/>
              </a:lnSpc>
            </a:pPr>
            <a:r>
              <a:rPr lang="en-US" altLang="en-US" sz="2800" dirty="0"/>
              <a:t>Casting Downwards (cont.)</a:t>
            </a:r>
          </a:p>
          <a:p>
            <a:pPr lvl="2">
              <a:lnSpc>
                <a:spcPct val="90000"/>
              </a:lnSpc>
              <a:buFont typeface="Monotype Sorts" pitchFamily="2" charset="2"/>
              <a:buNone/>
            </a:pPr>
            <a:r>
              <a:rPr lang="en-US" altLang="en-US" sz="2000" dirty="0"/>
              <a:t>for (int j =0; j&lt; </a:t>
            </a:r>
            <a:r>
              <a:rPr lang="en-US" altLang="en-US" sz="2000" dirty="0" err="1"/>
              <a:t>nOfAnimals</a:t>
            </a:r>
            <a:r>
              <a:rPr lang="en-US" altLang="en-US" sz="2000" dirty="0"/>
              <a:t>; </a:t>
            </a:r>
            <a:r>
              <a:rPr lang="en-US" altLang="en-US" sz="2000" dirty="0" err="1"/>
              <a:t>j++</a:t>
            </a:r>
            <a:r>
              <a:rPr lang="en-US" altLang="en-US" sz="2000" dirty="0"/>
              <a:t>) </a:t>
            </a:r>
          </a:p>
          <a:p>
            <a:pPr lvl="3">
              <a:lnSpc>
                <a:spcPct val="90000"/>
              </a:lnSpc>
              <a:buFontTx/>
              <a:buNone/>
            </a:pPr>
            <a:r>
              <a:rPr lang="en-US" altLang="en-US" sz="1800" dirty="0"/>
              <a:t>if (</a:t>
            </a:r>
            <a:r>
              <a:rPr lang="en-US" altLang="en-US" sz="1800" dirty="0" err="1"/>
              <a:t>someanimal</a:t>
            </a:r>
            <a:r>
              <a:rPr lang="en-US" altLang="en-US" sz="1800" dirty="0"/>
              <a:t>[j] instance of Cat)</a:t>
            </a:r>
          </a:p>
          <a:p>
            <a:pPr lvl="4">
              <a:lnSpc>
                <a:spcPct val="90000"/>
              </a:lnSpc>
              <a:buFontTx/>
              <a:buNone/>
            </a:pPr>
            <a:r>
              <a:rPr lang="en-US" altLang="en-US" sz="1800" dirty="0" err="1"/>
              <a:t>someanimal</a:t>
            </a:r>
            <a:r>
              <a:rPr lang="en-US" altLang="en-US" sz="1800" dirty="0"/>
              <a:t>[j].motion();// syntax error!!!!</a:t>
            </a:r>
          </a:p>
          <a:p>
            <a:pPr lvl="4">
              <a:lnSpc>
                <a:spcPct val="90000"/>
              </a:lnSpc>
              <a:buFontTx/>
              <a:buNone/>
            </a:pPr>
            <a:endParaRPr lang="en-US" altLang="en-US" sz="1800" dirty="0"/>
          </a:p>
          <a:p>
            <a:pPr lvl="2">
              <a:lnSpc>
                <a:spcPct val="90000"/>
              </a:lnSpc>
              <a:buFont typeface="Monotype Sorts" pitchFamily="2" charset="2"/>
              <a:buNone/>
            </a:pPr>
            <a:r>
              <a:rPr lang="en-US" altLang="en-US" sz="2000" dirty="0"/>
              <a:t>for (int j =0; j&lt; </a:t>
            </a:r>
            <a:r>
              <a:rPr lang="en-US" altLang="en-US" sz="2000" dirty="0" err="1"/>
              <a:t>nOfAnimals</a:t>
            </a:r>
            <a:r>
              <a:rPr lang="en-US" altLang="en-US" sz="2000" dirty="0"/>
              <a:t>; </a:t>
            </a:r>
            <a:r>
              <a:rPr lang="en-US" altLang="en-US" sz="2000" dirty="0" err="1"/>
              <a:t>j++</a:t>
            </a:r>
            <a:r>
              <a:rPr lang="en-US" altLang="en-US" sz="2000" dirty="0"/>
              <a:t>)</a:t>
            </a:r>
          </a:p>
          <a:p>
            <a:pPr lvl="3">
              <a:lnSpc>
                <a:spcPct val="90000"/>
              </a:lnSpc>
              <a:buFontTx/>
              <a:buNone/>
            </a:pPr>
            <a:r>
              <a:rPr lang="en-US" altLang="en-US" sz="1800" dirty="0"/>
              <a:t>if (</a:t>
            </a:r>
            <a:r>
              <a:rPr lang="en-US" altLang="en-US" sz="1800" dirty="0" err="1"/>
              <a:t>someanimal</a:t>
            </a:r>
            <a:r>
              <a:rPr lang="en-US" altLang="en-US" sz="1800" dirty="0"/>
              <a:t>[j] </a:t>
            </a:r>
            <a:r>
              <a:rPr lang="en-US" altLang="en-US" sz="1800" dirty="0" err="1"/>
              <a:t>instanceof</a:t>
            </a:r>
            <a:r>
              <a:rPr lang="en-US" altLang="en-US" sz="1800" dirty="0"/>
              <a:t> Cat) {</a:t>
            </a:r>
          </a:p>
          <a:p>
            <a:pPr lvl="4">
              <a:lnSpc>
                <a:spcPct val="90000"/>
              </a:lnSpc>
              <a:buFontTx/>
              <a:buNone/>
            </a:pPr>
            <a:r>
              <a:rPr lang="en-US" altLang="en-US" sz="1800" dirty="0"/>
              <a:t>Cat </a:t>
            </a:r>
            <a:r>
              <a:rPr lang="en-US" altLang="en-US" sz="1800" dirty="0" err="1"/>
              <a:t>somecat</a:t>
            </a:r>
            <a:r>
              <a:rPr lang="en-US" altLang="en-US" sz="1800" dirty="0"/>
              <a:t> = (Cat) </a:t>
            </a:r>
            <a:r>
              <a:rPr lang="en-US" altLang="en-US" sz="1800" dirty="0" err="1"/>
              <a:t>someanimal</a:t>
            </a:r>
            <a:r>
              <a:rPr lang="en-US" altLang="en-US" sz="1800" dirty="0"/>
              <a:t>[j];</a:t>
            </a:r>
          </a:p>
          <a:p>
            <a:pPr lvl="4">
              <a:lnSpc>
                <a:spcPct val="90000"/>
              </a:lnSpc>
              <a:buFontTx/>
              <a:buNone/>
            </a:pPr>
            <a:r>
              <a:rPr lang="en-US" altLang="en-US" sz="1800" dirty="0" err="1"/>
              <a:t>somecat.motion</a:t>
            </a:r>
            <a:r>
              <a:rPr lang="en-US" altLang="en-US" sz="1800" dirty="0"/>
              <a:t>();</a:t>
            </a:r>
          </a:p>
          <a:p>
            <a:pPr lvl="3">
              <a:lnSpc>
                <a:spcPct val="90000"/>
              </a:lnSpc>
              <a:buFontTx/>
              <a:buNone/>
            </a:pPr>
            <a:r>
              <a:rPr lang="en-US" altLang="en-US" sz="1800" dirty="0"/>
              <a:t>}</a:t>
            </a:r>
          </a:p>
          <a:p>
            <a:pPr lvl="2">
              <a:lnSpc>
                <a:spcPct val="90000"/>
              </a:lnSpc>
            </a:pPr>
            <a:r>
              <a:rPr lang="en-US" altLang="en-US" sz="2000" dirty="0"/>
              <a:t>or</a:t>
            </a:r>
          </a:p>
          <a:p>
            <a:pPr lvl="2">
              <a:lnSpc>
                <a:spcPct val="90000"/>
              </a:lnSpc>
              <a:buFont typeface="Monotype Sorts" pitchFamily="2" charset="2"/>
              <a:buNone/>
            </a:pPr>
            <a:r>
              <a:rPr lang="en-US" altLang="en-US" sz="2000" dirty="0"/>
              <a:t>for (int j =0; j&lt; </a:t>
            </a:r>
            <a:r>
              <a:rPr lang="en-US" altLang="en-US" sz="2000" dirty="0" err="1"/>
              <a:t>nOfAnimals</a:t>
            </a:r>
            <a:r>
              <a:rPr lang="en-US" altLang="en-US" sz="2000" dirty="0"/>
              <a:t>; </a:t>
            </a:r>
            <a:r>
              <a:rPr lang="en-US" altLang="en-US" sz="2000" dirty="0" err="1"/>
              <a:t>j++</a:t>
            </a:r>
            <a:r>
              <a:rPr lang="en-US" altLang="en-US" sz="2000" dirty="0"/>
              <a:t>) </a:t>
            </a:r>
          </a:p>
          <a:p>
            <a:pPr lvl="3">
              <a:lnSpc>
                <a:spcPct val="90000"/>
              </a:lnSpc>
              <a:buFontTx/>
              <a:buNone/>
            </a:pPr>
            <a:r>
              <a:rPr lang="en-US" altLang="en-US" sz="1800" dirty="0"/>
              <a:t>if (</a:t>
            </a:r>
            <a:r>
              <a:rPr lang="en-US" altLang="en-US" sz="1800" dirty="0" err="1"/>
              <a:t>someanimal</a:t>
            </a:r>
            <a:r>
              <a:rPr lang="en-US" altLang="en-US" sz="1800" dirty="0"/>
              <a:t>[j] instance of Cat)</a:t>
            </a:r>
          </a:p>
          <a:p>
            <a:pPr lvl="4">
              <a:lnSpc>
                <a:spcPct val="90000"/>
              </a:lnSpc>
              <a:buFontTx/>
              <a:buNone/>
            </a:pPr>
            <a:r>
              <a:rPr lang="en-US" altLang="en-US" sz="1800" b="1" dirty="0"/>
              <a:t>(</a:t>
            </a:r>
            <a:r>
              <a:rPr lang="en-US" altLang="en-US" sz="1800" dirty="0"/>
              <a:t>(Cat)</a:t>
            </a:r>
            <a:r>
              <a:rPr lang="en-US" altLang="en-US" sz="1800" dirty="0" err="1"/>
              <a:t>someanimal</a:t>
            </a:r>
            <a:r>
              <a:rPr lang="en-US" altLang="en-US" sz="1800" dirty="0"/>
              <a:t>[j]</a:t>
            </a:r>
            <a:r>
              <a:rPr lang="en-US" altLang="en-US" sz="1800" b="1" dirty="0"/>
              <a:t>)</a:t>
            </a:r>
            <a:r>
              <a:rPr lang="en-US" altLang="en-US" sz="1800" dirty="0"/>
              <a:t>.motion();</a:t>
            </a:r>
          </a:p>
        </p:txBody>
      </p:sp>
      <p:sp>
        <p:nvSpPr>
          <p:cNvPr id="2" name="مستطيل 1">
            <a:extLst>
              <a:ext uri="{FF2B5EF4-FFF2-40B4-BE49-F238E27FC236}">
                <a16:creationId xmlns:a16="http://schemas.microsoft.com/office/drawing/2014/main" id="{4EBEE5AB-D2BE-57F2-D187-43DAE15607F3}"/>
              </a:ext>
            </a:extLst>
          </p:cNvPr>
          <p:cNvSpPr/>
          <p:nvPr/>
        </p:nvSpPr>
        <p:spPr>
          <a:xfrm>
            <a:off x="6604000" y="1131454"/>
            <a:ext cx="5264727" cy="182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dirty="0"/>
              <a:t>Animal[] </a:t>
            </a:r>
            <a:r>
              <a:rPr lang="en-US" dirty="0" err="1"/>
              <a:t>someanimal</a:t>
            </a:r>
            <a:r>
              <a:rPr lang="en-US" dirty="0"/>
              <a:t> = new Animal[</a:t>
            </a:r>
            <a:r>
              <a:rPr lang="en-US" dirty="0" err="1"/>
              <a:t>nOfAnimals</a:t>
            </a:r>
            <a:r>
              <a:rPr lang="en-US" dirty="0"/>
              <a:t>];</a:t>
            </a:r>
          </a:p>
          <a:p>
            <a:r>
              <a:rPr lang="en-US" dirty="0" err="1"/>
              <a:t>someanimal</a:t>
            </a:r>
            <a:r>
              <a:rPr lang="en-US" dirty="0"/>
              <a:t>[0] ──► Cat object</a:t>
            </a:r>
          </a:p>
          <a:p>
            <a:r>
              <a:rPr lang="en-US" dirty="0" err="1"/>
              <a:t>someanimal</a:t>
            </a:r>
            <a:r>
              <a:rPr lang="en-US" dirty="0"/>
              <a:t>[1] ──► Bird object</a:t>
            </a:r>
          </a:p>
          <a:p>
            <a:r>
              <a:rPr lang="en-US" dirty="0" err="1"/>
              <a:t>someanimal</a:t>
            </a:r>
            <a:r>
              <a:rPr lang="en-US" dirty="0"/>
              <a:t>[2] ──► Cat object</a:t>
            </a:r>
          </a:p>
          <a:p>
            <a:r>
              <a:rPr lang="en-US" dirty="0" err="1"/>
              <a:t>someanimal</a:t>
            </a:r>
            <a:r>
              <a:rPr lang="en-US" dirty="0"/>
              <a:t>[3] ──► Dog object</a:t>
            </a:r>
            <a:endParaRPr lang="ar-SA" dirty="0"/>
          </a:p>
        </p:txBody>
      </p:sp>
      <p:sp>
        <p:nvSpPr>
          <p:cNvPr id="3" name="مستطيل 2">
            <a:extLst>
              <a:ext uri="{FF2B5EF4-FFF2-40B4-BE49-F238E27FC236}">
                <a16:creationId xmlns:a16="http://schemas.microsoft.com/office/drawing/2014/main" id="{9CAE99AA-7C5B-3E48-281E-DFD865540AE7}"/>
              </a:ext>
            </a:extLst>
          </p:cNvPr>
          <p:cNvSpPr/>
          <p:nvPr/>
        </p:nvSpPr>
        <p:spPr>
          <a:xfrm>
            <a:off x="6604000" y="3260436"/>
            <a:ext cx="5264727" cy="1320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ar-SA" dirty="0" err="1"/>
              <a:t>You</a:t>
            </a:r>
            <a:r>
              <a:rPr lang="ar-SA" dirty="0"/>
              <a:t> </a:t>
            </a:r>
            <a:r>
              <a:rPr lang="ar-SA" dirty="0" err="1"/>
              <a:t>might</a:t>
            </a:r>
            <a:r>
              <a:rPr lang="ar-SA" dirty="0"/>
              <a:t> </a:t>
            </a:r>
            <a:r>
              <a:rPr lang="ar-SA" dirty="0" err="1"/>
              <a:t>ask</a:t>
            </a:r>
            <a:r>
              <a:rPr lang="ar-SA" dirty="0"/>
              <a:t>:</a:t>
            </a:r>
          </a:p>
          <a:p>
            <a:r>
              <a:rPr lang="ar-SA" dirty="0"/>
              <a:t>"</a:t>
            </a:r>
            <a:r>
              <a:rPr lang="ar-SA" dirty="0" err="1"/>
              <a:t>But</a:t>
            </a:r>
            <a:r>
              <a:rPr lang="ar-SA" dirty="0"/>
              <a:t> </a:t>
            </a:r>
            <a:r>
              <a:rPr lang="ar-SA" dirty="0" err="1"/>
              <a:t>Java</a:t>
            </a:r>
            <a:r>
              <a:rPr lang="ar-SA" dirty="0"/>
              <a:t> </a:t>
            </a:r>
            <a:r>
              <a:rPr lang="ar-SA" dirty="0" err="1"/>
              <a:t>has</a:t>
            </a:r>
            <a:r>
              <a:rPr lang="ar-SA" dirty="0"/>
              <a:t> </a:t>
            </a:r>
            <a:r>
              <a:rPr lang="ar-SA" dirty="0" err="1"/>
              <a:t>just</a:t>
            </a:r>
            <a:r>
              <a:rPr lang="ar-SA" dirty="0"/>
              <a:t> </a:t>
            </a:r>
            <a:r>
              <a:rPr lang="ar-SA" dirty="0" err="1"/>
              <a:t>checked</a:t>
            </a:r>
            <a:r>
              <a:rPr lang="ar-SA" dirty="0"/>
              <a:t> </a:t>
            </a:r>
            <a:r>
              <a:rPr lang="ar-SA" dirty="0" err="1"/>
              <a:t>that</a:t>
            </a:r>
            <a:r>
              <a:rPr lang="ar-SA" dirty="0"/>
              <a:t> </a:t>
            </a:r>
            <a:r>
              <a:rPr lang="ar-SA" dirty="0" err="1"/>
              <a:t>the</a:t>
            </a:r>
            <a:r>
              <a:rPr lang="ar-SA" dirty="0"/>
              <a:t> </a:t>
            </a:r>
            <a:r>
              <a:rPr lang="ar-SA" dirty="0" err="1"/>
              <a:t>object</a:t>
            </a:r>
            <a:r>
              <a:rPr lang="ar-SA" dirty="0"/>
              <a:t> </a:t>
            </a:r>
            <a:r>
              <a:rPr lang="ar-SA" dirty="0" err="1"/>
              <a:t>is</a:t>
            </a:r>
            <a:r>
              <a:rPr lang="ar-SA" dirty="0"/>
              <a:t> a </a:t>
            </a:r>
            <a:r>
              <a:rPr lang="ar-SA" dirty="0" err="1"/>
              <a:t>Cat</a:t>
            </a:r>
            <a:r>
              <a:rPr lang="ar-SA" dirty="0"/>
              <a:t>. </a:t>
            </a:r>
            <a:r>
              <a:rPr lang="ar-SA" dirty="0" err="1"/>
              <a:t>Why</a:t>
            </a:r>
            <a:r>
              <a:rPr lang="ar-SA" dirty="0"/>
              <a:t> </a:t>
            </a:r>
            <a:r>
              <a:rPr lang="ar-SA" dirty="0" err="1"/>
              <a:t>can't</a:t>
            </a:r>
            <a:r>
              <a:rPr lang="ar-SA" dirty="0"/>
              <a:t> I </a:t>
            </a:r>
            <a:r>
              <a:rPr lang="ar-SA" dirty="0" err="1"/>
              <a:t>call</a:t>
            </a:r>
            <a:r>
              <a:rPr lang="ar-SA" dirty="0"/>
              <a:t> </a:t>
            </a:r>
            <a:r>
              <a:rPr lang="ar-SA" dirty="0" err="1"/>
              <a:t>motio</a:t>
            </a:r>
            <a:r>
              <a:rPr lang="en-US" dirty="0"/>
              <a:t>n?</a:t>
            </a:r>
            <a:endParaRPr lang="ar-SA" dirty="0"/>
          </a:p>
        </p:txBody>
      </p:sp>
      <p:sp>
        <p:nvSpPr>
          <p:cNvPr id="4" name="مستطيل 3">
            <a:extLst>
              <a:ext uri="{FF2B5EF4-FFF2-40B4-BE49-F238E27FC236}">
                <a16:creationId xmlns:a16="http://schemas.microsoft.com/office/drawing/2014/main" id="{C31CBC10-15BA-4DFB-2318-137A0060B221}"/>
              </a:ext>
            </a:extLst>
          </p:cNvPr>
          <p:cNvSpPr/>
          <p:nvPr/>
        </p:nvSpPr>
        <p:spPr>
          <a:xfrm>
            <a:off x="6604000" y="4830618"/>
            <a:ext cx="5264727" cy="12007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dirty="0" err="1"/>
              <a:t>If</a:t>
            </a:r>
            <a:r>
              <a:rPr lang="ar-SA" dirty="0"/>
              <a:t> </a:t>
            </a:r>
            <a:r>
              <a:rPr lang="ar-SA" dirty="0" err="1"/>
              <a:t>motion</a:t>
            </a:r>
            <a:r>
              <a:rPr lang="ar-SA" dirty="0"/>
              <a:t>() </a:t>
            </a:r>
            <a:r>
              <a:rPr lang="ar-SA" dirty="0" err="1"/>
              <a:t>exists</a:t>
            </a:r>
            <a:r>
              <a:rPr lang="ar-SA" dirty="0"/>
              <a:t> </a:t>
            </a:r>
            <a:r>
              <a:rPr lang="ar-SA" b="1" dirty="0" err="1"/>
              <a:t>only</a:t>
            </a:r>
            <a:r>
              <a:rPr lang="ar-SA" b="1" dirty="0"/>
              <a:t> </a:t>
            </a:r>
            <a:r>
              <a:rPr lang="ar-SA" b="1" dirty="0" err="1"/>
              <a:t>in</a:t>
            </a:r>
            <a:r>
              <a:rPr lang="ar-SA" b="1" dirty="0"/>
              <a:t> </a:t>
            </a:r>
            <a:r>
              <a:rPr lang="ar-SA" b="1" dirty="0" err="1"/>
              <a:t>Cat</a:t>
            </a:r>
            <a:r>
              <a:rPr lang="ar-SA" b="1" dirty="0"/>
              <a:t> </a:t>
            </a:r>
            <a:r>
              <a:rPr lang="ar-SA" b="1" dirty="0" err="1"/>
              <a:t>and</a:t>
            </a:r>
            <a:r>
              <a:rPr lang="ar-SA" b="1" dirty="0"/>
              <a:t> </a:t>
            </a:r>
            <a:r>
              <a:rPr lang="ar-SA" b="1" dirty="0" err="1"/>
              <a:t>not</a:t>
            </a:r>
            <a:r>
              <a:rPr lang="ar-SA" b="1" dirty="0"/>
              <a:t> </a:t>
            </a:r>
            <a:r>
              <a:rPr lang="ar-SA" b="1" dirty="0" err="1"/>
              <a:t>in</a:t>
            </a:r>
            <a:r>
              <a:rPr lang="ar-SA" b="1" dirty="0"/>
              <a:t> </a:t>
            </a:r>
            <a:r>
              <a:rPr lang="ar-SA" b="1" dirty="0" err="1"/>
              <a:t>Animal</a:t>
            </a:r>
            <a:r>
              <a:rPr lang="ar-SA" dirty="0"/>
              <a:t>, </a:t>
            </a:r>
            <a:r>
              <a:rPr lang="ar-SA" dirty="0" err="1"/>
              <a:t>the</a:t>
            </a:r>
            <a:r>
              <a:rPr lang="ar-SA" dirty="0"/>
              <a:t> </a:t>
            </a:r>
            <a:r>
              <a:rPr lang="ar-SA" dirty="0" err="1"/>
              <a:t>compiler</a:t>
            </a:r>
            <a:r>
              <a:rPr lang="ar-SA" dirty="0"/>
              <a:t> </a:t>
            </a:r>
            <a:r>
              <a:rPr lang="ar-SA" dirty="0" err="1"/>
              <a:t>cannot</a:t>
            </a:r>
            <a:r>
              <a:rPr lang="ar-SA" dirty="0"/>
              <a:t> </a:t>
            </a:r>
            <a:r>
              <a:rPr lang="ar-SA" dirty="0" err="1"/>
              <a:t>allow</a:t>
            </a:r>
            <a:r>
              <a:rPr lang="en-US" dirty="0"/>
              <a:t> </a:t>
            </a:r>
          </a:p>
          <a:p>
            <a:pPr algn="ctr"/>
            <a:r>
              <a:rPr lang="en-US" dirty="0" err="1"/>
              <a:t>someanimal</a:t>
            </a:r>
            <a:r>
              <a:rPr lang="en-US" dirty="0"/>
              <a:t>[j].motion();</a:t>
            </a:r>
            <a:endParaRPr lang="ar-SA"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40</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Packages</a:t>
            </a:r>
          </a:p>
        </p:txBody>
      </p:sp>
      <p:pic>
        <p:nvPicPr>
          <p:cNvPr id="10" name="Picture 9">
            <a:extLst>
              <a:ext uri="{FF2B5EF4-FFF2-40B4-BE49-F238E27FC236}">
                <a16:creationId xmlns:a16="http://schemas.microsoft.com/office/drawing/2014/main" id="{8D08546D-9001-44A5-8092-32E756A1DFBF}"/>
              </a:ext>
            </a:extLst>
          </p:cNvPr>
          <p:cNvPicPr>
            <a:picLocks noChangeAspect="1"/>
          </p:cNvPicPr>
          <p:nvPr/>
        </p:nvPicPr>
        <p:blipFill rotWithShape="1">
          <a:blip r:embed="rId2"/>
          <a:srcRect l="11279" t="22146" r="14445" b="36324"/>
          <a:stretch/>
        </p:blipFill>
        <p:spPr>
          <a:xfrm>
            <a:off x="251560" y="2030107"/>
            <a:ext cx="11130176" cy="3498823"/>
          </a:xfrm>
          <a:prstGeom prst="rect">
            <a:avLst/>
          </a:prstGeom>
        </p:spPr>
      </p:pic>
    </p:spTree>
    <p:extLst>
      <p:ext uri="{BB962C8B-B14F-4D97-AF65-F5344CB8AC3E}">
        <p14:creationId xmlns:p14="http://schemas.microsoft.com/office/powerpoint/2010/main" val="111294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41</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Packages</a:t>
            </a:r>
          </a:p>
        </p:txBody>
      </p:sp>
      <p:pic>
        <p:nvPicPr>
          <p:cNvPr id="3" name="Picture 2">
            <a:extLst>
              <a:ext uri="{FF2B5EF4-FFF2-40B4-BE49-F238E27FC236}">
                <a16:creationId xmlns:a16="http://schemas.microsoft.com/office/drawing/2014/main" id="{F5E6F96E-3E2C-4D26-A6BE-0608C0BF31CD}"/>
              </a:ext>
            </a:extLst>
          </p:cNvPr>
          <p:cNvPicPr>
            <a:picLocks noChangeAspect="1"/>
          </p:cNvPicPr>
          <p:nvPr/>
        </p:nvPicPr>
        <p:blipFill rotWithShape="1">
          <a:blip r:embed="rId2"/>
          <a:srcRect l="11047" t="22146" r="15916" b="21847"/>
          <a:stretch/>
        </p:blipFill>
        <p:spPr>
          <a:xfrm>
            <a:off x="524539" y="1874165"/>
            <a:ext cx="10251600" cy="4419696"/>
          </a:xfrm>
          <a:prstGeom prst="rect">
            <a:avLst/>
          </a:prstGeom>
        </p:spPr>
      </p:pic>
    </p:spTree>
    <p:extLst>
      <p:ext uri="{BB962C8B-B14F-4D97-AF65-F5344CB8AC3E}">
        <p14:creationId xmlns:p14="http://schemas.microsoft.com/office/powerpoint/2010/main" val="2330580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42</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Packages</a:t>
            </a:r>
          </a:p>
        </p:txBody>
      </p:sp>
      <p:pic>
        <p:nvPicPr>
          <p:cNvPr id="6" name="Picture 5">
            <a:extLst>
              <a:ext uri="{FF2B5EF4-FFF2-40B4-BE49-F238E27FC236}">
                <a16:creationId xmlns:a16="http://schemas.microsoft.com/office/drawing/2014/main" id="{D7A9196A-7D81-4AC1-BC7B-85218D0F1688}"/>
              </a:ext>
            </a:extLst>
          </p:cNvPr>
          <p:cNvPicPr>
            <a:picLocks noChangeAspect="1"/>
          </p:cNvPicPr>
          <p:nvPr/>
        </p:nvPicPr>
        <p:blipFill rotWithShape="1">
          <a:blip r:embed="rId2"/>
          <a:srcRect l="11628" t="20658" r="13372" b="11736"/>
          <a:stretch/>
        </p:blipFill>
        <p:spPr>
          <a:xfrm>
            <a:off x="836429" y="1791234"/>
            <a:ext cx="9299943" cy="4713212"/>
          </a:xfrm>
          <a:prstGeom prst="rect">
            <a:avLst/>
          </a:prstGeom>
        </p:spPr>
      </p:pic>
    </p:spTree>
    <p:extLst>
      <p:ext uri="{BB962C8B-B14F-4D97-AF65-F5344CB8AC3E}">
        <p14:creationId xmlns:p14="http://schemas.microsoft.com/office/powerpoint/2010/main" val="17457745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43</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Packages</a:t>
            </a:r>
          </a:p>
        </p:txBody>
      </p:sp>
      <p:pic>
        <p:nvPicPr>
          <p:cNvPr id="3" name="Picture 2">
            <a:extLst>
              <a:ext uri="{FF2B5EF4-FFF2-40B4-BE49-F238E27FC236}">
                <a16:creationId xmlns:a16="http://schemas.microsoft.com/office/drawing/2014/main" id="{23CE2948-119B-43E1-B625-BD644BA13E5A}"/>
              </a:ext>
            </a:extLst>
          </p:cNvPr>
          <p:cNvPicPr>
            <a:picLocks noChangeAspect="1"/>
          </p:cNvPicPr>
          <p:nvPr/>
        </p:nvPicPr>
        <p:blipFill rotWithShape="1">
          <a:blip r:embed="rId2"/>
          <a:srcRect l="14617" t="24198" r="14569" b="11711"/>
          <a:stretch/>
        </p:blipFill>
        <p:spPr>
          <a:xfrm>
            <a:off x="666306" y="1658679"/>
            <a:ext cx="9186423" cy="4674456"/>
          </a:xfrm>
          <a:prstGeom prst="rect">
            <a:avLst/>
          </a:prstGeom>
        </p:spPr>
      </p:pic>
    </p:spTree>
    <p:extLst>
      <p:ext uri="{BB962C8B-B14F-4D97-AF65-F5344CB8AC3E}">
        <p14:creationId xmlns:p14="http://schemas.microsoft.com/office/powerpoint/2010/main" val="32436679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44</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Packages: the final and abstract Modifiers</a:t>
            </a:r>
          </a:p>
        </p:txBody>
      </p:sp>
      <p:pic>
        <p:nvPicPr>
          <p:cNvPr id="8" name="Picture 7">
            <a:extLst>
              <a:ext uri="{FF2B5EF4-FFF2-40B4-BE49-F238E27FC236}">
                <a16:creationId xmlns:a16="http://schemas.microsoft.com/office/drawing/2014/main" id="{ADE18463-0031-4FE7-96A9-E7523DF06EBF}"/>
              </a:ext>
            </a:extLst>
          </p:cNvPr>
          <p:cNvPicPr>
            <a:picLocks noChangeAspect="1"/>
          </p:cNvPicPr>
          <p:nvPr/>
        </p:nvPicPr>
        <p:blipFill rotWithShape="1">
          <a:blip r:embed="rId2"/>
          <a:srcRect l="15466" t="26242" r="19185" b="13988"/>
          <a:stretch/>
        </p:blipFill>
        <p:spPr>
          <a:xfrm>
            <a:off x="354417" y="1729565"/>
            <a:ext cx="9753601" cy="5015641"/>
          </a:xfrm>
          <a:prstGeom prst="rect">
            <a:avLst/>
          </a:prstGeom>
        </p:spPr>
      </p:pic>
    </p:spTree>
    <p:extLst>
      <p:ext uri="{BB962C8B-B14F-4D97-AF65-F5344CB8AC3E}">
        <p14:creationId xmlns:p14="http://schemas.microsoft.com/office/powerpoint/2010/main" val="2295117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45</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Interfaces</a:t>
            </a:r>
          </a:p>
        </p:txBody>
      </p:sp>
      <p:pic>
        <p:nvPicPr>
          <p:cNvPr id="6" name="Picture 5">
            <a:extLst>
              <a:ext uri="{FF2B5EF4-FFF2-40B4-BE49-F238E27FC236}">
                <a16:creationId xmlns:a16="http://schemas.microsoft.com/office/drawing/2014/main" id="{510DE447-3EA0-4BDB-A854-808C5560D885}"/>
              </a:ext>
            </a:extLst>
          </p:cNvPr>
          <p:cNvPicPr>
            <a:picLocks noChangeAspect="1"/>
          </p:cNvPicPr>
          <p:nvPr/>
        </p:nvPicPr>
        <p:blipFill rotWithShape="1">
          <a:blip r:embed="rId2"/>
          <a:srcRect l="15465" t="38444" r="17209" b="20192"/>
          <a:stretch/>
        </p:blipFill>
        <p:spPr>
          <a:xfrm>
            <a:off x="723014" y="1715387"/>
            <a:ext cx="10506663" cy="3629245"/>
          </a:xfrm>
          <a:prstGeom prst="rect">
            <a:avLst/>
          </a:prstGeom>
        </p:spPr>
      </p:pic>
    </p:spTree>
    <p:extLst>
      <p:ext uri="{BB962C8B-B14F-4D97-AF65-F5344CB8AC3E}">
        <p14:creationId xmlns:p14="http://schemas.microsoft.com/office/powerpoint/2010/main" val="820960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46</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Interfaces</a:t>
            </a:r>
          </a:p>
        </p:txBody>
      </p:sp>
      <p:pic>
        <p:nvPicPr>
          <p:cNvPr id="3" name="Picture 2">
            <a:extLst>
              <a:ext uri="{FF2B5EF4-FFF2-40B4-BE49-F238E27FC236}">
                <a16:creationId xmlns:a16="http://schemas.microsoft.com/office/drawing/2014/main" id="{001D172C-C6E3-4EC4-BCA5-70DDD7199903}"/>
              </a:ext>
            </a:extLst>
          </p:cNvPr>
          <p:cNvPicPr>
            <a:picLocks noChangeAspect="1"/>
          </p:cNvPicPr>
          <p:nvPr/>
        </p:nvPicPr>
        <p:blipFill rotWithShape="1">
          <a:blip r:embed="rId2"/>
          <a:srcRect l="14767" t="28103" r="25930" b="9851"/>
          <a:stretch/>
        </p:blipFill>
        <p:spPr>
          <a:xfrm>
            <a:off x="666306" y="1798830"/>
            <a:ext cx="8222513" cy="4836773"/>
          </a:xfrm>
          <a:prstGeom prst="rect">
            <a:avLst/>
          </a:prstGeom>
        </p:spPr>
      </p:pic>
    </p:spTree>
    <p:extLst>
      <p:ext uri="{BB962C8B-B14F-4D97-AF65-F5344CB8AC3E}">
        <p14:creationId xmlns:p14="http://schemas.microsoft.com/office/powerpoint/2010/main" val="3414103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47</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Interfaces</a:t>
            </a:r>
          </a:p>
        </p:txBody>
      </p:sp>
      <p:pic>
        <p:nvPicPr>
          <p:cNvPr id="6" name="Picture 5">
            <a:extLst>
              <a:ext uri="{FF2B5EF4-FFF2-40B4-BE49-F238E27FC236}">
                <a16:creationId xmlns:a16="http://schemas.microsoft.com/office/drawing/2014/main" id="{8FEF5E4A-C0E6-4CDD-B383-FA6D10FA5FC0}"/>
              </a:ext>
            </a:extLst>
          </p:cNvPr>
          <p:cNvPicPr>
            <a:picLocks noChangeAspect="1"/>
          </p:cNvPicPr>
          <p:nvPr/>
        </p:nvPicPr>
        <p:blipFill rotWithShape="1">
          <a:blip r:embed="rId2"/>
          <a:srcRect l="18837" t="24794" r="17790" b="11737"/>
          <a:stretch/>
        </p:blipFill>
        <p:spPr>
          <a:xfrm>
            <a:off x="793897" y="1814623"/>
            <a:ext cx="8732875" cy="4917424"/>
          </a:xfrm>
          <a:prstGeom prst="rect">
            <a:avLst/>
          </a:prstGeom>
        </p:spPr>
      </p:pic>
    </p:spTree>
    <p:extLst>
      <p:ext uri="{BB962C8B-B14F-4D97-AF65-F5344CB8AC3E}">
        <p14:creationId xmlns:p14="http://schemas.microsoft.com/office/powerpoint/2010/main" val="1286912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48</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Interfaces</a:t>
            </a:r>
          </a:p>
        </p:txBody>
      </p:sp>
      <p:pic>
        <p:nvPicPr>
          <p:cNvPr id="3" name="Picture 2">
            <a:extLst>
              <a:ext uri="{FF2B5EF4-FFF2-40B4-BE49-F238E27FC236}">
                <a16:creationId xmlns:a16="http://schemas.microsoft.com/office/drawing/2014/main" id="{FBC0A161-C733-4AD0-AE3B-688097C8C3CD}"/>
              </a:ext>
            </a:extLst>
          </p:cNvPr>
          <p:cNvPicPr>
            <a:picLocks noChangeAspect="1"/>
          </p:cNvPicPr>
          <p:nvPr/>
        </p:nvPicPr>
        <p:blipFill rotWithShape="1">
          <a:blip r:embed="rId2"/>
          <a:srcRect l="15464" t="22146" r="20699" b="20192"/>
          <a:stretch/>
        </p:blipFill>
        <p:spPr>
          <a:xfrm>
            <a:off x="850605" y="1803282"/>
            <a:ext cx="9580209" cy="4865141"/>
          </a:xfrm>
          <a:prstGeom prst="rect">
            <a:avLst/>
          </a:prstGeom>
        </p:spPr>
      </p:pic>
    </p:spTree>
    <p:extLst>
      <p:ext uri="{BB962C8B-B14F-4D97-AF65-F5344CB8AC3E}">
        <p14:creationId xmlns:p14="http://schemas.microsoft.com/office/powerpoint/2010/main" val="2985496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49</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Exercise 1</a:t>
            </a:r>
          </a:p>
        </p:txBody>
      </p:sp>
      <p:sp>
        <p:nvSpPr>
          <p:cNvPr id="6" name="TextBox 5">
            <a:extLst>
              <a:ext uri="{FF2B5EF4-FFF2-40B4-BE49-F238E27FC236}">
                <a16:creationId xmlns:a16="http://schemas.microsoft.com/office/drawing/2014/main" id="{DA22A4C3-3A11-48F7-85E8-E7E21B9DA5E1}"/>
              </a:ext>
            </a:extLst>
          </p:cNvPr>
          <p:cNvSpPr txBox="1"/>
          <p:nvPr/>
        </p:nvSpPr>
        <p:spPr>
          <a:xfrm>
            <a:off x="251984" y="1785046"/>
            <a:ext cx="11688033" cy="4305409"/>
          </a:xfrm>
          <a:prstGeom prst="rect">
            <a:avLst/>
          </a:prstGeom>
          <a:noFill/>
        </p:spPr>
        <p:txBody>
          <a:bodyPr wrap="square">
            <a:spAutoFit/>
          </a:bodyPr>
          <a:lstStyle/>
          <a:p>
            <a:pPr algn="just">
              <a:lnSpc>
                <a:spcPct val="150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Let the abstract class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Person</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It is characterized by a protected attribute </a:t>
            </a:r>
            <a:r>
              <a:rPr lang="en-US" sz="1600"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coordinates</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of the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Coordinates</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type indicating the coordinates of a person, and by an </a:t>
            </a:r>
            <a:r>
              <a:rPr lang="en-US" sz="1600"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integer</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nbPerson</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indicating the number of people. This class has as services an abstract method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writePerson</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 allowing to display the coordinates of a person, and a method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ModifyAddress</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(String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addr</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allowing to modify the address of this person and to display its characteristics.</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Let the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Secretary</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class extend the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Person</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class and have two private attributes </a:t>
            </a:r>
            <a:r>
              <a:rPr lang="en-US" sz="1600"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String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officeNumber</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and an </a:t>
            </a:r>
            <a:r>
              <a:rPr lang="en-US" sz="1600"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integer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nbSecretary</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indicating the number of secretaries.</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Let the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Teacher</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class extend the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Person</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class and have two private attributes </a:t>
            </a:r>
            <a:r>
              <a:rPr lang="en-US" sz="1600"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String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specialite</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indicating the teacher's specialty, and an </a:t>
            </a:r>
            <a:r>
              <a:rPr lang="en-US" sz="1600"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integer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nbTeacher</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indicating the number of teachers.</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Modify the </a:t>
            </a:r>
            <a:r>
              <a:rPr lang="en-US" sz="1600" b="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Coordinates</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class by adding the public method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setAddress</a:t>
            </a:r>
            <a:r>
              <a:rPr lang="en-US" sz="1600"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(String </a:t>
            </a:r>
            <a:r>
              <a:rPr lang="en-US" sz="1600"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adr</a:t>
            </a:r>
            <a:r>
              <a:rPr lang="en-US" sz="1600"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which allows you to modify the address of this class.</a:t>
            </a:r>
            <a:endParaRPr lang="en-US" sz="1467" dirty="0">
              <a:latin typeface="Calibri" panose="020F0502020204030204" pitchFamily="34" charset="0"/>
              <a:ea typeface="Calibri" panose="020F0502020204030204" pitchFamily="34" charset="0"/>
              <a:cs typeface="Arial" panose="020B0604020202020204" pitchFamily="34" charset="0"/>
            </a:endParaRPr>
          </a:p>
          <a:p>
            <a:pPr>
              <a:lnSpc>
                <a:spcPct val="150000"/>
              </a:lnSpc>
            </a:pPr>
            <a:r>
              <a:rPr lang="en-US" sz="1600" dirty="0">
                <a:solidFill>
                  <a:srgbClr val="202124"/>
                </a:solidFill>
                <a:latin typeface="Times New Roman" panose="02020603050405020304" pitchFamily="18" charset="0"/>
                <a:ea typeface="Times New Roman" panose="02020603050405020304" pitchFamily="18" charset="0"/>
              </a:rPr>
              <a:t>Note that all the classes respect the hierarchy in the figure below.</a:t>
            </a:r>
            <a:endParaRPr lang="en-US" sz="2400" dirty="0"/>
          </a:p>
        </p:txBody>
      </p:sp>
    </p:spTree>
    <p:extLst>
      <p:ext uri="{BB962C8B-B14F-4D97-AF65-F5344CB8AC3E}">
        <p14:creationId xmlns:p14="http://schemas.microsoft.com/office/powerpoint/2010/main" val="31961955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50</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Exercise 1</a:t>
            </a:r>
          </a:p>
        </p:txBody>
      </p:sp>
      <p:pic>
        <p:nvPicPr>
          <p:cNvPr id="3" name="Picture 2">
            <a:extLst>
              <a:ext uri="{FF2B5EF4-FFF2-40B4-BE49-F238E27FC236}">
                <a16:creationId xmlns:a16="http://schemas.microsoft.com/office/drawing/2014/main" id="{CBC7FBCF-4B86-424E-8F92-038DB1907420}"/>
              </a:ext>
            </a:extLst>
          </p:cNvPr>
          <p:cNvPicPr>
            <a:picLocks noChangeAspect="1"/>
          </p:cNvPicPr>
          <p:nvPr/>
        </p:nvPicPr>
        <p:blipFill rotWithShape="1">
          <a:blip r:embed="rId2"/>
          <a:srcRect l="15828" r="25355"/>
          <a:stretch/>
        </p:blipFill>
        <p:spPr>
          <a:xfrm>
            <a:off x="2168781" y="2111621"/>
            <a:ext cx="7023346" cy="4108778"/>
          </a:xfrm>
          <a:prstGeom prst="rect">
            <a:avLst/>
          </a:prstGeom>
        </p:spPr>
      </p:pic>
    </p:spTree>
    <p:extLst>
      <p:ext uri="{BB962C8B-B14F-4D97-AF65-F5344CB8AC3E}">
        <p14:creationId xmlns:p14="http://schemas.microsoft.com/office/powerpoint/2010/main" val="42006624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51</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Exercise 2</a:t>
            </a:r>
          </a:p>
        </p:txBody>
      </p:sp>
      <p:sp>
        <p:nvSpPr>
          <p:cNvPr id="6" name="TextBox 5">
            <a:extLst>
              <a:ext uri="{FF2B5EF4-FFF2-40B4-BE49-F238E27FC236}">
                <a16:creationId xmlns:a16="http://schemas.microsoft.com/office/drawing/2014/main" id="{CA7CBBE0-50DC-49D9-B19E-C51A7BB8EFFD}"/>
              </a:ext>
            </a:extLst>
          </p:cNvPr>
          <p:cNvSpPr txBox="1"/>
          <p:nvPr/>
        </p:nvSpPr>
        <p:spPr>
          <a:xfrm>
            <a:off x="510363" y="2052393"/>
            <a:ext cx="9920451" cy="3823867"/>
          </a:xfrm>
          <a:prstGeom prst="rect">
            <a:avLst/>
          </a:prstGeom>
          <a:noFill/>
        </p:spPr>
        <p:txBody>
          <a:bodyPr wrap="square">
            <a:spAutoFit/>
          </a:bodyPr>
          <a:lstStyle/>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It is assumed that each geometric shape is characterized by a perimeter calculation method and an area calculation method. These two methods return a result of type double and do not take any parameters.</a:t>
            </a:r>
            <a:endParaRPr lang="en-US" sz="1600"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A circle is a geometric shape characterized by a center (of type Point) and a radius (of type double). You can modify the radius and return the radius value.</a:t>
            </a:r>
            <a:endParaRPr lang="en-US" sz="1600"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A rectangle is a geometric shape characterized by a length (double type) and a breadth (double type). You can change the length as you can change the width.</a:t>
            </a:r>
            <a:endParaRPr lang="en-US" sz="1600"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A point is characterized by its abscissa (of double type) and its ordinate (of double type).</a:t>
            </a:r>
            <a:endParaRPr lang="en-US" sz="1600"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b="1" i="1" u="sng"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Questions:</a:t>
            </a:r>
            <a:endParaRPr lang="en-US" sz="1600"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1) Define the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Point</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Shape</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Circle</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and </a:t>
            </a: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Rectangle</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classes</a:t>
            </a:r>
            <a:endParaRPr lang="en-US" sz="1600"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2) Write a small application as a </a:t>
            </a:r>
            <a:r>
              <a:rPr lang="en-US" sz="1600" b="1" i="1"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TestForm</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class that creates an object of each geometric shape and displays their area and perimeter.</a:t>
            </a:r>
            <a:endParaRPr lang="en-US" sz="16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217216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52</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Exercise 3</a:t>
            </a:r>
          </a:p>
        </p:txBody>
      </p:sp>
      <p:sp>
        <p:nvSpPr>
          <p:cNvPr id="7" name="TextBox 6">
            <a:extLst>
              <a:ext uri="{FF2B5EF4-FFF2-40B4-BE49-F238E27FC236}">
                <a16:creationId xmlns:a16="http://schemas.microsoft.com/office/drawing/2014/main" id="{938455D5-6C5F-412B-ACF9-6D60757873E3}"/>
              </a:ext>
            </a:extLst>
          </p:cNvPr>
          <p:cNvSpPr txBox="1"/>
          <p:nvPr/>
        </p:nvSpPr>
        <p:spPr>
          <a:xfrm>
            <a:off x="221744" y="2159684"/>
            <a:ext cx="11724168" cy="4172424"/>
          </a:xfrm>
          <a:prstGeom prst="rect">
            <a:avLst/>
          </a:prstGeom>
          <a:noFill/>
        </p:spPr>
        <p:txBody>
          <a:bodyPr wrap="square">
            <a:spAutoFit/>
          </a:bodyPr>
          <a:lstStyle/>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We ask to repeat the exercise 2, assuming that Shape is an interface. We also assume that the Circle class has a constructor with the following prototype:</a:t>
            </a:r>
            <a:endParaRPr lang="en-US" sz="1467" dirty="0">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1067"/>
              </a:spcAft>
            </a:pPr>
            <a:r>
              <a:rPr lang="en-US" sz="1600" b="1" i="1"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public Circle (double, Point)</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b="1" i="1" u="sng"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Questions:</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1) Define the Shape interface</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2) Define a Displayable interface including a void display () method</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3) Define the Point class which implements the Displayable interface</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4) Define the Circle and Rectangle classes which implement Shape and Displayable</a:t>
            </a:r>
            <a:endParaRPr lang="en-US" sz="1467" dirty="0">
              <a:latin typeface="Calibri" panose="020F0502020204030204" pitchFamily="34" charset="0"/>
              <a:ea typeface="Calibri" panose="020F0502020204030204" pitchFamily="34" charset="0"/>
              <a:cs typeface="Arial" panose="020B0604020202020204" pitchFamily="34" charset="0"/>
            </a:endParaRPr>
          </a:p>
          <a:p>
            <a:r>
              <a:rPr lang="en-US" sz="1600" dirty="0">
                <a:solidFill>
                  <a:srgbClr val="202124"/>
                </a:solidFill>
                <a:latin typeface="Times New Roman" panose="02020603050405020304" pitchFamily="18" charset="0"/>
                <a:ea typeface="Times New Roman" panose="02020603050405020304" pitchFamily="18" charset="0"/>
              </a:rPr>
              <a:t>5) Write a small application in the form of a </a:t>
            </a:r>
            <a:r>
              <a:rPr lang="en-US" sz="1600" dirty="0" err="1">
                <a:solidFill>
                  <a:srgbClr val="202124"/>
                </a:solidFill>
                <a:latin typeface="Times New Roman" panose="02020603050405020304" pitchFamily="18" charset="0"/>
                <a:ea typeface="Times New Roman" panose="02020603050405020304" pitchFamily="18" charset="0"/>
              </a:rPr>
              <a:t>TestFormInterface</a:t>
            </a:r>
            <a:r>
              <a:rPr lang="en-US" sz="1600" dirty="0">
                <a:solidFill>
                  <a:srgbClr val="202124"/>
                </a:solidFill>
                <a:latin typeface="Times New Roman" panose="02020603050405020304" pitchFamily="18" charset="0"/>
                <a:ea typeface="Times New Roman" panose="02020603050405020304" pitchFamily="18" charset="0"/>
              </a:rPr>
              <a:t> class which allows you to declare an array (</a:t>
            </a:r>
            <a:r>
              <a:rPr lang="en-US" sz="1600" dirty="0" err="1">
                <a:solidFill>
                  <a:srgbClr val="202124"/>
                </a:solidFill>
                <a:latin typeface="Times New Roman" panose="02020603050405020304" pitchFamily="18" charset="0"/>
                <a:ea typeface="Times New Roman" panose="02020603050405020304" pitchFamily="18" charset="0"/>
              </a:rPr>
              <a:t>TabObjet</a:t>
            </a:r>
            <a:r>
              <a:rPr lang="en-US" sz="1600" dirty="0">
                <a:solidFill>
                  <a:srgbClr val="202124"/>
                </a:solidFill>
                <a:latin typeface="Times New Roman" panose="02020603050405020304" pitchFamily="18" charset="0"/>
                <a:ea typeface="Times New Roman" panose="02020603050405020304" pitchFamily="18" charset="0"/>
              </a:rPr>
              <a:t> []) of 3 Displayable type inputs. To create: a Point object and put its reference in the first entry, a Rectangle object and put its reference in the second entry and a Circle object and put its reference in the third entry. The circle object uses the point of the first entry in the array as the center. Display the characteristics of all the objects that are in the table.</a:t>
            </a:r>
            <a:endParaRPr lang="en-US" sz="2400" dirty="0"/>
          </a:p>
        </p:txBody>
      </p:sp>
    </p:spTree>
    <p:extLst>
      <p:ext uri="{BB962C8B-B14F-4D97-AF65-F5344CB8AC3E}">
        <p14:creationId xmlns:p14="http://schemas.microsoft.com/office/powerpoint/2010/main" val="190853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3CFDBC-59FC-4E15-8433-945425D02367}"/>
              </a:ext>
            </a:extLst>
          </p:cNvPr>
          <p:cNvSpPr>
            <a:spLocks noGrp="1"/>
          </p:cNvSpPr>
          <p:nvPr>
            <p:ph type="sldNum" idx="12"/>
          </p:nvPr>
        </p:nvSpPr>
        <p:spPr/>
        <p:txBody>
          <a:bodyPr/>
          <a:lstStyle/>
          <a:p>
            <a:fld id="{00000000-1234-1234-1234-123412341234}" type="slidenum">
              <a:rPr lang="en" smtClean="0"/>
              <a:pPr/>
              <a:t>53</a:t>
            </a:fld>
            <a:endParaRPr lang="en"/>
          </a:p>
        </p:txBody>
      </p:sp>
      <p:sp>
        <p:nvSpPr>
          <p:cNvPr id="5" name="Title 1">
            <a:extLst>
              <a:ext uri="{FF2B5EF4-FFF2-40B4-BE49-F238E27FC236}">
                <a16:creationId xmlns:a16="http://schemas.microsoft.com/office/drawing/2014/main" id="{37462438-5EB5-404B-8F93-5D732ABA0083}"/>
              </a:ext>
            </a:extLst>
          </p:cNvPr>
          <p:cNvSpPr txBox="1">
            <a:spLocks/>
          </p:cNvSpPr>
          <p:nvPr/>
        </p:nvSpPr>
        <p:spPr>
          <a:xfrm>
            <a:off x="179213" y="806147"/>
            <a:ext cx="10251600" cy="713600"/>
          </a:xfrm>
          <a:prstGeom prst="rect">
            <a:avLst/>
          </a:prstGeom>
          <a:noFill/>
          <a:ln>
            <a:noFill/>
          </a:ln>
        </p:spPr>
        <p:txBody>
          <a:bodyPr spcFirstLastPara="1" wrap="square" lIns="121900" tIns="121900" rIns="121900" bIns="12190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3467" dirty="0"/>
              <a:t>Exercise 4</a:t>
            </a:r>
          </a:p>
        </p:txBody>
      </p:sp>
      <p:sp>
        <p:nvSpPr>
          <p:cNvPr id="6" name="TextBox 5">
            <a:extLst>
              <a:ext uri="{FF2B5EF4-FFF2-40B4-BE49-F238E27FC236}">
                <a16:creationId xmlns:a16="http://schemas.microsoft.com/office/drawing/2014/main" id="{B07C09DD-8E1B-4F5F-BE12-90EA93285021}"/>
              </a:ext>
            </a:extLst>
          </p:cNvPr>
          <p:cNvSpPr txBox="1"/>
          <p:nvPr/>
        </p:nvSpPr>
        <p:spPr>
          <a:xfrm>
            <a:off x="179213" y="2102139"/>
            <a:ext cx="10675088" cy="3936078"/>
          </a:xfrm>
          <a:prstGeom prst="rect">
            <a:avLst/>
          </a:prstGeom>
          <a:noFill/>
        </p:spPr>
        <p:txBody>
          <a:bodyPr wrap="square">
            <a:spAutoFit/>
          </a:bodyPr>
          <a:lstStyle/>
          <a:p>
            <a:pPr algn="just">
              <a:lnSpc>
                <a:spcPct val="150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1) Define a Displayable interface containing a void displays () method.</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2) Define a Document class containing three private attributes: String author, int </a:t>
            </a:r>
            <a:r>
              <a:rPr lang="en-US" sz="1600"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numIdentification</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int </a:t>
            </a:r>
            <a:r>
              <a:rPr lang="en-US" sz="1600"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nbPage</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Provide this class with a constructor allowing the construction of a Document type object characterized by these attributes. You can return the document identification number. This class implements the Displayable interface.</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3) A book is a Document characterized by its publisher. This class implements the Displayable interface.</a:t>
            </a:r>
            <a:endParaRPr lang="en-US" sz="1467"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67"/>
              </a:spcAft>
            </a:pP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4) Define a Shelf class which contains three attributes: </a:t>
            </a:r>
            <a:r>
              <a:rPr lang="en-US" sz="1600"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tabDoc</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which will be an array of documents, </a:t>
            </a:r>
            <a:r>
              <a:rPr lang="en-US" sz="1600"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nbDoc</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(indicates the number of documents in the </a:t>
            </a:r>
            <a:r>
              <a:rPr lang="en-US" sz="1600"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tabDoc</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array) and </a:t>
            </a:r>
            <a:r>
              <a:rPr lang="en-US" sz="1600" dirty="0" err="1">
                <a:solidFill>
                  <a:srgbClr val="202124"/>
                </a:solidFill>
                <a:latin typeface="Times New Roman" panose="02020603050405020304" pitchFamily="18" charset="0"/>
                <a:ea typeface="Times New Roman" panose="02020603050405020304" pitchFamily="18" charset="0"/>
                <a:cs typeface="Arial" panose="020B0604020202020204" pitchFamily="34" charset="0"/>
              </a:rPr>
              <a:t>maxDoc</a:t>
            </a:r>
            <a:r>
              <a:rPr lang="en-US" sz="1600" dirty="0">
                <a:solidFill>
                  <a:srgbClr val="202124"/>
                </a:solidFill>
                <a:latin typeface="Times New Roman" panose="02020603050405020304" pitchFamily="18" charset="0"/>
                <a:ea typeface="Times New Roman" panose="02020603050405020304" pitchFamily="18" charset="0"/>
                <a:cs typeface="Arial" panose="020B0604020202020204" pitchFamily="34" charset="0"/>
              </a:rPr>
              <a:t> (indicates the size of array 50). This class implements the Displayable interface and contains a search () method that allows you to search for a document by its identification number.</a:t>
            </a:r>
            <a:endParaRPr lang="en-US" sz="1467" dirty="0">
              <a:latin typeface="Calibri" panose="020F0502020204030204" pitchFamily="34" charset="0"/>
              <a:ea typeface="Calibri" panose="020F0502020204030204" pitchFamily="34" charset="0"/>
              <a:cs typeface="Arial" panose="020B0604020202020204" pitchFamily="34" charset="0"/>
            </a:endParaRPr>
          </a:p>
          <a:p>
            <a:pPr>
              <a:lnSpc>
                <a:spcPct val="150000"/>
              </a:lnSpc>
            </a:pPr>
            <a:r>
              <a:rPr lang="en-US" sz="1600" dirty="0">
                <a:solidFill>
                  <a:srgbClr val="202124"/>
                </a:solidFill>
                <a:latin typeface="Times New Roman" panose="02020603050405020304" pitchFamily="18" charset="0"/>
                <a:ea typeface="Times New Roman" panose="02020603050405020304" pitchFamily="18" charset="0"/>
              </a:rPr>
              <a:t>5) Add the </a:t>
            </a:r>
            <a:r>
              <a:rPr lang="en-US" sz="1600" dirty="0" err="1">
                <a:solidFill>
                  <a:srgbClr val="202124"/>
                </a:solidFill>
                <a:latin typeface="Times New Roman" panose="02020603050405020304" pitchFamily="18" charset="0"/>
                <a:ea typeface="Times New Roman" panose="02020603050405020304" pitchFamily="18" charset="0"/>
              </a:rPr>
              <a:t>TestShelf</a:t>
            </a:r>
            <a:r>
              <a:rPr lang="en-US" sz="1600" dirty="0">
                <a:solidFill>
                  <a:srgbClr val="202124"/>
                </a:solidFill>
                <a:latin typeface="Times New Roman" panose="02020603050405020304" pitchFamily="18" charset="0"/>
                <a:ea typeface="Times New Roman" panose="02020603050405020304" pitchFamily="18" charset="0"/>
              </a:rPr>
              <a:t> class which allows you to test all the classes.</a:t>
            </a:r>
            <a:endParaRPr lang="en-US" sz="2400" dirty="0"/>
          </a:p>
        </p:txBody>
      </p:sp>
    </p:spTree>
    <p:extLst>
      <p:ext uri="{BB962C8B-B14F-4D97-AF65-F5344CB8AC3E}">
        <p14:creationId xmlns:p14="http://schemas.microsoft.com/office/powerpoint/2010/main" val="30114343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674888" y="668492"/>
            <a:ext cx="10251600" cy="713600"/>
          </a:xfrm>
        </p:spPr>
        <p:txBody>
          <a:bodyPr>
            <a:normAutofit/>
          </a:bodyPr>
          <a:lstStyle/>
          <a:p>
            <a:r>
              <a:rPr lang="en-US" dirty="0"/>
              <a:t>Exceptions: Motivations</a:t>
            </a:r>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54</a:t>
            </a:fld>
            <a:endParaRPr lang="en"/>
          </a:p>
        </p:txBody>
      </p:sp>
      <p:sp>
        <p:nvSpPr>
          <p:cNvPr id="5" name="Rectangle 3">
            <a:extLst>
              <a:ext uri="{FF2B5EF4-FFF2-40B4-BE49-F238E27FC236}">
                <a16:creationId xmlns:a16="http://schemas.microsoft.com/office/drawing/2014/main" id="{EAC66B42-6876-4F0B-8321-F73BAF36BCE0}"/>
              </a:ext>
            </a:extLst>
          </p:cNvPr>
          <p:cNvSpPr>
            <a:spLocks noGrp="1" noChangeArrowheads="1"/>
          </p:cNvSpPr>
          <p:nvPr>
            <p:ph type="body" idx="1"/>
          </p:nvPr>
        </p:nvSpPr>
        <p:spPr>
          <a:xfrm>
            <a:off x="439480" y="2359961"/>
            <a:ext cx="9863232" cy="2403424"/>
          </a:xfrm>
        </p:spPr>
        <p:txBody>
          <a:bodyPr>
            <a:normAutofit/>
          </a:bodyPr>
          <a:lstStyle/>
          <a:p>
            <a:pPr marL="0" indent="0" algn="just">
              <a:lnSpc>
                <a:spcPct val="150000"/>
              </a:lnSpc>
              <a:buNone/>
            </a:pPr>
            <a:r>
              <a:rPr lang="en-US" altLang="en-US" sz="2400" dirty="0"/>
              <a:t>When a program runs into a runtime error, the program terminates abnormally. How can you handle the runtime error so that the program can continue to run or terminate gracefully? This is the subject we will introduce in this chapter.</a:t>
            </a:r>
          </a:p>
        </p:txBody>
      </p:sp>
    </p:spTree>
    <p:extLst>
      <p:ext uri="{BB962C8B-B14F-4D97-AF65-F5344CB8AC3E}">
        <p14:creationId xmlns:p14="http://schemas.microsoft.com/office/powerpoint/2010/main" val="3259114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674888" y="668492"/>
            <a:ext cx="10251600" cy="713600"/>
          </a:xfrm>
        </p:spPr>
        <p:txBody>
          <a:bodyPr>
            <a:normAutofit/>
          </a:bodyPr>
          <a:lstStyle/>
          <a:p>
            <a:r>
              <a:rPr lang="en-US" dirty="0"/>
              <a:t>Exceptions: </a:t>
            </a:r>
            <a:r>
              <a:rPr lang="en-US" altLang="en-US" dirty="0"/>
              <a:t>Handling Overview </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55</a:t>
            </a:fld>
            <a:endParaRPr lang="en"/>
          </a:p>
        </p:txBody>
      </p:sp>
      <p:sp>
        <p:nvSpPr>
          <p:cNvPr id="7" name="Text Box 11">
            <a:extLst>
              <a:ext uri="{FF2B5EF4-FFF2-40B4-BE49-F238E27FC236}">
                <a16:creationId xmlns:a16="http://schemas.microsoft.com/office/drawing/2014/main" id="{77C20704-618D-43C5-B60E-A4C6D74B0719}"/>
              </a:ext>
            </a:extLst>
          </p:cNvPr>
          <p:cNvSpPr txBox="1">
            <a:spLocks noChangeArrowheads="1"/>
          </p:cNvSpPr>
          <p:nvPr/>
        </p:nvSpPr>
        <p:spPr bwMode="auto">
          <a:xfrm>
            <a:off x="1260548" y="2017536"/>
            <a:ext cx="8534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50000"/>
              </a:spcBef>
              <a:spcAft>
                <a:spcPct val="0"/>
              </a:spcAft>
            </a:pPr>
            <a:r>
              <a:rPr lang="en-US" altLang="en-US" sz="2800">
                <a:solidFill>
                  <a:srgbClr val="000000"/>
                </a:solidFill>
              </a:rPr>
              <a:t>Show runtime error</a:t>
            </a:r>
          </a:p>
        </p:txBody>
      </p:sp>
      <p:sp>
        <p:nvSpPr>
          <p:cNvPr id="8" name="Text Box 12">
            <a:extLst>
              <a:ext uri="{FF2B5EF4-FFF2-40B4-BE49-F238E27FC236}">
                <a16:creationId xmlns:a16="http://schemas.microsoft.com/office/drawing/2014/main" id="{B036804A-4C32-4B19-98F5-445A9D427DEE}"/>
              </a:ext>
            </a:extLst>
          </p:cNvPr>
          <p:cNvSpPr txBox="1">
            <a:spLocks noChangeArrowheads="1"/>
          </p:cNvSpPr>
          <p:nvPr/>
        </p:nvSpPr>
        <p:spPr bwMode="auto">
          <a:xfrm>
            <a:off x="1692348" y="3610572"/>
            <a:ext cx="8534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50000"/>
              </a:spcBef>
              <a:spcAft>
                <a:spcPct val="0"/>
              </a:spcAft>
            </a:pPr>
            <a:r>
              <a:rPr lang="en-US" altLang="en-US" sz="2800">
                <a:solidFill>
                  <a:srgbClr val="000000"/>
                </a:solidFill>
              </a:rPr>
              <a:t>Fix it using an if statement</a:t>
            </a:r>
          </a:p>
        </p:txBody>
      </p:sp>
      <p:sp>
        <p:nvSpPr>
          <p:cNvPr id="9" name="Text Box 13">
            <a:extLst>
              <a:ext uri="{FF2B5EF4-FFF2-40B4-BE49-F238E27FC236}">
                <a16:creationId xmlns:a16="http://schemas.microsoft.com/office/drawing/2014/main" id="{ECF5393E-F248-4F82-AA3E-BD5EB6391160}"/>
              </a:ext>
            </a:extLst>
          </p:cNvPr>
          <p:cNvSpPr txBox="1">
            <a:spLocks noChangeArrowheads="1"/>
          </p:cNvSpPr>
          <p:nvPr/>
        </p:nvSpPr>
        <p:spPr bwMode="auto">
          <a:xfrm>
            <a:off x="1692348" y="5210772"/>
            <a:ext cx="8534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50000"/>
              </a:spcBef>
              <a:spcAft>
                <a:spcPct val="0"/>
              </a:spcAft>
            </a:pPr>
            <a:r>
              <a:rPr lang="en-US" altLang="en-US" sz="2800">
                <a:solidFill>
                  <a:srgbClr val="000000"/>
                </a:solidFill>
              </a:rPr>
              <a:t>With a method</a:t>
            </a:r>
          </a:p>
        </p:txBody>
      </p:sp>
      <p:sp>
        <p:nvSpPr>
          <p:cNvPr id="10" name="AutoShape 10">
            <a:hlinkClick r:id="rId2" action="ppaction://program" highlightClick="1"/>
            <a:extLst>
              <a:ext uri="{FF2B5EF4-FFF2-40B4-BE49-F238E27FC236}">
                <a16:creationId xmlns:a16="http://schemas.microsoft.com/office/drawing/2014/main" id="{F7D7B958-F865-408A-B14D-8528A1A8EE2A}"/>
              </a:ext>
            </a:extLst>
          </p:cNvPr>
          <p:cNvSpPr>
            <a:spLocks noChangeArrowheads="1"/>
          </p:cNvSpPr>
          <p:nvPr/>
        </p:nvSpPr>
        <p:spPr bwMode="auto">
          <a:xfrm>
            <a:off x="4511749" y="2848572"/>
            <a:ext cx="698500" cy="339725"/>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1800">
                <a:solidFill>
                  <a:srgbClr val="000000"/>
                </a:solidFill>
                <a:latin typeface="Book Antiqua" panose="02040602050305030304" pitchFamily="18" charset="0"/>
              </a:rPr>
              <a:t>Run</a:t>
            </a:r>
            <a:endParaRPr lang="en-US" altLang="en-US" sz="1800">
              <a:solidFill>
                <a:srgbClr val="000000"/>
              </a:solidFill>
            </a:endParaRPr>
          </a:p>
        </p:txBody>
      </p:sp>
      <p:sp>
        <p:nvSpPr>
          <p:cNvPr id="11" name="Rectangle 16">
            <a:hlinkClick r:id="rId3"/>
            <a:extLst>
              <a:ext uri="{FF2B5EF4-FFF2-40B4-BE49-F238E27FC236}">
                <a16:creationId xmlns:a16="http://schemas.microsoft.com/office/drawing/2014/main" id="{D3E3A2B1-16E0-44CD-9120-EF362C1DE329}"/>
              </a:ext>
            </a:extLst>
          </p:cNvPr>
          <p:cNvSpPr>
            <a:spLocks noChangeArrowheads="1"/>
          </p:cNvSpPr>
          <p:nvPr/>
        </p:nvSpPr>
        <p:spPr bwMode="auto">
          <a:xfrm>
            <a:off x="2109861" y="2827935"/>
            <a:ext cx="222091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2000">
                <a:solidFill>
                  <a:srgbClr val="000000"/>
                </a:solidFill>
              </a:rPr>
              <a:t>Quotient</a:t>
            </a:r>
          </a:p>
        </p:txBody>
      </p:sp>
      <p:sp>
        <p:nvSpPr>
          <p:cNvPr id="12" name="AutoShape 10">
            <a:hlinkClick r:id="rId4" action="ppaction://program" highlightClick="1"/>
            <a:extLst>
              <a:ext uri="{FF2B5EF4-FFF2-40B4-BE49-F238E27FC236}">
                <a16:creationId xmlns:a16="http://schemas.microsoft.com/office/drawing/2014/main" id="{3B267DFE-D580-46C9-BA39-570465EFC547}"/>
              </a:ext>
            </a:extLst>
          </p:cNvPr>
          <p:cNvSpPr>
            <a:spLocks noChangeArrowheads="1"/>
          </p:cNvSpPr>
          <p:nvPr/>
        </p:nvSpPr>
        <p:spPr bwMode="auto">
          <a:xfrm>
            <a:off x="4511749" y="4296372"/>
            <a:ext cx="698500" cy="339725"/>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1800">
                <a:solidFill>
                  <a:srgbClr val="000000"/>
                </a:solidFill>
                <a:latin typeface="Book Antiqua" panose="02040602050305030304" pitchFamily="18" charset="0"/>
              </a:rPr>
              <a:t>Run</a:t>
            </a:r>
            <a:endParaRPr lang="en-US" altLang="en-US" sz="1800">
              <a:solidFill>
                <a:srgbClr val="000000"/>
              </a:solidFill>
            </a:endParaRPr>
          </a:p>
        </p:txBody>
      </p:sp>
      <p:sp>
        <p:nvSpPr>
          <p:cNvPr id="13" name="Rectangle 18">
            <a:hlinkClick r:id="rId5"/>
            <a:extLst>
              <a:ext uri="{FF2B5EF4-FFF2-40B4-BE49-F238E27FC236}">
                <a16:creationId xmlns:a16="http://schemas.microsoft.com/office/drawing/2014/main" id="{B49D9C7B-0AAB-4463-A10B-C4BC6D68A3E9}"/>
              </a:ext>
            </a:extLst>
          </p:cNvPr>
          <p:cNvSpPr>
            <a:spLocks noChangeArrowheads="1"/>
          </p:cNvSpPr>
          <p:nvPr/>
        </p:nvSpPr>
        <p:spPr bwMode="auto">
          <a:xfrm>
            <a:off x="2109861" y="4275735"/>
            <a:ext cx="2220912"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2000">
                <a:solidFill>
                  <a:srgbClr val="000000"/>
                </a:solidFill>
              </a:rPr>
              <a:t>QuotientWithIf</a:t>
            </a:r>
          </a:p>
        </p:txBody>
      </p:sp>
      <p:sp>
        <p:nvSpPr>
          <p:cNvPr id="14" name="AutoShape 10">
            <a:hlinkClick r:id="rId6" action="ppaction://program" highlightClick="1"/>
            <a:extLst>
              <a:ext uri="{FF2B5EF4-FFF2-40B4-BE49-F238E27FC236}">
                <a16:creationId xmlns:a16="http://schemas.microsoft.com/office/drawing/2014/main" id="{3EC9B5B2-0E27-4272-B816-4ECFC842C8DB}"/>
              </a:ext>
            </a:extLst>
          </p:cNvPr>
          <p:cNvSpPr>
            <a:spLocks noChangeArrowheads="1"/>
          </p:cNvSpPr>
          <p:nvPr/>
        </p:nvSpPr>
        <p:spPr bwMode="auto">
          <a:xfrm>
            <a:off x="4840362" y="5972772"/>
            <a:ext cx="698500" cy="339725"/>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1800">
                <a:solidFill>
                  <a:srgbClr val="000000"/>
                </a:solidFill>
                <a:latin typeface="Book Antiqua" panose="02040602050305030304" pitchFamily="18" charset="0"/>
              </a:rPr>
              <a:t>Run</a:t>
            </a:r>
            <a:endParaRPr lang="en-US" altLang="en-US" sz="1800">
              <a:solidFill>
                <a:srgbClr val="000000"/>
              </a:solidFill>
            </a:endParaRPr>
          </a:p>
        </p:txBody>
      </p:sp>
      <p:sp>
        <p:nvSpPr>
          <p:cNvPr id="15" name="Rectangle 20">
            <a:hlinkClick r:id="rId7"/>
            <a:extLst>
              <a:ext uri="{FF2B5EF4-FFF2-40B4-BE49-F238E27FC236}">
                <a16:creationId xmlns:a16="http://schemas.microsoft.com/office/drawing/2014/main" id="{329D5F17-5AA1-4E54-9E2B-20CE4FBDEB1E}"/>
              </a:ext>
            </a:extLst>
          </p:cNvPr>
          <p:cNvSpPr>
            <a:spLocks noChangeArrowheads="1"/>
          </p:cNvSpPr>
          <p:nvPr/>
        </p:nvSpPr>
        <p:spPr bwMode="auto">
          <a:xfrm>
            <a:off x="2106687" y="5952135"/>
            <a:ext cx="25527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2000" dirty="0" err="1">
                <a:solidFill>
                  <a:srgbClr val="000000"/>
                </a:solidFill>
              </a:rPr>
              <a:t>QuotientWithMethod</a:t>
            </a:r>
            <a:endParaRPr lang="en-US" altLang="en-US" sz="2000" dirty="0">
              <a:solidFill>
                <a:srgbClr val="000000"/>
              </a:solidFill>
            </a:endParaRPr>
          </a:p>
        </p:txBody>
      </p:sp>
    </p:spTree>
    <p:extLst>
      <p:ext uri="{BB962C8B-B14F-4D97-AF65-F5344CB8AC3E}">
        <p14:creationId xmlns:p14="http://schemas.microsoft.com/office/powerpoint/2010/main" val="13533221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674888" y="668492"/>
            <a:ext cx="10251600" cy="713600"/>
          </a:xfrm>
        </p:spPr>
        <p:txBody>
          <a:bodyPr>
            <a:normAutofit/>
          </a:bodyPr>
          <a:lstStyle/>
          <a:p>
            <a:r>
              <a:rPr lang="en-US" dirty="0"/>
              <a:t>Exceptions: </a:t>
            </a:r>
            <a:r>
              <a:rPr lang="en-US" altLang="en-US" dirty="0"/>
              <a:t>Advantages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56</a:t>
            </a:fld>
            <a:endParaRPr lang="en"/>
          </a:p>
        </p:txBody>
      </p:sp>
      <p:sp>
        <p:nvSpPr>
          <p:cNvPr id="16" name="Text Box 9">
            <a:extLst>
              <a:ext uri="{FF2B5EF4-FFF2-40B4-BE49-F238E27FC236}">
                <a16:creationId xmlns:a16="http://schemas.microsoft.com/office/drawing/2014/main" id="{FA944AA3-D1CB-4B95-B61C-1672C71C5A02}"/>
              </a:ext>
            </a:extLst>
          </p:cNvPr>
          <p:cNvSpPr txBox="1">
            <a:spLocks noChangeArrowheads="1"/>
          </p:cNvSpPr>
          <p:nvPr/>
        </p:nvSpPr>
        <p:spPr bwMode="auto">
          <a:xfrm>
            <a:off x="308107" y="3455581"/>
            <a:ext cx="10618381" cy="1681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defTabSz="914377" eaLnBrk="0" fontAlgn="base" hangingPunct="0">
              <a:lnSpc>
                <a:spcPct val="150000"/>
              </a:lnSpc>
              <a:spcBef>
                <a:spcPct val="50000"/>
              </a:spcBef>
              <a:spcAft>
                <a:spcPct val="0"/>
              </a:spcAft>
            </a:pPr>
            <a:r>
              <a:rPr lang="en-US" altLang="en-US">
                <a:solidFill>
                  <a:srgbClr val="000000"/>
                </a:solidFill>
                <a:latin typeface="Lato" panose="020F0502020204030203" pitchFamily="34" charset="0"/>
                <a:ea typeface="Lato" panose="020F0502020204030203" pitchFamily="34" charset="0"/>
                <a:cs typeface="Lato" panose="020F0502020204030203" pitchFamily="34" charset="0"/>
              </a:rPr>
              <a:t>Now you see the </a:t>
            </a:r>
            <a:r>
              <a:rPr lang="en-US" altLang="en-US" i="1">
                <a:solidFill>
                  <a:srgbClr val="000000"/>
                </a:solidFill>
                <a:latin typeface="Lato" panose="020F0502020204030203" pitchFamily="34" charset="0"/>
                <a:ea typeface="Lato" panose="020F0502020204030203" pitchFamily="34" charset="0"/>
                <a:cs typeface="Lato" panose="020F0502020204030203" pitchFamily="34" charset="0"/>
              </a:rPr>
              <a:t>advantages</a:t>
            </a:r>
            <a:r>
              <a:rPr lang="en-US" altLang="en-US">
                <a:solidFill>
                  <a:srgbClr val="000000"/>
                </a:solidFill>
                <a:latin typeface="Lato" panose="020F0502020204030203" pitchFamily="34" charset="0"/>
                <a:ea typeface="Lato" panose="020F0502020204030203" pitchFamily="34" charset="0"/>
                <a:cs typeface="Lato" panose="020F0502020204030203" pitchFamily="34" charset="0"/>
              </a:rPr>
              <a:t> of using exception handling. It enables a method to throw an exception to its caller. Without this capability, a method must handle the exception or terminate the program.</a:t>
            </a:r>
          </a:p>
        </p:txBody>
      </p:sp>
      <p:sp>
        <p:nvSpPr>
          <p:cNvPr id="17" name="AutoShape 10">
            <a:hlinkClick r:id="rId2" action="ppaction://program" highlightClick="1"/>
            <a:extLst>
              <a:ext uri="{FF2B5EF4-FFF2-40B4-BE49-F238E27FC236}">
                <a16:creationId xmlns:a16="http://schemas.microsoft.com/office/drawing/2014/main" id="{35E263AA-D0EB-4D6B-B285-D228FC90EDEE}"/>
              </a:ext>
            </a:extLst>
          </p:cNvPr>
          <p:cNvSpPr>
            <a:spLocks noChangeArrowheads="1"/>
          </p:cNvSpPr>
          <p:nvPr/>
        </p:nvSpPr>
        <p:spPr bwMode="auto">
          <a:xfrm>
            <a:off x="4972494" y="2438400"/>
            <a:ext cx="698500" cy="339725"/>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1800">
                <a:solidFill>
                  <a:srgbClr val="000000"/>
                </a:solidFill>
                <a:latin typeface="Book Antiqua" panose="02040602050305030304" pitchFamily="18" charset="0"/>
              </a:rPr>
              <a:t>Run</a:t>
            </a:r>
            <a:endParaRPr lang="en-US" altLang="en-US" sz="1800">
              <a:solidFill>
                <a:srgbClr val="000000"/>
              </a:solidFill>
            </a:endParaRPr>
          </a:p>
        </p:txBody>
      </p:sp>
      <p:sp>
        <p:nvSpPr>
          <p:cNvPr id="18" name="Rectangle 8">
            <a:hlinkClick r:id="rId3"/>
            <a:extLst>
              <a:ext uri="{FF2B5EF4-FFF2-40B4-BE49-F238E27FC236}">
                <a16:creationId xmlns:a16="http://schemas.microsoft.com/office/drawing/2014/main" id="{5DF9DBAD-03E0-43FB-9974-1AED58B0D019}"/>
              </a:ext>
            </a:extLst>
          </p:cNvPr>
          <p:cNvSpPr>
            <a:spLocks noChangeArrowheads="1"/>
          </p:cNvSpPr>
          <p:nvPr/>
        </p:nvSpPr>
        <p:spPr bwMode="auto">
          <a:xfrm>
            <a:off x="1824482" y="2417763"/>
            <a:ext cx="2967037"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2000">
                <a:solidFill>
                  <a:srgbClr val="000000"/>
                </a:solidFill>
              </a:rPr>
              <a:t>QuotientWithException</a:t>
            </a:r>
          </a:p>
        </p:txBody>
      </p:sp>
    </p:spTree>
    <p:extLst>
      <p:ext uri="{BB962C8B-B14F-4D97-AF65-F5344CB8AC3E}">
        <p14:creationId xmlns:p14="http://schemas.microsoft.com/office/powerpoint/2010/main" val="20552970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674888" y="668492"/>
            <a:ext cx="10251600" cy="713600"/>
          </a:xfrm>
        </p:spPr>
        <p:txBody>
          <a:bodyPr>
            <a:normAutofit/>
          </a:bodyPr>
          <a:lstStyle/>
          <a:p>
            <a:r>
              <a:rPr lang="en-US" dirty="0"/>
              <a:t>Exceptions: </a:t>
            </a:r>
            <a:r>
              <a:rPr lang="en-US" altLang="en-US" dirty="0"/>
              <a:t>Handling </a:t>
            </a:r>
            <a:r>
              <a:rPr lang="en-US" altLang="en-US" dirty="0" err="1"/>
              <a:t>InputMismatchException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57</a:t>
            </a:fld>
            <a:endParaRPr lang="en"/>
          </a:p>
        </p:txBody>
      </p:sp>
      <p:sp>
        <p:nvSpPr>
          <p:cNvPr id="7" name="Text Box 5">
            <a:extLst>
              <a:ext uri="{FF2B5EF4-FFF2-40B4-BE49-F238E27FC236}">
                <a16:creationId xmlns:a16="http://schemas.microsoft.com/office/drawing/2014/main" id="{D5F18C5B-84B8-4536-B088-7CB711C58B01}"/>
              </a:ext>
            </a:extLst>
          </p:cNvPr>
          <p:cNvSpPr txBox="1">
            <a:spLocks noChangeArrowheads="1"/>
          </p:cNvSpPr>
          <p:nvPr/>
        </p:nvSpPr>
        <p:spPr bwMode="auto">
          <a:xfrm>
            <a:off x="893136" y="3698356"/>
            <a:ext cx="10033353" cy="1127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defTabSz="914377" eaLnBrk="0" fontAlgn="base" hangingPunct="0">
              <a:lnSpc>
                <a:spcPct val="150000"/>
              </a:lnSpc>
              <a:spcBef>
                <a:spcPct val="50000"/>
              </a:spcBef>
              <a:spcAft>
                <a:spcPct val="0"/>
              </a:spcAft>
            </a:pP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By handling </a:t>
            </a:r>
            <a:r>
              <a:rPr lang="en-US" altLang="en-US" dirty="0" err="1">
                <a:solidFill>
                  <a:srgbClr val="000000"/>
                </a:solidFill>
                <a:latin typeface="Lato" panose="020F0502020204030203" pitchFamily="34" charset="0"/>
                <a:ea typeface="Lato" panose="020F0502020204030203" pitchFamily="34" charset="0"/>
                <a:cs typeface="Lato" panose="020F0502020204030203" pitchFamily="34" charset="0"/>
              </a:rPr>
              <a:t>InputMismatchException</a:t>
            </a: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 your program will continuously read an input until it is correct.</a:t>
            </a:r>
          </a:p>
        </p:txBody>
      </p:sp>
      <p:sp>
        <p:nvSpPr>
          <p:cNvPr id="8" name="AutoShape 10">
            <a:hlinkClick r:id="rId2" action="ppaction://program" highlightClick="1"/>
            <a:extLst>
              <a:ext uri="{FF2B5EF4-FFF2-40B4-BE49-F238E27FC236}">
                <a16:creationId xmlns:a16="http://schemas.microsoft.com/office/drawing/2014/main" id="{95FDDDAC-9114-45FF-9855-27A633BEC296}"/>
              </a:ext>
            </a:extLst>
          </p:cNvPr>
          <p:cNvSpPr>
            <a:spLocks noChangeArrowheads="1"/>
          </p:cNvSpPr>
          <p:nvPr/>
        </p:nvSpPr>
        <p:spPr bwMode="auto">
          <a:xfrm>
            <a:off x="6537326" y="2707756"/>
            <a:ext cx="698500" cy="339725"/>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1800">
                <a:solidFill>
                  <a:srgbClr val="000000"/>
                </a:solidFill>
                <a:latin typeface="Book Antiqua" panose="02040602050305030304" pitchFamily="18" charset="0"/>
              </a:rPr>
              <a:t>Run</a:t>
            </a:r>
            <a:endParaRPr lang="en-US" altLang="en-US" sz="1800">
              <a:solidFill>
                <a:srgbClr val="000000"/>
              </a:solidFill>
            </a:endParaRPr>
          </a:p>
        </p:txBody>
      </p:sp>
      <p:sp>
        <p:nvSpPr>
          <p:cNvPr id="9" name="Rectangle 8">
            <a:hlinkClick r:id="rId3"/>
            <a:extLst>
              <a:ext uri="{FF2B5EF4-FFF2-40B4-BE49-F238E27FC236}">
                <a16:creationId xmlns:a16="http://schemas.microsoft.com/office/drawing/2014/main" id="{40A989EC-D77E-4A50-A1ED-7177D7366248}"/>
              </a:ext>
            </a:extLst>
          </p:cNvPr>
          <p:cNvSpPr>
            <a:spLocks noChangeArrowheads="1"/>
          </p:cNvSpPr>
          <p:nvPr/>
        </p:nvSpPr>
        <p:spPr bwMode="auto">
          <a:xfrm>
            <a:off x="2914651" y="2687119"/>
            <a:ext cx="34417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2000">
                <a:solidFill>
                  <a:srgbClr val="000000"/>
                </a:solidFill>
              </a:rPr>
              <a:t>InputMismatchExceptionDemo</a:t>
            </a:r>
          </a:p>
        </p:txBody>
      </p:sp>
    </p:spTree>
    <p:extLst>
      <p:ext uri="{BB962C8B-B14F-4D97-AF65-F5344CB8AC3E}">
        <p14:creationId xmlns:p14="http://schemas.microsoft.com/office/powerpoint/2010/main" val="35960778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674888" y="668492"/>
            <a:ext cx="10251600" cy="713600"/>
          </a:xfrm>
        </p:spPr>
        <p:txBody>
          <a:bodyPr>
            <a:normAutofit/>
          </a:bodyPr>
          <a:lstStyle/>
          <a:p>
            <a:r>
              <a:rPr lang="en-US" dirty="0"/>
              <a:t>Exceptions: </a:t>
            </a:r>
            <a:r>
              <a:rPr lang="en-US" altLang="en-US" dirty="0"/>
              <a:t>Types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58</a:t>
            </a:fld>
            <a:endParaRPr lang="en"/>
          </a:p>
        </p:txBody>
      </p:sp>
      <p:sp>
        <p:nvSpPr>
          <p:cNvPr id="10" name="Rectangle 10">
            <a:extLst>
              <a:ext uri="{FF2B5EF4-FFF2-40B4-BE49-F238E27FC236}">
                <a16:creationId xmlns:a16="http://schemas.microsoft.com/office/drawing/2014/main" id="{8CA4D23E-D676-4BC8-AE9C-D1018D2E723A}"/>
              </a:ext>
            </a:extLst>
          </p:cNvPr>
          <p:cNvSpPr>
            <a:spLocks noChangeArrowheads="1"/>
          </p:cNvSpPr>
          <p:nvPr/>
        </p:nvSpPr>
        <p:spPr bwMode="auto">
          <a:xfrm>
            <a:off x="1524002" y="212384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graphicFrame>
        <p:nvGraphicFramePr>
          <p:cNvPr id="11" name="Object 9">
            <a:extLst>
              <a:ext uri="{FF2B5EF4-FFF2-40B4-BE49-F238E27FC236}">
                <a16:creationId xmlns:a16="http://schemas.microsoft.com/office/drawing/2014/main" id="{9589CDBF-BEB9-4772-ACBB-BD2A7AF2A0AE}"/>
              </a:ext>
            </a:extLst>
          </p:cNvPr>
          <p:cNvGraphicFramePr>
            <a:graphicFrameLocks noChangeAspect="1"/>
          </p:cNvGraphicFramePr>
          <p:nvPr/>
        </p:nvGraphicFramePr>
        <p:xfrm>
          <a:off x="1676400" y="1726029"/>
          <a:ext cx="8839200" cy="4510088"/>
        </p:xfrm>
        <a:graphic>
          <a:graphicData uri="http://schemas.openxmlformats.org/presentationml/2006/ole">
            <mc:AlternateContent xmlns:mc="http://schemas.openxmlformats.org/markup-compatibility/2006">
              <mc:Choice xmlns:v="urn:schemas-microsoft-com:vml" Requires="v">
                <p:oleObj name="Picture" r:id="rId2" imgW="5608452" imgH="2853594" progId="Word.Picture.8">
                  <p:embed/>
                </p:oleObj>
              </mc:Choice>
              <mc:Fallback>
                <p:oleObj name="Picture" r:id="rId2" imgW="5608452" imgH="2853594" progId="Word.Picture.8">
                  <p:embed/>
                  <p:pic>
                    <p:nvPicPr>
                      <p:cNvPr id="11" name="Object 9">
                        <a:extLst>
                          <a:ext uri="{FF2B5EF4-FFF2-40B4-BE49-F238E27FC236}">
                            <a16:creationId xmlns:a16="http://schemas.microsoft.com/office/drawing/2014/main" id="{9589CDBF-BEB9-4772-ACBB-BD2A7AF2A0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726029"/>
                        <a:ext cx="8839200" cy="451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875438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674888" y="668492"/>
            <a:ext cx="10251600" cy="713600"/>
          </a:xfrm>
        </p:spPr>
        <p:txBody>
          <a:bodyPr>
            <a:normAutofit/>
          </a:bodyPr>
          <a:lstStyle/>
          <a:p>
            <a:r>
              <a:rPr lang="en-US" dirty="0"/>
              <a:t>Exceptions: </a:t>
            </a:r>
            <a:r>
              <a:rPr lang="en-US" altLang="en-US" dirty="0"/>
              <a:t>System Errors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59</a:t>
            </a:fld>
            <a:endParaRPr lang="en"/>
          </a:p>
        </p:txBody>
      </p:sp>
      <p:sp>
        <p:nvSpPr>
          <p:cNvPr id="6" name="Rectangle 3">
            <a:extLst>
              <a:ext uri="{FF2B5EF4-FFF2-40B4-BE49-F238E27FC236}">
                <a16:creationId xmlns:a16="http://schemas.microsoft.com/office/drawing/2014/main" id="{C8AFBCD8-9051-4D17-9C0F-D1453C888875}"/>
              </a:ext>
            </a:extLst>
          </p:cNvPr>
          <p:cNvSpPr>
            <a:spLocks noChangeArrowheads="1"/>
          </p:cNvSpPr>
          <p:nvPr/>
        </p:nvSpPr>
        <p:spPr bwMode="auto">
          <a:xfrm>
            <a:off x="1524002" y="1769420"/>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graphicFrame>
        <p:nvGraphicFramePr>
          <p:cNvPr id="7" name="Object 4">
            <a:extLst>
              <a:ext uri="{FF2B5EF4-FFF2-40B4-BE49-F238E27FC236}">
                <a16:creationId xmlns:a16="http://schemas.microsoft.com/office/drawing/2014/main" id="{DD82D509-389B-4A79-82F4-5DCE6324BFA5}"/>
              </a:ext>
            </a:extLst>
          </p:cNvPr>
          <p:cNvGraphicFramePr>
            <a:graphicFrameLocks noChangeAspect="1"/>
          </p:cNvGraphicFramePr>
          <p:nvPr/>
        </p:nvGraphicFramePr>
        <p:xfrm>
          <a:off x="1828800" y="1371600"/>
          <a:ext cx="8839200" cy="4510088"/>
        </p:xfrm>
        <a:graphic>
          <a:graphicData uri="http://schemas.openxmlformats.org/presentationml/2006/ole">
            <mc:AlternateContent xmlns:mc="http://schemas.openxmlformats.org/markup-compatibility/2006">
              <mc:Choice xmlns:v="urn:schemas-microsoft-com:vml" Requires="v">
                <p:oleObj name="Picture" r:id="rId2" imgW="5608452" imgH="2853594" progId="Word.Picture.8">
                  <p:embed/>
                </p:oleObj>
              </mc:Choice>
              <mc:Fallback>
                <p:oleObj name="Picture" r:id="rId2" imgW="5608452" imgH="2853594" progId="Word.Picture.8">
                  <p:embed/>
                  <p:pic>
                    <p:nvPicPr>
                      <p:cNvPr id="7" name="Object 4">
                        <a:extLst>
                          <a:ext uri="{FF2B5EF4-FFF2-40B4-BE49-F238E27FC236}">
                            <a16:creationId xmlns:a16="http://schemas.microsoft.com/office/drawing/2014/main" id="{DD82D509-389B-4A79-82F4-5DCE6324B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371600"/>
                        <a:ext cx="8839200" cy="451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5">
            <a:extLst>
              <a:ext uri="{FF2B5EF4-FFF2-40B4-BE49-F238E27FC236}">
                <a16:creationId xmlns:a16="http://schemas.microsoft.com/office/drawing/2014/main" id="{503F2F3A-A756-4BFF-B432-DF3C301B8187}"/>
              </a:ext>
            </a:extLst>
          </p:cNvPr>
          <p:cNvSpPr>
            <a:spLocks noChangeArrowheads="1"/>
          </p:cNvSpPr>
          <p:nvPr/>
        </p:nvSpPr>
        <p:spPr bwMode="auto">
          <a:xfrm>
            <a:off x="4495800" y="4038600"/>
            <a:ext cx="3194051" cy="1828800"/>
          </a:xfrm>
          <a:prstGeom prst="rect">
            <a:avLst/>
          </a:prstGeom>
          <a:solidFill>
            <a:schemeClr val="accent1">
              <a:alpha val="18823"/>
            </a:schemeClr>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sp>
        <p:nvSpPr>
          <p:cNvPr id="9" name="Text Box 6">
            <a:extLst>
              <a:ext uri="{FF2B5EF4-FFF2-40B4-BE49-F238E27FC236}">
                <a16:creationId xmlns:a16="http://schemas.microsoft.com/office/drawing/2014/main" id="{35CB4C79-F8CD-4FD9-9280-AE7B7407AE9C}"/>
              </a:ext>
            </a:extLst>
          </p:cNvPr>
          <p:cNvSpPr txBox="1">
            <a:spLocks noChangeArrowheads="1"/>
          </p:cNvSpPr>
          <p:nvPr/>
        </p:nvSpPr>
        <p:spPr bwMode="auto">
          <a:xfrm>
            <a:off x="1524000" y="4114800"/>
            <a:ext cx="29718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50000"/>
              </a:spcBef>
              <a:spcAft>
                <a:spcPct val="0"/>
              </a:spcAft>
            </a:pPr>
            <a:r>
              <a:rPr lang="en-US" altLang="en-US" sz="1600" i="1">
                <a:solidFill>
                  <a:srgbClr val="000000"/>
                </a:solidFill>
                <a:cs typeface="Times New Roman" panose="02020603050405020304" pitchFamily="18" charset="0"/>
              </a:rPr>
              <a:t>System errors</a:t>
            </a:r>
            <a:r>
              <a:rPr lang="en-US" altLang="en-US" sz="1600">
                <a:solidFill>
                  <a:srgbClr val="000000"/>
                </a:solidFill>
                <a:cs typeface="Times New Roman" panose="02020603050405020304" pitchFamily="18" charset="0"/>
              </a:rPr>
              <a:t> are thrown by JVM and represented in the </a:t>
            </a:r>
            <a:r>
              <a:rPr lang="en-US" altLang="en-US" sz="1600" u="sng">
                <a:solidFill>
                  <a:srgbClr val="000000"/>
                </a:solidFill>
                <a:cs typeface="Times New Roman" panose="02020603050405020304" pitchFamily="18" charset="0"/>
              </a:rPr>
              <a:t>Error</a:t>
            </a:r>
            <a:r>
              <a:rPr lang="en-US" altLang="en-US" sz="1600">
                <a:solidFill>
                  <a:srgbClr val="000000"/>
                </a:solidFill>
                <a:cs typeface="Times New Roman" panose="02020603050405020304" pitchFamily="18" charset="0"/>
              </a:rPr>
              <a:t> class. The </a:t>
            </a:r>
            <a:r>
              <a:rPr lang="en-US" altLang="en-US" sz="1600" u="sng">
                <a:solidFill>
                  <a:srgbClr val="000000"/>
                </a:solidFill>
                <a:cs typeface="Times New Roman" panose="02020603050405020304" pitchFamily="18" charset="0"/>
              </a:rPr>
              <a:t>Error</a:t>
            </a:r>
            <a:r>
              <a:rPr lang="en-US" altLang="en-US" sz="1600">
                <a:solidFill>
                  <a:srgbClr val="000000"/>
                </a:solidFill>
                <a:cs typeface="Times New Roman" panose="02020603050405020304" pitchFamily="18" charset="0"/>
              </a:rPr>
              <a:t> class describes internal system errors. Such errors rarely occur. If one does, there is little you can do beyond notifying the user and trying to terminate the program gracefully. </a:t>
            </a:r>
            <a:endParaRPr lang="en-US" altLang="en-US" sz="1600">
              <a:solidFill>
                <a:srgbClr val="000000"/>
              </a:solidFill>
            </a:endParaRPr>
          </a:p>
        </p:txBody>
      </p:sp>
    </p:spTree>
    <p:extLst>
      <p:ext uri="{BB962C8B-B14F-4D97-AF65-F5344CB8AC3E}">
        <p14:creationId xmlns:p14="http://schemas.microsoft.com/office/powerpoint/2010/main" val="114887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674888" y="668492"/>
            <a:ext cx="10251600" cy="713600"/>
          </a:xfrm>
        </p:spPr>
        <p:txBody>
          <a:bodyPr>
            <a:normAutofit/>
          </a:bodyPr>
          <a:lstStyle/>
          <a:p>
            <a:r>
              <a:rPr lang="en-US" dirty="0"/>
              <a:t>Exceptions: Pre-defined Exceptions</a:t>
            </a:r>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60</a:t>
            </a:fld>
            <a:endParaRPr lang="en"/>
          </a:p>
        </p:txBody>
      </p:sp>
      <p:sp>
        <p:nvSpPr>
          <p:cNvPr id="15" name="Rectangle 3">
            <a:extLst>
              <a:ext uri="{FF2B5EF4-FFF2-40B4-BE49-F238E27FC236}">
                <a16:creationId xmlns:a16="http://schemas.microsoft.com/office/drawing/2014/main" id="{351C52AD-26BB-479E-83F3-832325B969F0}"/>
              </a:ext>
            </a:extLst>
          </p:cNvPr>
          <p:cNvSpPr>
            <a:spLocks noChangeArrowheads="1"/>
          </p:cNvSpPr>
          <p:nvPr/>
        </p:nvSpPr>
        <p:spPr bwMode="auto">
          <a:xfrm>
            <a:off x="1141230" y="2563317"/>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graphicFrame>
        <p:nvGraphicFramePr>
          <p:cNvPr id="16" name="Object 4">
            <a:extLst>
              <a:ext uri="{FF2B5EF4-FFF2-40B4-BE49-F238E27FC236}">
                <a16:creationId xmlns:a16="http://schemas.microsoft.com/office/drawing/2014/main" id="{D8A0FC6B-A247-4365-9A09-3F93F9F43CF2}"/>
              </a:ext>
            </a:extLst>
          </p:cNvPr>
          <p:cNvGraphicFramePr>
            <a:graphicFrameLocks noChangeAspect="1"/>
          </p:cNvGraphicFramePr>
          <p:nvPr/>
        </p:nvGraphicFramePr>
        <p:xfrm>
          <a:off x="1293628" y="2165497"/>
          <a:ext cx="8839200" cy="4510088"/>
        </p:xfrm>
        <a:graphic>
          <a:graphicData uri="http://schemas.openxmlformats.org/presentationml/2006/ole">
            <mc:AlternateContent xmlns:mc="http://schemas.openxmlformats.org/markup-compatibility/2006">
              <mc:Choice xmlns:v="urn:schemas-microsoft-com:vml" Requires="v">
                <p:oleObj name="Picture" r:id="rId2" imgW="5608452" imgH="2853594" progId="Word.Picture.8">
                  <p:embed/>
                </p:oleObj>
              </mc:Choice>
              <mc:Fallback>
                <p:oleObj name="Picture" r:id="rId2" imgW="5608452" imgH="2853594" progId="Word.Picture.8">
                  <p:embed/>
                  <p:pic>
                    <p:nvPicPr>
                      <p:cNvPr id="16" name="Object 4">
                        <a:extLst>
                          <a:ext uri="{FF2B5EF4-FFF2-40B4-BE49-F238E27FC236}">
                            <a16:creationId xmlns:a16="http://schemas.microsoft.com/office/drawing/2014/main" id="{D8A0FC6B-A247-4365-9A09-3F93F9F43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628" y="2165497"/>
                        <a:ext cx="8839200" cy="451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 Box 5">
            <a:extLst>
              <a:ext uri="{FF2B5EF4-FFF2-40B4-BE49-F238E27FC236}">
                <a16:creationId xmlns:a16="http://schemas.microsoft.com/office/drawing/2014/main" id="{9C98882F-392F-4D9B-A574-4716FCA7DF05}"/>
              </a:ext>
            </a:extLst>
          </p:cNvPr>
          <p:cNvSpPr txBox="1">
            <a:spLocks noChangeArrowheads="1"/>
          </p:cNvSpPr>
          <p:nvPr/>
        </p:nvSpPr>
        <p:spPr bwMode="auto">
          <a:xfrm>
            <a:off x="1141228" y="2013100"/>
            <a:ext cx="26670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50000"/>
              </a:spcBef>
              <a:spcAft>
                <a:spcPct val="0"/>
              </a:spcAft>
            </a:pPr>
            <a:r>
              <a:rPr lang="en-US" altLang="en-US" sz="1800" u="sng">
                <a:solidFill>
                  <a:srgbClr val="000000"/>
                </a:solidFill>
                <a:cs typeface="Times New Roman" panose="02020603050405020304" pitchFamily="18" charset="0"/>
              </a:rPr>
              <a:t>Exception</a:t>
            </a:r>
            <a:r>
              <a:rPr lang="en-US" altLang="en-US" sz="1800">
                <a:solidFill>
                  <a:srgbClr val="000000"/>
                </a:solidFill>
                <a:cs typeface="Times New Roman" panose="02020603050405020304" pitchFamily="18" charset="0"/>
              </a:rPr>
              <a:t> describes errors caused by your program and external circumstances. These errors can be caught and handled by your program</a:t>
            </a:r>
            <a:r>
              <a:rPr lang="en-US" altLang="en-US" sz="1800">
                <a:solidFill>
                  <a:srgbClr val="5F5F5F"/>
                </a:solidFill>
                <a:cs typeface="Times New Roman" panose="02020603050405020304" pitchFamily="18" charset="0"/>
              </a:rPr>
              <a:t>. </a:t>
            </a:r>
            <a:endParaRPr lang="en-US" altLang="en-US" sz="1800">
              <a:solidFill>
                <a:srgbClr val="5F5F5F"/>
              </a:solidFill>
            </a:endParaRPr>
          </a:p>
        </p:txBody>
      </p:sp>
      <p:sp>
        <p:nvSpPr>
          <p:cNvPr id="18" name="Rectangle 6">
            <a:extLst>
              <a:ext uri="{FF2B5EF4-FFF2-40B4-BE49-F238E27FC236}">
                <a16:creationId xmlns:a16="http://schemas.microsoft.com/office/drawing/2014/main" id="{0CC41319-828E-4B4B-AF27-33834C55570E}"/>
              </a:ext>
            </a:extLst>
          </p:cNvPr>
          <p:cNvSpPr>
            <a:spLocks noChangeArrowheads="1"/>
          </p:cNvSpPr>
          <p:nvPr/>
        </p:nvSpPr>
        <p:spPr bwMode="auto">
          <a:xfrm>
            <a:off x="3884428" y="2241697"/>
            <a:ext cx="6172200" cy="2895600"/>
          </a:xfrm>
          <a:prstGeom prst="rect">
            <a:avLst/>
          </a:prstGeom>
          <a:solidFill>
            <a:schemeClr val="accent1">
              <a:alpha val="18823"/>
            </a:schemeClr>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spTree>
    <p:extLst>
      <p:ext uri="{BB962C8B-B14F-4D97-AF65-F5344CB8AC3E}">
        <p14:creationId xmlns:p14="http://schemas.microsoft.com/office/powerpoint/2010/main" val="20708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674888" y="668492"/>
            <a:ext cx="10251600" cy="713600"/>
          </a:xfrm>
        </p:spPr>
        <p:txBody>
          <a:bodyPr>
            <a:normAutofit/>
          </a:bodyPr>
          <a:lstStyle/>
          <a:p>
            <a:r>
              <a:rPr lang="en-US" dirty="0"/>
              <a:t>Exceptions: </a:t>
            </a:r>
            <a:r>
              <a:rPr lang="en-US" altLang="en-US" dirty="0"/>
              <a:t>Runtime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61</a:t>
            </a:fld>
            <a:endParaRPr lang="en"/>
          </a:p>
        </p:txBody>
      </p:sp>
      <p:sp>
        <p:nvSpPr>
          <p:cNvPr id="8" name="Rectangle 3">
            <a:extLst>
              <a:ext uri="{FF2B5EF4-FFF2-40B4-BE49-F238E27FC236}">
                <a16:creationId xmlns:a16="http://schemas.microsoft.com/office/drawing/2014/main" id="{21877CCB-BDBC-41FD-83C2-81CB4AA13230}"/>
              </a:ext>
            </a:extLst>
          </p:cNvPr>
          <p:cNvSpPr>
            <a:spLocks noChangeArrowheads="1"/>
          </p:cNvSpPr>
          <p:nvPr/>
        </p:nvSpPr>
        <p:spPr bwMode="auto">
          <a:xfrm>
            <a:off x="1524002" y="2237258"/>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graphicFrame>
        <p:nvGraphicFramePr>
          <p:cNvPr id="9" name="Object 4">
            <a:extLst>
              <a:ext uri="{FF2B5EF4-FFF2-40B4-BE49-F238E27FC236}">
                <a16:creationId xmlns:a16="http://schemas.microsoft.com/office/drawing/2014/main" id="{623CF747-9576-4157-9204-EA02C0EBB419}"/>
              </a:ext>
            </a:extLst>
          </p:cNvPr>
          <p:cNvGraphicFramePr>
            <a:graphicFrameLocks noChangeAspect="1"/>
          </p:cNvGraphicFramePr>
          <p:nvPr/>
        </p:nvGraphicFramePr>
        <p:xfrm>
          <a:off x="1676400" y="1839439"/>
          <a:ext cx="8839200" cy="4510088"/>
        </p:xfrm>
        <a:graphic>
          <a:graphicData uri="http://schemas.openxmlformats.org/presentationml/2006/ole">
            <mc:AlternateContent xmlns:mc="http://schemas.openxmlformats.org/markup-compatibility/2006">
              <mc:Choice xmlns:v="urn:schemas-microsoft-com:vml" Requires="v">
                <p:oleObj name="Picture" r:id="rId2" imgW="5608452" imgH="2853594" progId="Word.Picture.8">
                  <p:embed/>
                </p:oleObj>
              </mc:Choice>
              <mc:Fallback>
                <p:oleObj name="Picture" r:id="rId2" imgW="5608452" imgH="2853594" progId="Word.Picture.8">
                  <p:embed/>
                  <p:pic>
                    <p:nvPicPr>
                      <p:cNvPr id="9" name="Object 4">
                        <a:extLst>
                          <a:ext uri="{FF2B5EF4-FFF2-40B4-BE49-F238E27FC236}">
                            <a16:creationId xmlns:a16="http://schemas.microsoft.com/office/drawing/2014/main" id="{623CF747-9576-4157-9204-EA02C0EBB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839439"/>
                        <a:ext cx="8839200" cy="451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5">
            <a:extLst>
              <a:ext uri="{FF2B5EF4-FFF2-40B4-BE49-F238E27FC236}">
                <a16:creationId xmlns:a16="http://schemas.microsoft.com/office/drawing/2014/main" id="{0EFB2C51-057B-4D6D-B3A0-83A4997BC3CE}"/>
              </a:ext>
            </a:extLst>
          </p:cNvPr>
          <p:cNvSpPr txBox="1">
            <a:spLocks noChangeArrowheads="1"/>
          </p:cNvSpPr>
          <p:nvPr/>
        </p:nvSpPr>
        <p:spPr bwMode="auto">
          <a:xfrm>
            <a:off x="7696200" y="5039839"/>
            <a:ext cx="27432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50000"/>
              </a:spcBef>
              <a:spcAft>
                <a:spcPct val="0"/>
              </a:spcAft>
            </a:pPr>
            <a:r>
              <a:rPr lang="en-US" altLang="en-US" sz="1400">
                <a:solidFill>
                  <a:srgbClr val="000000"/>
                </a:solidFill>
              </a:rPr>
              <a:t>RuntimeException is caused by programming errors, such as bad casting, accessing an out-of-bounds array, and numeric errors.</a:t>
            </a:r>
          </a:p>
        </p:txBody>
      </p:sp>
      <p:sp>
        <p:nvSpPr>
          <p:cNvPr id="11" name="Rectangle 6">
            <a:extLst>
              <a:ext uri="{FF2B5EF4-FFF2-40B4-BE49-F238E27FC236}">
                <a16:creationId xmlns:a16="http://schemas.microsoft.com/office/drawing/2014/main" id="{8308DD0B-86FA-4E01-AEF6-B7A786773C02}"/>
              </a:ext>
            </a:extLst>
          </p:cNvPr>
          <p:cNvSpPr>
            <a:spLocks noChangeArrowheads="1"/>
          </p:cNvSpPr>
          <p:nvPr/>
        </p:nvSpPr>
        <p:spPr bwMode="auto">
          <a:xfrm>
            <a:off x="7467600" y="2372839"/>
            <a:ext cx="2743200" cy="2438400"/>
          </a:xfrm>
          <a:prstGeom prst="rect">
            <a:avLst/>
          </a:prstGeom>
          <a:solidFill>
            <a:schemeClr val="accent1">
              <a:alpha val="18823"/>
            </a:schemeClr>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sp>
        <p:nvSpPr>
          <p:cNvPr id="12" name="Rectangle 7">
            <a:extLst>
              <a:ext uri="{FF2B5EF4-FFF2-40B4-BE49-F238E27FC236}">
                <a16:creationId xmlns:a16="http://schemas.microsoft.com/office/drawing/2014/main" id="{535A9471-DC0B-4DE0-A926-601E9E4E1541}"/>
              </a:ext>
            </a:extLst>
          </p:cNvPr>
          <p:cNvSpPr>
            <a:spLocks noChangeArrowheads="1"/>
          </p:cNvSpPr>
          <p:nvPr/>
        </p:nvSpPr>
        <p:spPr bwMode="auto">
          <a:xfrm>
            <a:off x="5791200" y="3211039"/>
            <a:ext cx="1676400" cy="533400"/>
          </a:xfrm>
          <a:prstGeom prst="rect">
            <a:avLst/>
          </a:prstGeom>
          <a:solidFill>
            <a:schemeClr val="accent1">
              <a:alpha val="18823"/>
            </a:schemeClr>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spTree>
    <p:extLst>
      <p:ext uri="{BB962C8B-B14F-4D97-AF65-F5344CB8AC3E}">
        <p14:creationId xmlns:p14="http://schemas.microsoft.com/office/powerpoint/2010/main" val="580099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1"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1" grpId="0" animBg="1"/>
      <p:bldP spid="1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fontScale="90000"/>
          </a:bodyPr>
          <a:lstStyle/>
          <a:p>
            <a:r>
              <a:rPr lang="en-US" dirty="0"/>
              <a:t>Exceptions: </a:t>
            </a:r>
            <a:r>
              <a:rPr lang="en-US" altLang="en-US" dirty="0"/>
              <a:t>Checked Exceptions vs. Unchecked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62</a:t>
            </a:fld>
            <a:endParaRPr lang="en"/>
          </a:p>
        </p:txBody>
      </p:sp>
      <p:sp>
        <p:nvSpPr>
          <p:cNvPr id="13" name="Text Box 4">
            <a:extLst>
              <a:ext uri="{FF2B5EF4-FFF2-40B4-BE49-F238E27FC236}">
                <a16:creationId xmlns:a16="http://schemas.microsoft.com/office/drawing/2014/main" id="{1C49B259-052C-40C4-8766-749D810A3724}"/>
              </a:ext>
            </a:extLst>
          </p:cNvPr>
          <p:cNvSpPr txBox="1">
            <a:spLocks noChangeArrowheads="1"/>
          </p:cNvSpPr>
          <p:nvPr/>
        </p:nvSpPr>
        <p:spPr bwMode="auto">
          <a:xfrm>
            <a:off x="467832" y="2813447"/>
            <a:ext cx="10448261" cy="2235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defTabSz="914377" eaLnBrk="0" fontAlgn="base" hangingPunct="0">
              <a:lnSpc>
                <a:spcPct val="150000"/>
              </a:lnSpc>
              <a:spcBef>
                <a:spcPct val="50000"/>
              </a:spcBef>
              <a:spcAft>
                <a:spcPct val="0"/>
              </a:spcAft>
            </a:pPr>
            <a:r>
              <a:rPr lang="en-US" altLang="en-US" u="sng">
                <a:solidFill>
                  <a:srgbClr val="000000"/>
                </a:solidFill>
                <a:latin typeface="Lato" panose="020F0502020204030203" pitchFamily="34" charset="0"/>
                <a:ea typeface="Lato" panose="020F0502020204030203" pitchFamily="34" charset="0"/>
                <a:cs typeface="Lato" panose="020F0502020204030203" pitchFamily="34" charset="0"/>
              </a:rPr>
              <a:t>RuntimeException</a:t>
            </a:r>
            <a:r>
              <a:rPr lang="en-US" alt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altLang="en-US" u="sng">
                <a:solidFill>
                  <a:srgbClr val="000000"/>
                </a:solidFill>
                <a:latin typeface="Lato" panose="020F0502020204030203" pitchFamily="34" charset="0"/>
                <a:ea typeface="Lato" panose="020F0502020204030203" pitchFamily="34" charset="0"/>
                <a:cs typeface="Lato" panose="020F0502020204030203" pitchFamily="34" charset="0"/>
              </a:rPr>
              <a:t>Error</a:t>
            </a:r>
            <a:r>
              <a:rPr lang="en-US" altLang="en-US">
                <a:solidFill>
                  <a:srgbClr val="000000"/>
                </a:solidFill>
                <a:latin typeface="Lato" panose="020F0502020204030203" pitchFamily="34" charset="0"/>
                <a:ea typeface="Lato" panose="020F0502020204030203" pitchFamily="34" charset="0"/>
                <a:cs typeface="Lato" panose="020F0502020204030203" pitchFamily="34" charset="0"/>
              </a:rPr>
              <a:t> and their subclasses are known as </a:t>
            </a:r>
            <a:r>
              <a:rPr lang="en-US" altLang="en-US" i="1">
                <a:solidFill>
                  <a:srgbClr val="000000"/>
                </a:solidFill>
                <a:latin typeface="Lato" panose="020F0502020204030203" pitchFamily="34" charset="0"/>
                <a:ea typeface="Lato" panose="020F0502020204030203" pitchFamily="34" charset="0"/>
                <a:cs typeface="Lato" panose="020F0502020204030203" pitchFamily="34" charset="0"/>
              </a:rPr>
              <a:t>unchecked</a:t>
            </a:r>
            <a:r>
              <a:rPr lang="en-US" altLang="en-US">
                <a:solidFill>
                  <a:srgbClr val="000000"/>
                </a:solidFill>
                <a:latin typeface="Lato" panose="020F0502020204030203" pitchFamily="34" charset="0"/>
                <a:ea typeface="Lato" panose="020F0502020204030203" pitchFamily="34" charset="0"/>
                <a:cs typeface="Lato" panose="020F0502020204030203" pitchFamily="34" charset="0"/>
              </a:rPr>
              <a:t> </a:t>
            </a:r>
            <a:r>
              <a:rPr lang="en-US" altLang="en-US" i="1">
                <a:solidFill>
                  <a:srgbClr val="000000"/>
                </a:solidFill>
                <a:latin typeface="Lato" panose="020F0502020204030203" pitchFamily="34" charset="0"/>
                <a:ea typeface="Lato" panose="020F0502020204030203" pitchFamily="34" charset="0"/>
                <a:cs typeface="Lato" panose="020F0502020204030203" pitchFamily="34" charset="0"/>
              </a:rPr>
              <a:t>exceptions</a:t>
            </a:r>
            <a:r>
              <a:rPr lang="en-US" altLang="en-US">
                <a:solidFill>
                  <a:srgbClr val="000000"/>
                </a:solidFill>
                <a:latin typeface="Lato" panose="020F0502020204030203" pitchFamily="34" charset="0"/>
                <a:ea typeface="Lato" panose="020F0502020204030203" pitchFamily="34" charset="0"/>
                <a:cs typeface="Lato" panose="020F0502020204030203" pitchFamily="34" charset="0"/>
              </a:rPr>
              <a:t>. All other exceptions are known as </a:t>
            </a:r>
            <a:r>
              <a:rPr lang="en-US" altLang="en-US" i="1">
                <a:solidFill>
                  <a:srgbClr val="000000"/>
                </a:solidFill>
                <a:latin typeface="Lato" panose="020F0502020204030203" pitchFamily="34" charset="0"/>
                <a:ea typeface="Lato" panose="020F0502020204030203" pitchFamily="34" charset="0"/>
                <a:cs typeface="Lato" panose="020F0502020204030203" pitchFamily="34" charset="0"/>
              </a:rPr>
              <a:t>checked exceptions</a:t>
            </a:r>
            <a:r>
              <a:rPr lang="en-US" altLang="en-US">
                <a:solidFill>
                  <a:srgbClr val="000000"/>
                </a:solidFill>
                <a:latin typeface="Lato" panose="020F0502020204030203" pitchFamily="34" charset="0"/>
                <a:ea typeface="Lato" panose="020F0502020204030203" pitchFamily="34" charset="0"/>
                <a:cs typeface="Lato" panose="020F0502020204030203" pitchFamily="34" charset="0"/>
              </a:rPr>
              <a:t>, meaning that the compiler forces the programmer to check and deal with the exceptions. </a:t>
            </a:r>
          </a:p>
        </p:txBody>
      </p:sp>
    </p:spTree>
    <p:extLst>
      <p:ext uri="{BB962C8B-B14F-4D97-AF65-F5344CB8AC3E}">
        <p14:creationId xmlns:p14="http://schemas.microsoft.com/office/powerpoint/2010/main" val="25997470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a:bodyPr>
          <a:lstStyle/>
          <a:p>
            <a:r>
              <a:rPr lang="en-US" dirty="0"/>
              <a:t>Exceptions: </a:t>
            </a:r>
            <a:r>
              <a:rPr lang="en-US" altLang="en-US" dirty="0"/>
              <a:t>Unchecked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63</a:t>
            </a:fld>
            <a:endParaRPr lang="en"/>
          </a:p>
        </p:txBody>
      </p:sp>
      <p:sp>
        <p:nvSpPr>
          <p:cNvPr id="5" name="Text Box 4">
            <a:extLst>
              <a:ext uri="{FF2B5EF4-FFF2-40B4-BE49-F238E27FC236}">
                <a16:creationId xmlns:a16="http://schemas.microsoft.com/office/drawing/2014/main" id="{87FDDE16-BDEF-462C-94D0-A5764D23DEB3}"/>
              </a:ext>
            </a:extLst>
          </p:cNvPr>
          <p:cNvSpPr txBox="1">
            <a:spLocks noChangeArrowheads="1"/>
          </p:cNvSpPr>
          <p:nvPr/>
        </p:nvSpPr>
        <p:spPr bwMode="auto">
          <a:xfrm>
            <a:off x="733916" y="1850967"/>
            <a:ext cx="10724169" cy="4451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defTabSz="914377" eaLnBrk="0" fontAlgn="base" hangingPunct="0">
              <a:lnSpc>
                <a:spcPct val="150000"/>
              </a:lnSpc>
              <a:spcBef>
                <a:spcPct val="50000"/>
              </a:spcBef>
              <a:spcAft>
                <a:spcPct val="0"/>
              </a:spcAft>
            </a:pP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In most cases, unchecked exceptions reflect programming logic errors that are not recoverable. For example, a </a:t>
            </a:r>
            <a:r>
              <a:rPr lang="en-US" altLang="en-US" u="sng" dirty="0" err="1">
                <a:solidFill>
                  <a:srgbClr val="000000"/>
                </a:solidFill>
                <a:latin typeface="Lato" panose="020F0502020204030203" pitchFamily="34" charset="0"/>
                <a:ea typeface="Lato" panose="020F0502020204030203" pitchFamily="34" charset="0"/>
                <a:cs typeface="Lato" panose="020F0502020204030203" pitchFamily="34" charset="0"/>
              </a:rPr>
              <a:t>NullPointerException</a:t>
            </a: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 is thrown if you access an object through a reference variable before an object is assigned to it; an </a:t>
            </a:r>
            <a:r>
              <a:rPr lang="en-US" altLang="en-US" u="sng" dirty="0" err="1">
                <a:solidFill>
                  <a:srgbClr val="000000"/>
                </a:solidFill>
                <a:latin typeface="Lato" panose="020F0502020204030203" pitchFamily="34" charset="0"/>
                <a:ea typeface="Lato" panose="020F0502020204030203" pitchFamily="34" charset="0"/>
                <a:cs typeface="Lato" panose="020F0502020204030203" pitchFamily="34" charset="0"/>
              </a:rPr>
              <a:t>IndexOutOfBoundsException</a:t>
            </a: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 is thrown if you access an element in an array outside the bounds of the array. These are the logic errors that should be corrected in the program. Unchecked exceptions can occur anywhere in the program. To avoid cumbersome overuse of try-catch blocks, Java does not mandate you to write code to catch unchecked exceptions.</a:t>
            </a:r>
          </a:p>
        </p:txBody>
      </p:sp>
    </p:spTree>
    <p:extLst>
      <p:ext uri="{BB962C8B-B14F-4D97-AF65-F5344CB8AC3E}">
        <p14:creationId xmlns:p14="http://schemas.microsoft.com/office/powerpoint/2010/main" val="2993766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a:bodyPr>
          <a:lstStyle/>
          <a:p>
            <a:r>
              <a:rPr lang="en-US" dirty="0"/>
              <a:t>Exceptions: </a:t>
            </a:r>
            <a:r>
              <a:rPr lang="en-US" altLang="en-US" dirty="0"/>
              <a:t>Unchecked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64</a:t>
            </a:fld>
            <a:endParaRPr lang="en"/>
          </a:p>
        </p:txBody>
      </p:sp>
      <p:sp>
        <p:nvSpPr>
          <p:cNvPr id="6" name="Rectangle 3">
            <a:extLst>
              <a:ext uri="{FF2B5EF4-FFF2-40B4-BE49-F238E27FC236}">
                <a16:creationId xmlns:a16="http://schemas.microsoft.com/office/drawing/2014/main" id="{5510CBAD-73A7-4BFD-9FEA-11E456B1751A}"/>
              </a:ext>
            </a:extLst>
          </p:cNvPr>
          <p:cNvSpPr>
            <a:spLocks noChangeArrowheads="1"/>
          </p:cNvSpPr>
          <p:nvPr/>
        </p:nvSpPr>
        <p:spPr bwMode="auto">
          <a:xfrm>
            <a:off x="1524002" y="2091806"/>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graphicFrame>
        <p:nvGraphicFramePr>
          <p:cNvPr id="7" name="Object 4">
            <a:extLst>
              <a:ext uri="{FF2B5EF4-FFF2-40B4-BE49-F238E27FC236}">
                <a16:creationId xmlns:a16="http://schemas.microsoft.com/office/drawing/2014/main" id="{5939435A-49F3-4E24-87DF-05B08099E77E}"/>
              </a:ext>
            </a:extLst>
          </p:cNvPr>
          <p:cNvGraphicFramePr>
            <a:graphicFrameLocks noChangeAspect="1"/>
          </p:cNvGraphicFramePr>
          <p:nvPr/>
        </p:nvGraphicFramePr>
        <p:xfrm>
          <a:off x="1676400" y="1693987"/>
          <a:ext cx="8839200" cy="4510088"/>
        </p:xfrm>
        <a:graphic>
          <a:graphicData uri="http://schemas.openxmlformats.org/presentationml/2006/ole">
            <mc:AlternateContent xmlns:mc="http://schemas.openxmlformats.org/markup-compatibility/2006">
              <mc:Choice xmlns:v="urn:schemas-microsoft-com:vml" Requires="v">
                <p:oleObj name="Picture" r:id="rId2" imgW="5608452" imgH="2853594" progId="Word.Picture.8">
                  <p:embed/>
                </p:oleObj>
              </mc:Choice>
              <mc:Fallback>
                <p:oleObj name="Picture" r:id="rId2" imgW="5608452" imgH="2853594" progId="Word.Picture.8">
                  <p:embed/>
                  <p:pic>
                    <p:nvPicPr>
                      <p:cNvPr id="7" name="Object 4">
                        <a:extLst>
                          <a:ext uri="{FF2B5EF4-FFF2-40B4-BE49-F238E27FC236}">
                            <a16:creationId xmlns:a16="http://schemas.microsoft.com/office/drawing/2014/main" id="{5939435A-49F3-4E24-87DF-05B08099E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693987"/>
                        <a:ext cx="8839200" cy="451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5">
            <a:extLst>
              <a:ext uri="{FF2B5EF4-FFF2-40B4-BE49-F238E27FC236}">
                <a16:creationId xmlns:a16="http://schemas.microsoft.com/office/drawing/2014/main" id="{C16E3C71-B04D-4A0A-8760-4AC1AC8A0200}"/>
              </a:ext>
            </a:extLst>
          </p:cNvPr>
          <p:cNvSpPr txBox="1">
            <a:spLocks noChangeArrowheads="1"/>
          </p:cNvSpPr>
          <p:nvPr/>
        </p:nvSpPr>
        <p:spPr bwMode="auto">
          <a:xfrm>
            <a:off x="8305800" y="5199187"/>
            <a:ext cx="1676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50000"/>
              </a:spcBef>
              <a:spcAft>
                <a:spcPct val="0"/>
              </a:spcAft>
            </a:pPr>
            <a:r>
              <a:rPr lang="en-US" altLang="en-US" sz="1400">
                <a:solidFill>
                  <a:srgbClr val="5F5F5F"/>
                </a:solidFill>
              </a:rPr>
              <a:t>Unchecked exception.</a:t>
            </a:r>
          </a:p>
        </p:txBody>
      </p:sp>
      <p:sp>
        <p:nvSpPr>
          <p:cNvPr id="9" name="Rectangle 6">
            <a:extLst>
              <a:ext uri="{FF2B5EF4-FFF2-40B4-BE49-F238E27FC236}">
                <a16:creationId xmlns:a16="http://schemas.microsoft.com/office/drawing/2014/main" id="{41B16E71-109B-467D-AA29-DE756E5DFB81}"/>
              </a:ext>
            </a:extLst>
          </p:cNvPr>
          <p:cNvSpPr>
            <a:spLocks noChangeArrowheads="1"/>
          </p:cNvSpPr>
          <p:nvPr/>
        </p:nvSpPr>
        <p:spPr bwMode="auto">
          <a:xfrm>
            <a:off x="5638800" y="3065587"/>
            <a:ext cx="2209800" cy="533400"/>
          </a:xfrm>
          <a:prstGeom prst="rect">
            <a:avLst/>
          </a:prstGeom>
          <a:solidFill>
            <a:schemeClr val="accent1">
              <a:alpha val="18823"/>
            </a:schemeClr>
          </a:solidFill>
          <a:ln w="12700">
            <a:solidFill>
              <a:schemeClr val="accent1">
                <a:lumMod val="60000"/>
                <a:lumOff val="40000"/>
              </a:schemeClr>
            </a:solidFill>
            <a:miter lim="800000"/>
            <a:headEnd type="none" w="sm" len="sm"/>
            <a:tailEnd type="none" w="sm" len="sm"/>
          </a:ln>
          <a:effectLst/>
        </p:spPr>
        <p:txBody>
          <a:bodyPr wrap="none" anchor="ctr"/>
          <a:lstStyle/>
          <a:p>
            <a:pPr defTabSz="914377" eaLnBrk="0" fontAlgn="base" hangingPunct="0">
              <a:spcBef>
                <a:spcPct val="0"/>
              </a:spcBef>
              <a:spcAft>
                <a:spcPct val="0"/>
              </a:spcAft>
              <a:defRPr/>
            </a:pPr>
            <a:endParaRPr lang="en-US" altLang="en-US" sz="2400">
              <a:latin typeface="Times New Roman" panose="02020603050405020304" pitchFamily="18" charset="0"/>
              <a:cs typeface="Arial" panose="020B0604020202020204" pitchFamily="34" charset="0"/>
            </a:endParaRPr>
          </a:p>
        </p:txBody>
      </p:sp>
      <p:sp>
        <p:nvSpPr>
          <p:cNvPr id="10" name="Rectangle 7">
            <a:extLst>
              <a:ext uri="{FF2B5EF4-FFF2-40B4-BE49-F238E27FC236}">
                <a16:creationId xmlns:a16="http://schemas.microsoft.com/office/drawing/2014/main" id="{9EA363B7-514A-415F-A327-F30D0F5A1B1B}"/>
              </a:ext>
            </a:extLst>
          </p:cNvPr>
          <p:cNvSpPr>
            <a:spLocks noChangeArrowheads="1"/>
          </p:cNvSpPr>
          <p:nvPr/>
        </p:nvSpPr>
        <p:spPr bwMode="auto">
          <a:xfrm>
            <a:off x="7772400" y="2227387"/>
            <a:ext cx="2514600" cy="2514600"/>
          </a:xfrm>
          <a:prstGeom prst="rect">
            <a:avLst/>
          </a:prstGeom>
          <a:solidFill>
            <a:schemeClr val="accent1">
              <a:alpha val="18823"/>
            </a:schemeClr>
          </a:solidFill>
          <a:ln w="12700">
            <a:solidFill>
              <a:schemeClr val="accent2">
                <a:lumMod val="20000"/>
                <a:lumOff val="80000"/>
              </a:schemeClr>
            </a:solidFill>
            <a:miter lim="800000"/>
            <a:headEnd type="none" w="sm" len="sm"/>
            <a:tailEnd type="none" w="sm" len="sm"/>
          </a:ln>
          <a:effectLst/>
        </p:spPr>
        <p:txBody>
          <a:bodyPr wrap="none" anchor="ctr"/>
          <a:lstStyle/>
          <a:p>
            <a:pPr defTabSz="914377" eaLnBrk="0" fontAlgn="base" hangingPunct="0">
              <a:spcBef>
                <a:spcPct val="0"/>
              </a:spcBef>
              <a:spcAft>
                <a:spcPct val="0"/>
              </a:spcAft>
              <a:defRPr/>
            </a:pPr>
            <a:endParaRPr lang="en-US" altLang="en-US" sz="2400">
              <a:latin typeface="Times New Roman" panose="02020603050405020304" pitchFamily="18" charset="0"/>
              <a:cs typeface="Arial" panose="020B0604020202020204" pitchFamily="34" charset="0"/>
            </a:endParaRPr>
          </a:p>
        </p:txBody>
      </p:sp>
      <p:sp>
        <p:nvSpPr>
          <p:cNvPr id="11" name="Rectangle 8">
            <a:extLst>
              <a:ext uri="{FF2B5EF4-FFF2-40B4-BE49-F238E27FC236}">
                <a16:creationId xmlns:a16="http://schemas.microsoft.com/office/drawing/2014/main" id="{4A4BD381-CA5C-4768-BE2C-B0734D5A8074}"/>
              </a:ext>
            </a:extLst>
          </p:cNvPr>
          <p:cNvSpPr>
            <a:spLocks noChangeArrowheads="1"/>
          </p:cNvSpPr>
          <p:nvPr/>
        </p:nvSpPr>
        <p:spPr bwMode="auto">
          <a:xfrm>
            <a:off x="4267200" y="4284787"/>
            <a:ext cx="3581400" cy="1828800"/>
          </a:xfrm>
          <a:prstGeom prst="rect">
            <a:avLst/>
          </a:prstGeom>
          <a:solidFill>
            <a:schemeClr val="accent1">
              <a:alpha val="18823"/>
            </a:schemeClr>
          </a:solidFill>
          <a:ln w="12700">
            <a:solidFill>
              <a:schemeClr val="accent1">
                <a:lumMod val="40000"/>
                <a:lumOff val="60000"/>
              </a:schemeClr>
            </a:solidFill>
            <a:miter lim="800000"/>
            <a:headEnd type="none" w="sm" len="sm"/>
            <a:tailEnd type="none" w="sm" len="sm"/>
          </a:ln>
          <a:effectLst/>
        </p:spPr>
        <p:txBody>
          <a:bodyPr wrap="none" anchor="ctr"/>
          <a:lstStyle/>
          <a:p>
            <a:pPr defTabSz="914377" eaLnBrk="0" fontAlgn="base" hangingPunct="0">
              <a:spcBef>
                <a:spcPct val="0"/>
              </a:spcBef>
              <a:spcAft>
                <a:spcPct val="0"/>
              </a:spcAft>
              <a:defRPr/>
            </a:pPr>
            <a:endParaRPr lang="en-US" altLang="en-US" sz="240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71671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fontScale="90000"/>
          </a:bodyPr>
          <a:lstStyle/>
          <a:p>
            <a:r>
              <a:rPr lang="en-US" dirty="0"/>
              <a:t>Exceptions: </a:t>
            </a:r>
            <a:r>
              <a:rPr lang="en-US" altLang="en-US" dirty="0"/>
              <a:t>Declaring, Throwing, and Catching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65</a:t>
            </a:fld>
            <a:endParaRPr lang="en"/>
          </a:p>
        </p:txBody>
      </p:sp>
      <p:graphicFrame>
        <p:nvGraphicFramePr>
          <p:cNvPr id="12" name="Object 4">
            <a:extLst>
              <a:ext uri="{FF2B5EF4-FFF2-40B4-BE49-F238E27FC236}">
                <a16:creationId xmlns:a16="http://schemas.microsoft.com/office/drawing/2014/main" id="{35AAA688-158F-40F9-B681-126A4C8E994B}"/>
              </a:ext>
            </a:extLst>
          </p:cNvPr>
          <p:cNvGraphicFramePr>
            <a:graphicFrameLocks noChangeAspect="1"/>
          </p:cNvGraphicFramePr>
          <p:nvPr/>
        </p:nvGraphicFramePr>
        <p:xfrm>
          <a:off x="1365250" y="2514601"/>
          <a:ext cx="9302751" cy="2220913"/>
        </p:xfrm>
        <a:graphic>
          <a:graphicData uri="http://schemas.openxmlformats.org/presentationml/2006/ole">
            <mc:AlternateContent xmlns:mc="http://schemas.openxmlformats.org/markup-compatibility/2006">
              <mc:Choice xmlns:v="urn:schemas-microsoft-com:vml" Requires="v">
                <p:oleObj name="Picture" r:id="rId2" imgW="5108448" imgH="1219200" progId="Word.Picture.8">
                  <p:embed/>
                </p:oleObj>
              </mc:Choice>
              <mc:Fallback>
                <p:oleObj name="Picture" r:id="rId2" imgW="5108448" imgH="1219200" progId="Word.Picture.8">
                  <p:embed/>
                  <p:pic>
                    <p:nvPicPr>
                      <p:cNvPr id="12" name="Object 4">
                        <a:extLst>
                          <a:ext uri="{FF2B5EF4-FFF2-40B4-BE49-F238E27FC236}">
                            <a16:creationId xmlns:a16="http://schemas.microsoft.com/office/drawing/2014/main" id="{35AAA688-158F-40F9-B681-126A4C8E99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0" y="2514601"/>
                        <a:ext cx="9302751"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164323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a:bodyPr>
          <a:lstStyle/>
          <a:p>
            <a:r>
              <a:rPr lang="en-US" dirty="0"/>
              <a:t>Exceptions: </a:t>
            </a:r>
            <a:r>
              <a:rPr lang="en-US" altLang="en-US" dirty="0"/>
              <a:t>Declaring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66</a:t>
            </a:fld>
            <a:endParaRPr lang="en"/>
          </a:p>
        </p:txBody>
      </p:sp>
      <p:sp>
        <p:nvSpPr>
          <p:cNvPr id="6" name="Rectangle 3">
            <a:extLst>
              <a:ext uri="{FF2B5EF4-FFF2-40B4-BE49-F238E27FC236}">
                <a16:creationId xmlns:a16="http://schemas.microsoft.com/office/drawing/2014/main" id="{45DCF1D4-CD58-46F7-8440-75AADD26D269}"/>
              </a:ext>
            </a:extLst>
          </p:cNvPr>
          <p:cNvSpPr txBox="1">
            <a:spLocks noChangeArrowheads="1"/>
          </p:cNvSpPr>
          <p:nvPr/>
        </p:nvSpPr>
        <p:spPr bwMode="auto">
          <a:xfrm>
            <a:off x="1174897" y="1989735"/>
            <a:ext cx="80772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defTabSz="1219170">
              <a:spcBef>
                <a:spcPct val="0"/>
              </a:spcBef>
              <a:buClr>
                <a:srgbClr val="000000"/>
              </a:buClr>
              <a:buNone/>
              <a:defRPr/>
            </a:pPr>
            <a:r>
              <a:rPr lang="en-US" altLang="en-US" sz="3200">
                <a:solidFill>
                  <a:srgbClr val="000000"/>
                </a:solidFill>
                <a:latin typeface="Times New Roman"/>
                <a:cs typeface="Times New Roman" panose="02020603050405020304" pitchFamily="18" charset="0"/>
              </a:rPr>
              <a:t>Every method must state the types of checked exceptions it might throw. This is known as </a:t>
            </a:r>
            <a:r>
              <a:rPr lang="en-US" altLang="en-US" sz="3200" i="1">
                <a:solidFill>
                  <a:srgbClr val="000000"/>
                </a:solidFill>
                <a:latin typeface="Times New Roman"/>
                <a:cs typeface="Times New Roman" panose="02020603050405020304" pitchFamily="18" charset="0"/>
              </a:rPr>
              <a:t>declaring exceptions</a:t>
            </a:r>
            <a:r>
              <a:rPr lang="en-US" altLang="en-US" sz="3200">
                <a:solidFill>
                  <a:srgbClr val="000000"/>
                </a:solidFill>
                <a:latin typeface="Times New Roman"/>
                <a:cs typeface="Times New Roman" panose="02020603050405020304" pitchFamily="18" charset="0"/>
              </a:rPr>
              <a:t>. </a:t>
            </a:r>
          </a:p>
          <a:p>
            <a:pPr marL="0" indent="0" defTabSz="1219170">
              <a:spcBef>
                <a:spcPct val="0"/>
              </a:spcBef>
              <a:buClr>
                <a:srgbClr val="000000"/>
              </a:buClr>
              <a:buNone/>
              <a:defRPr/>
            </a:pPr>
            <a:endParaRPr lang="en-US" altLang="en-US" sz="3200">
              <a:solidFill>
                <a:srgbClr val="000000"/>
              </a:solidFill>
              <a:latin typeface="Times New Roman"/>
              <a:cs typeface="Times New Roman" panose="02020603050405020304" pitchFamily="18" charset="0"/>
            </a:endParaRPr>
          </a:p>
          <a:p>
            <a:pPr marL="0" indent="0" defTabSz="1219170">
              <a:spcBef>
                <a:spcPct val="0"/>
              </a:spcBef>
              <a:buClr>
                <a:srgbClr val="000000"/>
              </a:buClr>
              <a:buNone/>
              <a:defRPr/>
            </a:pPr>
            <a:r>
              <a:rPr lang="en-US" altLang="en-US" sz="3000">
                <a:solidFill>
                  <a:srgbClr val="000000"/>
                </a:solidFill>
                <a:latin typeface="Times New Roman"/>
              </a:rPr>
              <a:t>public void myMethod()</a:t>
            </a:r>
          </a:p>
          <a:p>
            <a:pPr marL="0" indent="0" defTabSz="1219170">
              <a:spcBef>
                <a:spcPct val="0"/>
              </a:spcBef>
              <a:buClr>
                <a:srgbClr val="000000"/>
              </a:buClr>
              <a:buNone/>
              <a:defRPr/>
            </a:pPr>
            <a:r>
              <a:rPr lang="en-US" altLang="en-US" sz="3000">
                <a:solidFill>
                  <a:srgbClr val="000000"/>
                </a:solidFill>
                <a:latin typeface="Times New Roman"/>
              </a:rPr>
              <a:t>   throws IOException</a:t>
            </a:r>
          </a:p>
          <a:p>
            <a:pPr marL="0" indent="0" defTabSz="1219170">
              <a:spcBef>
                <a:spcPct val="100000"/>
              </a:spcBef>
              <a:buClr>
                <a:srgbClr val="000000"/>
              </a:buClr>
              <a:buNone/>
              <a:defRPr/>
            </a:pPr>
            <a:r>
              <a:rPr lang="en-US" altLang="en-US" sz="3000">
                <a:solidFill>
                  <a:srgbClr val="000000"/>
                </a:solidFill>
                <a:latin typeface="Times New Roman"/>
              </a:rPr>
              <a:t>public void myMethod()</a:t>
            </a:r>
          </a:p>
          <a:p>
            <a:pPr marL="0" indent="0" defTabSz="1219170">
              <a:spcBef>
                <a:spcPct val="0"/>
              </a:spcBef>
              <a:buClr>
                <a:srgbClr val="000000"/>
              </a:buClr>
              <a:buNone/>
              <a:defRPr/>
            </a:pPr>
            <a:r>
              <a:rPr lang="en-US" altLang="en-US" sz="3000">
                <a:solidFill>
                  <a:srgbClr val="000000"/>
                </a:solidFill>
                <a:latin typeface="Times New Roman"/>
              </a:rPr>
              <a:t>   throws IOException, OtherException</a:t>
            </a:r>
            <a:endParaRPr lang="en-US" altLang="en-US" sz="3000" dirty="0">
              <a:solidFill>
                <a:srgbClr val="000000"/>
              </a:solidFill>
              <a:latin typeface="Times New Roman"/>
            </a:endParaRPr>
          </a:p>
        </p:txBody>
      </p:sp>
    </p:spTree>
    <p:extLst>
      <p:ext uri="{BB962C8B-B14F-4D97-AF65-F5344CB8AC3E}">
        <p14:creationId xmlns:p14="http://schemas.microsoft.com/office/powerpoint/2010/main" val="15739622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a:bodyPr>
          <a:lstStyle/>
          <a:p>
            <a:r>
              <a:rPr lang="en-US" dirty="0"/>
              <a:t>Exceptions: </a:t>
            </a:r>
            <a:r>
              <a:rPr lang="en-US" altLang="en-US" dirty="0"/>
              <a:t>Throwing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67</a:t>
            </a:fld>
            <a:endParaRPr lang="en"/>
          </a:p>
        </p:txBody>
      </p:sp>
      <p:sp>
        <p:nvSpPr>
          <p:cNvPr id="7" name="Rectangle 3">
            <a:extLst>
              <a:ext uri="{FF2B5EF4-FFF2-40B4-BE49-F238E27FC236}">
                <a16:creationId xmlns:a16="http://schemas.microsoft.com/office/drawing/2014/main" id="{DB0C6883-492A-4E57-98F6-864258BD6354}"/>
              </a:ext>
            </a:extLst>
          </p:cNvPr>
          <p:cNvSpPr txBox="1">
            <a:spLocks noChangeArrowheads="1"/>
          </p:cNvSpPr>
          <p:nvPr/>
        </p:nvSpPr>
        <p:spPr bwMode="auto">
          <a:xfrm>
            <a:off x="1414131" y="2142135"/>
            <a:ext cx="83820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defTabSz="1219170">
              <a:lnSpc>
                <a:spcPct val="90000"/>
              </a:lnSpc>
              <a:buClr>
                <a:srgbClr val="000000"/>
              </a:buClr>
              <a:buNone/>
              <a:defRPr/>
            </a:pPr>
            <a:r>
              <a:rPr lang="en-US" altLang="en-US" sz="3200">
                <a:solidFill>
                  <a:srgbClr val="000000"/>
                </a:solidFill>
                <a:latin typeface="Times New Roman"/>
                <a:cs typeface="Times New Roman" panose="02020603050405020304" pitchFamily="18" charset="0"/>
              </a:rPr>
              <a:t>When the program detects an error, the program can create an instance of an appropriate exception type and throw it. This is known as </a:t>
            </a:r>
            <a:r>
              <a:rPr lang="en-US" altLang="en-US" sz="3200" i="1">
                <a:solidFill>
                  <a:srgbClr val="000000"/>
                </a:solidFill>
                <a:latin typeface="Times New Roman"/>
                <a:cs typeface="Times New Roman" panose="02020603050405020304" pitchFamily="18" charset="0"/>
              </a:rPr>
              <a:t>throwing an exception</a:t>
            </a:r>
            <a:r>
              <a:rPr lang="en-US" altLang="en-US" sz="3200">
                <a:solidFill>
                  <a:srgbClr val="000000"/>
                </a:solidFill>
                <a:latin typeface="Times New Roman"/>
                <a:cs typeface="Times New Roman" panose="02020603050405020304" pitchFamily="18" charset="0"/>
              </a:rPr>
              <a:t>. Here is an example, </a:t>
            </a:r>
          </a:p>
          <a:p>
            <a:pPr marL="0" indent="0" defTabSz="1219170">
              <a:lnSpc>
                <a:spcPct val="90000"/>
              </a:lnSpc>
              <a:buClr>
                <a:srgbClr val="000000"/>
              </a:buClr>
              <a:buNone/>
              <a:defRPr/>
            </a:pPr>
            <a:endParaRPr lang="en-US" altLang="en-US" sz="3200">
              <a:solidFill>
                <a:srgbClr val="000000"/>
              </a:solidFill>
              <a:latin typeface="Times New Roman"/>
              <a:cs typeface="Times New Roman" panose="02020603050405020304" pitchFamily="18" charset="0"/>
            </a:endParaRPr>
          </a:p>
          <a:p>
            <a:pPr marL="0" indent="0" defTabSz="1219170">
              <a:lnSpc>
                <a:spcPct val="90000"/>
              </a:lnSpc>
              <a:buClr>
                <a:srgbClr val="000000"/>
              </a:buClr>
              <a:buNone/>
              <a:defRPr/>
            </a:pPr>
            <a:r>
              <a:rPr lang="en-US" altLang="en-US" sz="3000">
                <a:solidFill>
                  <a:srgbClr val="000000"/>
                </a:solidFill>
                <a:latin typeface="Times New Roman"/>
              </a:rPr>
              <a:t>throw new TheException(); </a:t>
            </a:r>
          </a:p>
          <a:p>
            <a:pPr marL="0" indent="0" defTabSz="1219170">
              <a:lnSpc>
                <a:spcPct val="90000"/>
              </a:lnSpc>
              <a:spcBef>
                <a:spcPct val="100000"/>
              </a:spcBef>
              <a:buClr>
                <a:srgbClr val="000000"/>
              </a:buClr>
              <a:buNone/>
              <a:defRPr/>
            </a:pPr>
            <a:r>
              <a:rPr lang="en-US" altLang="en-US" sz="3000">
                <a:solidFill>
                  <a:srgbClr val="000000"/>
                </a:solidFill>
                <a:latin typeface="Times New Roman"/>
              </a:rPr>
              <a:t>TheException ex = new TheException();</a:t>
            </a:r>
            <a:br>
              <a:rPr lang="en-US" altLang="en-US" sz="3000">
                <a:solidFill>
                  <a:srgbClr val="000000"/>
                </a:solidFill>
                <a:latin typeface="Times New Roman"/>
              </a:rPr>
            </a:br>
            <a:r>
              <a:rPr lang="en-US" altLang="en-US" sz="3000">
                <a:solidFill>
                  <a:srgbClr val="000000"/>
                </a:solidFill>
                <a:latin typeface="Times New Roman"/>
              </a:rPr>
              <a:t>throw ex;</a:t>
            </a:r>
            <a:endParaRPr lang="en-US" altLang="en-US" sz="3000" dirty="0">
              <a:solidFill>
                <a:srgbClr val="000000"/>
              </a:solidFill>
              <a:latin typeface="Times New Roman"/>
            </a:endParaRPr>
          </a:p>
        </p:txBody>
      </p:sp>
    </p:spTree>
    <p:extLst>
      <p:ext uri="{BB962C8B-B14F-4D97-AF65-F5344CB8AC3E}">
        <p14:creationId xmlns:p14="http://schemas.microsoft.com/office/powerpoint/2010/main" val="33945785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a:bodyPr>
          <a:lstStyle/>
          <a:p>
            <a:r>
              <a:rPr lang="en-US" dirty="0"/>
              <a:t>Exceptions: </a:t>
            </a:r>
            <a:r>
              <a:rPr lang="en-US" altLang="en-US" dirty="0"/>
              <a:t>Throwing Exceptions Example</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68</a:t>
            </a:fld>
            <a:endParaRPr lang="en"/>
          </a:p>
        </p:txBody>
      </p:sp>
      <p:sp>
        <p:nvSpPr>
          <p:cNvPr id="5" name="Rectangle 3">
            <a:extLst>
              <a:ext uri="{FF2B5EF4-FFF2-40B4-BE49-F238E27FC236}">
                <a16:creationId xmlns:a16="http://schemas.microsoft.com/office/drawing/2014/main" id="{C9AC4FF9-590F-4AF2-8052-46A3E328F346}"/>
              </a:ext>
            </a:extLst>
          </p:cNvPr>
          <p:cNvSpPr>
            <a:spLocks noGrp="1" noChangeArrowheads="1"/>
          </p:cNvSpPr>
          <p:nvPr>
            <p:ph type="body" idx="1"/>
          </p:nvPr>
        </p:nvSpPr>
        <p:spPr>
          <a:xfrm>
            <a:off x="1568301" y="2213346"/>
            <a:ext cx="8686800" cy="4119789"/>
          </a:xfrm>
        </p:spPr>
        <p:txBody>
          <a:bodyPr/>
          <a:lstStyle/>
          <a:p>
            <a:pPr>
              <a:spcBef>
                <a:spcPct val="0"/>
              </a:spcBef>
              <a:buFont typeface="Monotype Sorts" pitchFamily="2" charset="2"/>
              <a:buNone/>
              <a:defRPr/>
            </a:pPr>
            <a:r>
              <a:rPr lang="en-US" b="1" dirty="0">
                <a:solidFill>
                  <a:schemeClr val="bg2"/>
                </a:solidFill>
                <a:latin typeface="Courier" charset="0"/>
                <a:cs typeface="Times New Roman" panose="02020603050405020304" pitchFamily="18" charset="0"/>
              </a:rPr>
              <a:t>   </a:t>
            </a:r>
            <a:r>
              <a:rPr lang="en-US" sz="2000" b="1" dirty="0">
                <a:solidFill>
                  <a:schemeClr val="bg2"/>
                </a:solidFill>
                <a:latin typeface="Courier New" panose="02070309020205020404" pitchFamily="49" charset="0"/>
                <a:cs typeface="Times New Roman" panose="02020603050405020304" pitchFamily="18" charset="0"/>
              </a:rPr>
              <a:t>/** Set a new radius */</a:t>
            </a:r>
          </a:p>
          <a:p>
            <a:pPr>
              <a:spcBef>
                <a:spcPct val="0"/>
              </a:spcBef>
              <a:buFont typeface="Monotype Sorts" pitchFamily="2" charset="2"/>
              <a:buNone/>
              <a:defRPr/>
            </a:pPr>
            <a:r>
              <a:rPr lang="en-US" sz="2000" b="1" dirty="0">
                <a:solidFill>
                  <a:schemeClr val="bg2"/>
                </a:solidFill>
                <a:latin typeface="Courier New" panose="02070309020205020404" pitchFamily="49" charset="0"/>
                <a:cs typeface="Times New Roman" panose="02020603050405020304" pitchFamily="18" charset="0"/>
              </a:rPr>
              <a:t>  public void </a:t>
            </a:r>
            <a:r>
              <a:rPr lang="en-US" sz="2000" b="1" dirty="0" err="1">
                <a:solidFill>
                  <a:schemeClr val="bg2"/>
                </a:solidFill>
                <a:latin typeface="Courier New" panose="02070309020205020404" pitchFamily="49" charset="0"/>
                <a:cs typeface="Times New Roman" panose="02020603050405020304" pitchFamily="18" charset="0"/>
              </a:rPr>
              <a:t>setRadius</a:t>
            </a:r>
            <a:r>
              <a:rPr lang="en-US" sz="2000" b="1" dirty="0">
                <a:solidFill>
                  <a:schemeClr val="bg2"/>
                </a:solidFill>
                <a:latin typeface="Courier New" panose="02070309020205020404" pitchFamily="49" charset="0"/>
                <a:cs typeface="Times New Roman" panose="02020603050405020304" pitchFamily="18" charset="0"/>
              </a:rPr>
              <a:t>(double </a:t>
            </a:r>
            <a:r>
              <a:rPr lang="en-US" sz="2000" b="1" dirty="0" err="1">
                <a:solidFill>
                  <a:schemeClr val="bg2"/>
                </a:solidFill>
                <a:latin typeface="Courier New" panose="02070309020205020404" pitchFamily="49" charset="0"/>
                <a:cs typeface="Times New Roman" panose="02020603050405020304" pitchFamily="18" charset="0"/>
              </a:rPr>
              <a:t>newRadius</a:t>
            </a:r>
            <a:r>
              <a:rPr lang="en-US" sz="2000" b="1" dirty="0">
                <a:solidFill>
                  <a:schemeClr val="bg2"/>
                </a:solidFill>
                <a:latin typeface="Courier New" panose="02070309020205020404" pitchFamily="49" charset="0"/>
                <a:cs typeface="Times New Roman" panose="02020603050405020304" pitchFamily="18" charset="0"/>
              </a:rPr>
              <a:t>) </a:t>
            </a:r>
          </a:p>
          <a:p>
            <a:pPr>
              <a:spcBef>
                <a:spcPct val="0"/>
              </a:spcBef>
              <a:buFont typeface="Monotype Sorts" pitchFamily="2" charset="2"/>
              <a:buNone/>
              <a:defRPr/>
            </a:pPr>
            <a:r>
              <a:rPr lang="en-US" sz="2000" b="1" dirty="0">
                <a:solidFill>
                  <a:schemeClr val="bg2"/>
                </a:solidFill>
                <a:latin typeface="Courier New" panose="02070309020205020404" pitchFamily="49" charset="0"/>
                <a:cs typeface="Times New Roman" panose="02020603050405020304" pitchFamily="18" charset="0"/>
              </a:rPr>
              <a:t>      </a:t>
            </a:r>
            <a:r>
              <a:rPr lang="en-US" sz="2000" b="1" dirty="0">
                <a:solidFill>
                  <a:srgbClr val="FF3300"/>
                </a:solidFill>
                <a:effectLst>
                  <a:outerShdw blurRad="38100" dist="38100" dir="2700000" algn="tl">
                    <a:srgbClr val="C0C0C0"/>
                  </a:outerShdw>
                </a:effectLst>
                <a:latin typeface="Courier New" panose="02070309020205020404" pitchFamily="49" charset="0"/>
                <a:cs typeface="Times New Roman" panose="02020603050405020304" pitchFamily="18" charset="0"/>
              </a:rPr>
              <a:t>throws </a:t>
            </a:r>
            <a:r>
              <a:rPr lang="en-US" sz="2000" b="1" dirty="0" err="1">
                <a:solidFill>
                  <a:srgbClr val="FF3300"/>
                </a:solidFill>
                <a:effectLst>
                  <a:outerShdw blurRad="38100" dist="38100" dir="2700000" algn="tl">
                    <a:srgbClr val="C0C0C0"/>
                  </a:outerShdw>
                </a:effectLst>
                <a:latin typeface="Courier New" panose="02070309020205020404" pitchFamily="49" charset="0"/>
                <a:cs typeface="Times New Roman" panose="02020603050405020304" pitchFamily="18" charset="0"/>
              </a:rPr>
              <a:t>IllegalArgumentException</a:t>
            </a:r>
            <a:r>
              <a:rPr lang="en-US" sz="2000" b="1" dirty="0">
                <a:solidFill>
                  <a:schemeClr val="bg2"/>
                </a:solidFill>
                <a:latin typeface="Courier New" panose="02070309020205020404" pitchFamily="49" charset="0"/>
                <a:cs typeface="Times New Roman" panose="02020603050405020304" pitchFamily="18" charset="0"/>
              </a:rPr>
              <a:t> {</a:t>
            </a:r>
          </a:p>
          <a:p>
            <a:pPr>
              <a:spcBef>
                <a:spcPct val="0"/>
              </a:spcBef>
              <a:buFont typeface="Monotype Sorts" pitchFamily="2" charset="2"/>
              <a:buNone/>
              <a:defRPr/>
            </a:pPr>
            <a:r>
              <a:rPr lang="en-US" sz="2000" b="1" dirty="0">
                <a:solidFill>
                  <a:schemeClr val="bg2"/>
                </a:solidFill>
                <a:latin typeface="Courier New" panose="02070309020205020404" pitchFamily="49" charset="0"/>
                <a:cs typeface="Times New Roman" panose="02020603050405020304" pitchFamily="18" charset="0"/>
              </a:rPr>
              <a:t>    if (</a:t>
            </a:r>
            <a:r>
              <a:rPr lang="en-US" sz="2000" b="1" dirty="0" err="1">
                <a:solidFill>
                  <a:schemeClr val="bg2"/>
                </a:solidFill>
                <a:latin typeface="Courier New" panose="02070309020205020404" pitchFamily="49" charset="0"/>
                <a:cs typeface="Times New Roman" panose="02020603050405020304" pitchFamily="18" charset="0"/>
              </a:rPr>
              <a:t>newRadius</a:t>
            </a:r>
            <a:r>
              <a:rPr lang="en-US" sz="2000" b="1" dirty="0">
                <a:solidFill>
                  <a:schemeClr val="bg2"/>
                </a:solidFill>
                <a:latin typeface="Courier New" panose="02070309020205020404" pitchFamily="49" charset="0"/>
                <a:cs typeface="Times New Roman" panose="02020603050405020304" pitchFamily="18" charset="0"/>
              </a:rPr>
              <a:t> &gt;= 0)</a:t>
            </a:r>
          </a:p>
          <a:p>
            <a:pPr>
              <a:spcBef>
                <a:spcPct val="0"/>
              </a:spcBef>
              <a:buFont typeface="Monotype Sorts" pitchFamily="2" charset="2"/>
              <a:buNone/>
              <a:defRPr/>
            </a:pPr>
            <a:r>
              <a:rPr lang="en-US" sz="2000" b="1" dirty="0">
                <a:solidFill>
                  <a:schemeClr val="bg2"/>
                </a:solidFill>
                <a:latin typeface="Courier New" panose="02070309020205020404" pitchFamily="49" charset="0"/>
                <a:cs typeface="Times New Roman" panose="02020603050405020304" pitchFamily="18" charset="0"/>
              </a:rPr>
              <a:t>      radius =  </a:t>
            </a:r>
            <a:r>
              <a:rPr lang="en-US" sz="2000" b="1" dirty="0" err="1">
                <a:solidFill>
                  <a:schemeClr val="bg2"/>
                </a:solidFill>
                <a:latin typeface="Courier New" panose="02070309020205020404" pitchFamily="49" charset="0"/>
                <a:cs typeface="Times New Roman" panose="02020603050405020304" pitchFamily="18" charset="0"/>
              </a:rPr>
              <a:t>newRadius</a:t>
            </a:r>
            <a:r>
              <a:rPr lang="en-US" sz="2000" b="1" dirty="0">
                <a:solidFill>
                  <a:schemeClr val="bg2"/>
                </a:solidFill>
                <a:latin typeface="Courier New" panose="02070309020205020404" pitchFamily="49" charset="0"/>
                <a:cs typeface="Times New Roman" panose="02020603050405020304" pitchFamily="18" charset="0"/>
              </a:rPr>
              <a:t>;</a:t>
            </a:r>
          </a:p>
          <a:p>
            <a:pPr>
              <a:spcBef>
                <a:spcPct val="0"/>
              </a:spcBef>
              <a:buFont typeface="Monotype Sorts" pitchFamily="2" charset="2"/>
              <a:buNone/>
              <a:defRPr/>
            </a:pPr>
            <a:r>
              <a:rPr lang="en-US" sz="2000" b="1" dirty="0">
                <a:solidFill>
                  <a:schemeClr val="bg2"/>
                </a:solidFill>
                <a:latin typeface="Courier New" panose="02070309020205020404" pitchFamily="49" charset="0"/>
                <a:cs typeface="Times New Roman" panose="02020603050405020304" pitchFamily="18" charset="0"/>
              </a:rPr>
              <a:t>    else</a:t>
            </a:r>
          </a:p>
          <a:p>
            <a:pPr>
              <a:spcBef>
                <a:spcPct val="0"/>
              </a:spcBef>
              <a:buFont typeface="Monotype Sorts" pitchFamily="2" charset="2"/>
              <a:buNone/>
              <a:defRPr/>
            </a:pPr>
            <a:r>
              <a:rPr lang="en-US" sz="2000" b="1" dirty="0">
                <a:solidFill>
                  <a:schemeClr val="bg2"/>
                </a:solidFill>
                <a:latin typeface="Courier New" panose="02070309020205020404" pitchFamily="49" charset="0"/>
                <a:cs typeface="Times New Roman" panose="02020603050405020304" pitchFamily="18" charset="0"/>
              </a:rPr>
              <a:t>      </a:t>
            </a:r>
            <a:r>
              <a:rPr lang="en-US" sz="2000" b="1" dirty="0">
                <a:solidFill>
                  <a:srgbClr val="FF3300"/>
                </a:solidFill>
                <a:latin typeface="Courier New" panose="02070309020205020404" pitchFamily="49" charset="0"/>
                <a:cs typeface="Times New Roman" panose="02020603050405020304" pitchFamily="18" charset="0"/>
              </a:rPr>
              <a:t>throw new </a:t>
            </a:r>
            <a:r>
              <a:rPr lang="en-US" sz="2000" b="1" dirty="0" err="1">
                <a:solidFill>
                  <a:srgbClr val="FF3300"/>
                </a:solidFill>
                <a:latin typeface="Courier New" panose="02070309020205020404" pitchFamily="49" charset="0"/>
                <a:cs typeface="Times New Roman" panose="02020603050405020304" pitchFamily="18" charset="0"/>
              </a:rPr>
              <a:t>IllegalArgumentException</a:t>
            </a:r>
            <a:r>
              <a:rPr lang="en-US" sz="2000" b="1" dirty="0">
                <a:solidFill>
                  <a:srgbClr val="FF3300"/>
                </a:solidFill>
                <a:latin typeface="Courier New" panose="02070309020205020404" pitchFamily="49" charset="0"/>
                <a:cs typeface="Times New Roman" panose="02020603050405020304" pitchFamily="18" charset="0"/>
              </a:rPr>
              <a:t>(</a:t>
            </a:r>
          </a:p>
          <a:p>
            <a:pPr>
              <a:spcBef>
                <a:spcPct val="0"/>
              </a:spcBef>
              <a:buFont typeface="Monotype Sorts" pitchFamily="2" charset="2"/>
              <a:buNone/>
              <a:defRPr/>
            </a:pPr>
            <a:r>
              <a:rPr lang="en-US" sz="2000" b="1" dirty="0">
                <a:solidFill>
                  <a:srgbClr val="FF3300"/>
                </a:solidFill>
                <a:latin typeface="Courier New" panose="02070309020205020404" pitchFamily="49" charset="0"/>
                <a:cs typeface="Times New Roman" panose="02020603050405020304" pitchFamily="18" charset="0"/>
              </a:rPr>
              <a:t>        "Radius cannot be negative");</a:t>
            </a:r>
          </a:p>
          <a:p>
            <a:pPr>
              <a:spcBef>
                <a:spcPct val="0"/>
              </a:spcBef>
              <a:buFont typeface="Monotype Sorts" pitchFamily="2" charset="2"/>
              <a:buNone/>
              <a:defRPr/>
            </a:pPr>
            <a:r>
              <a:rPr lang="en-US" sz="2000" b="1" dirty="0">
                <a:solidFill>
                  <a:schemeClr val="bg2"/>
                </a:solidFill>
                <a:latin typeface="Courier New" panose="02070309020205020404" pitchFamily="49" charset="0"/>
                <a:cs typeface="Times New Roman" panose="02020603050405020304" pitchFamily="18" charset="0"/>
              </a:rPr>
              <a:t>  }</a:t>
            </a:r>
          </a:p>
        </p:txBody>
      </p:sp>
    </p:spTree>
    <p:extLst>
      <p:ext uri="{BB962C8B-B14F-4D97-AF65-F5344CB8AC3E}">
        <p14:creationId xmlns:p14="http://schemas.microsoft.com/office/powerpoint/2010/main" val="36024702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fontScale="90000"/>
          </a:bodyPr>
          <a:lstStyle/>
          <a:p>
            <a:r>
              <a:rPr lang="en-US" dirty="0"/>
              <a:t>Exceptions: </a:t>
            </a:r>
            <a:r>
              <a:rPr lang="en-US" altLang="en-US" sz="3733" dirty="0"/>
              <a:t>Catching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69</a:t>
            </a:fld>
            <a:endParaRPr lang="en"/>
          </a:p>
        </p:txBody>
      </p:sp>
      <p:sp>
        <p:nvSpPr>
          <p:cNvPr id="8" name="Rectangle 3">
            <a:extLst>
              <a:ext uri="{FF2B5EF4-FFF2-40B4-BE49-F238E27FC236}">
                <a16:creationId xmlns:a16="http://schemas.microsoft.com/office/drawing/2014/main" id="{9A3188A9-7F60-412E-941F-C0DA807792BE}"/>
              </a:ext>
            </a:extLst>
          </p:cNvPr>
          <p:cNvSpPr txBox="1">
            <a:spLocks noChangeArrowheads="1"/>
          </p:cNvSpPr>
          <p:nvPr/>
        </p:nvSpPr>
        <p:spPr bwMode="auto">
          <a:xfrm>
            <a:off x="1587795" y="1828735"/>
            <a:ext cx="8610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try {</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  statements;  // Statements that may throw exceptions</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catch (Exception1 exVar1) {</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  handler for exception1;</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catch (Exception2 exVar2) { </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  handler for exception2;</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catch (ExceptionN exVar3) {</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  handler for exceptionN;</a:t>
            </a:r>
          </a:p>
          <a:p>
            <a:pPr marL="342891" indent="-342891" algn="just" defTabSz="1219170">
              <a:lnSpc>
                <a:spcPct val="90000"/>
              </a:lnSpc>
              <a:spcBef>
                <a:spcPct val="0"/>
              </a:spcBef>
              <a:buClr>
                <a:srgbClr val="000000"/>
              </a:buClr>
              <a:buNone/>
              <a:defRPr/>
            </a:pPr>
            <a:r>
              <a:rPr lang="en-US" altLang="en-US" sz="2000" b="1">
                <a:solidFill>
                  <a:srgbClr val="000000"/>
                </a:solidFill>
                <a:latin typeface="Courier New" panose="02070309020205020404" pitchFamily="49" charset="0"/>
                <a:cs typeface="Times New Roman" panose="02020603050405020304" pitchFamily="18" charset="0"/>
              </a:rPr>
              <a:t>}</a:t>
            </a:r>
            <a:r>
              <a:rPr lang="en-US" altLang="en-US" b="1">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6378286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fontScale="90000"/>
          </a:bodyPr>
          <a:lstStyle/>
          <a:p>
            <a:r>
              <a:rPr lang="en-US" dirty="0"/>
              <a:t>Exceptions: </a:t>
            </a:r>
            <a:r>
              <a:rPr lang="en-US" altLang="en-US" sz="3733" dirty="0"/>
              <a:t>Catching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70</a:t>
            </a:fld>
            <a:endParaRPr lang="en"/>
          </a:p>
        </p:txBody>
      </p:sp>
      <p:sp>
        <p:nvSpPr>
          <p:cNvPr id="5" name="Rectangle 11">
            <a:extLst>
              <a:ext uri="{FF2B5EF4-FFF2-40B4-BE49-F238E27FC236}">
                <a16:creationId xmlns:a16="http://schemas.microsoft.com/office/drawing/2014/main" id="{46A17637-96DE-45AC-95C2-E5DB3E4F4A20}"/>
              </a:ext>
            </a:extLst>
          </p:cNvPr>
          <p:cNvSpPr>
            <a:spLocks noChangeArrowheads="1"/>
          </p:cNvSpPr>
          <p:nvPr/>
        </p:nvSpPr>
        <p:spPr bwMode="auto">
          <a:xfrm>
            <a:off x="1410589" y="2769021"/>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pPr>
            <a:endParaRPr lang="en-US" altLang="en-US">
              <a:solidFill>
                <a:srgbClr val="000000"/>
              </a:solidFill>
            </a:endParaRPr>
          </a:p>
        </p:txBody>
      </p:sp>
      <p:graphicFrame>
        <p:nvGraphicFramePr>
          <p:cNvPr id="6" name="Object 10">
            <a:extLst>
              <a:ext uri="{FF2B5EF4-FFF2-40B4-BE49-F238E27FC236}">
                <a16:creationId xmlns:a16="http://schemas.microsoft.com/office/drawing/2014/main" id="{83CA8AED-9CA6-4807-9CB9-A3B91EDDFB84}"/>
              </a:ext>
            </a:extLst>
          </p:cNvPr>
          <p:cNvGraphicFramePr>
            <a:graphicFrameLocks noChangeAspect="1"/>
          </p:cNvGraphicFramePr>
          <p:nvPr/>
        </p:nvGraphicFramePr>
        <p:xfrm>
          <a:off x="1410587" y="2039414"/>
          <a:ext cx="9144000" cy="3994151"/>
        </p:xfrm>
        <a:graphic>
          <a:graphicData uri="http://schemas.openxmlformats.org/presentationml/2006/ole">
            <mc:AlternateContent xmlns:mc="http://schemas.openxmlformats.org/markup-compatibility/2006">
              <mc:Choice xmlns:v="urn:schemas-microsoft-com:vml" Requires="v">
                <p:oleObj name="Picture" r:id="rId2" imgW="5375148" imgH="2340864" progId="Word.Picture.8">
                  <p:embed/>
                </p:oleObj>
              </mc:Choice>
              <mc:Fallback>
                <p:oleObj name="Picture" r:id="rId2" imgW="5375148" imgH="2340864" progId="Word.Picture.8">
                  <p:embed/>
                  <p:pic>
                    <p:nvPicPr>
                      <p:cNvPr id="6" name="Object 10">
                        <a:extLst>
                          <a:ext uri="{FF2B5EF4-FFF2-40B4-BE49-F238E27FC236}">
                            <a16:creationId xmlns:a16="http://schemas.microsoft.com/office/drawing/2014/main" id="{83CA8AED-9CA6-4807-9CB9-A3B91EDDF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0587" y="2039414"/>
                        <a:ext cx="9144000" cy="399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875887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fontScale="90000"/>
          </a:bodyPr>
          <a:lstStyle/>
          <a:p>
            <a:r>
              <a:rPr lang="en-US" dirty="0"/>
              <a:t>Exceptions: </a:t>
            </a:r>
            <a:r>
              <a:rPr lang="en-US" altLang="en-US" sz="3733" dirty="0"/>
              <a:t>Catch or Declare Checked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71</a:t>
            </a:fld>
            <a:endParaRPr lang="en"/>
          </a:p>
        </p:txBody>
      </p:sp>
      <p:sp>
        <p:nvSpPr>
          <p:cNvPr id="11" name="Rectangle 3">
            <a:extLst>
              <a:ext uri="{FF2B5EF4-FFF2-40B4-BE49-F238E27FC236}">
                <a16:creationId xmlns:a16="http://schemas.microsoft.com/office/drawing/2014/main" id="{01B88266-31F2-40E1-9B1B-7A198BC7B988}"/>
              </a:ext>
            </a:extLst>
          </p:cNvPr>
          <p:cNvSpPr>
            <a:spLocks noGrp="1" noChangeArrowheads="1"/>
          </p:cNvSpPr>
          <p:nvPr>
            <p:ph type="body" idx="1"/>
          </p:nvPr>
        </p:nvSpPr>
        <p:spPr>
          <a:xfrm>
            <a:off x="632637" y="1959935"/>
            <a:ext cx="8763000" cy="2286000"/>
          </a:xfrm>
        </p:spPr>
        <p:txBody>
          <a:bodyPr/>
          <a:lstStyle/>
          <a:p>
            <a:pPr marL="0" indent="0">
              <a:buNone/>
            </a:pPr>
            <a:r>
              <a:rPr lang="en-US" altLang="en-US" sz="3500" dirty="0">
                <a:solidFill>
                  <a:schemeClr val="bg2"/>
                </a:solidFill>
                <a:cs typeface="Courier New" panose="02070309020205020404" pitchFamily="49" charset="0"/>
              </a:rPr>
              <a:t>Suppose p2 is defined as follows:</a:t>
            </a:r>
          </a:p>
        </p:txBody>
      </p:sp>
      <p:graphicFrame>
        <p:nvGraphicFramePr>
          <p:cNvPr id="12" name="Object 7">
            <a:extLst>
              <a:ext uri="{FF2B5EF4-FFF2-40B4-BE49-F238E27FC236}">
                <a16:creationId xmlns:a16="http://schemas.microsoft.com/office/drawing/2014/main" id="{775789F8-B2EE-45B6-A577-2AF4691E65D4}"/>
              </a:ext>
            </a:extLst>
          </p:cNvPr>
          <p:cNvGraphicFramePr>
            <a:graphicFrameLocks noChangeAspect="1"/>
          </p:cNvGraphicFramePr>
          <p:nvPr/>
        </p:nvGraphicFramePr>
        <p:xfrm>
          <a:off x="1642289" y="3491023"/>
          <a:ext cx="6437313" cy="2606675"/>
        </p:xfrm>
        <a:graphic>
          <a:graphicData uri="http://schemas.openxmlformats.org/presentationml/2006/ole">
            <mc:AlternateContent xmlns:mc="http://schemas.openxmlformats.org/markup-compatibility/2006">
              <mc:Choice xmlns:v="urn:schemas-microsoft-com:vml" Requires="v">
                <p:oleObj name="Picture" r:id="rId2" imgW="3372040" imgH="1357930" progId="Word.Picture.8">
                  <p:embed/>
                </p:oleObj>
              </mc:Choice>
              <mc:Fallback>
                <p:oleObj name="Picture" r:id="rId2" imgW="3372040" imgH="1357930" progId="Word.Picture.8">
                  <p:embed/>
                  <p:pic>
                    <p:nvPicPr>
                      <p:cNvPr id="12" name="Object 7">
                        <a:extLst>
                          <a:ext uri="{FF2B5EF4-FFF2-40B4-BE49-F238E27FC236}">
                            <a16:creationId xmlns:a16="http://schemas.microsoft.com/office/drawing/2014/main" id="{775789F8-B2EE-45B6-A577-2AF4691E6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289" y="3491023"/>
                        <a:ext cx="6437313"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057238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fontScale="90000"/>
          </a:bodyPr>
          <a:lstStyle/>
          <a:p>
            <a:r>
              <a:rPr lang="en-US" dirty="0"/>
              <a:t>Exceptions: </a:t>
            </a:r>
            <a:r>
              <a:rPr lang="en-US" altLang="en-US" sz="3733" dirty="0"/>
              <a:t>Catch or Declare Checked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72</a:t>
            </a:fld>
            <a:endParaRPr lang="en"/>
          </a:p>
        </p:txBody>
      </p:sp>
      <p:sp>
        <p:nvSpPr>
          <p:cNvPr id="18" name="Rectangle 3">
            <a:extLst>
              <a:ext uri="{FF2B5EF4-FFF2-40B4-BE49-F238E27FC236}">
                <a16:creationId xmlns:a16="http://schemas.microsoft.com/office/drawing/2014/main" id="{2420A094-656A-4653-924A-A96A0257BF00}"/>
              </a:ext>
            </a:extLst>
          </p:cNvPr>
          <p:cNvSpPr>
            <a:spLocks noGrp="1" noChangeArrowheads="1"/>
          </p:cNvSpPr>
          <p:nvPr>
            <p:ph type="body" idx="1"/>
          </p:nvPr>
        </p:nvSpPr>
        <p:spPr>
          <a:xfrm>
            <a:off x="1001233" y="1823740"/>
            <a:ext cx="8763000" cy="2286000"/>
          </a:xfrm>
        </p:spPr>
        <p:txBody>
          <a:bodyPr>
            <a:normAutofit fontScale="92500"/>
          </a:bodyPr>
          <a:lstStyle/>
          <a:p>
            <a:pPr marL="0" indent="0">
              <a:buNone/>
            </a:pPr>
            <a:r>
              <a:rPr lang="en-US" altLang="en-US" sz="2200" dirty="0">
                <a:solidFill>
                  <a:schemeClr val="bg2"/>
                </a:solidFill>
                <a:cs typeface="Courier New" panose="02070309020205020404" pitchFamily="49" charset="0"/>
              </a:rPr>
              <a:t>Java forces you to deal with checked exceptions. If a method declares a checked exception (i.e., an exception other than </a:t>
            </a:r>
            <a:r>
              <a:rPr lang="en-US" altLang="en-US" sz="2200" u="sng" dirty="0">
                <a:solidFill>
                  <a:schemeClr val="bg2"/>
                </a:solidFill>
                <a:cs typeface="Courier New" panose="02070309020205020404" pitchFamily="49" charset="0"/>
              </a:rPr>
              <a:t>Error</a:t>
            </a:r>
            <a:r>
              <a:rPr lang="en-US" altLang="en-US" sz="2200" dirty="0">
                <a:solidFill>
                  <a:schemeClr val="bg2"/>
                </a:solidFill>
                <a:cs typeface="Courier New" panose="02070309020205020404" pitchFamily="49" charset="0"/>
              </a:rPr>
              <a:t> or </a:t>
            </a:r>
            <a:r>
              <a:rPr lang="en-US" altLang="en-US" sz="2200" u="sng" dirty="0" err="1">
                <a:solidFill>
                  <a:schemeClr val="bg2"/>
                </a:solidFill>
                <a:cs typeface="Courier New" panose="02070309020205020404" pitchFamily="49" charset="0"/>
              </a:rPr>
              <a:t>RuntimeException</a:t>
            </a:r>
            <a:r>
              <a:rPr lang="en-US" altLang="en-US" sz="2200" dirty="0">
                <a:solidFill>
                  <a:schemeClr val="bg2"/>
                </a:solidFill>
                <a:cs typeface="Courier New" panose="02070309020205020404" pitchFamily="49" charset="0"/>
              </a:rPr>
              <a:t>), you must invoke it in a </a:t>
            </a:r>
            <a:r>
              <a:rPr lang="en-US" altLang="en-US" sz="2200" u="sng" dirty="0">
                <a:solidFill>
                  <a:schemeClr val="bg2"/>
                </a:solidFill>
                <a:cs typeface="Courier New" panose="02070309020205020404" pitchFamily="49" charset="0"/>
              </a:rPr>
              <a:t>try-catch</a:t>
            </a:r>
            <a:r>
              <a:rPr lang="en-US" altLang="en-US" sz="2200" dirty="0">
                <a:solidFill>
                  <a:schemeClr val="bg2"/>
                </a:solidFill>
                <a:cs typeface="Courier New" panose="02070309020205020404" pitchFamily="49" charset="0"/>
              </a:rPr>
              <a:t> block or declare to throw the exception in the calling method. For example, suppose that method </a:t>
            </a:r>
            <a:r>
              <a:rPr lang="en-US" altLang="en-US" sz="2200" u="sng" dirty="0">
                <a:solidFill>
                  <a:schemeClr val="bg2"/>
                </a:solidFill>
                <a:cs typeface="Courier New" panose="02070309020205020404" pitchFamily="49" charset="0"/>
              </a:rPr>
              <a:t>p1</a:t>
            </a:r>
            <a:r>
              <a:rPr lang="en-US" altLang="en-US" sz="2200" dirty="0">
                <a:solidFill>
                  <a:schemeClr val="bg2"/>
                </a:solidFill>
                <a:cs typeface="Courier New" panose="02070309020205020404" pitchFamily="49" charset="0"/>
              </a:rPr>
              <a:t> invokes method </a:t>
            </a:r>
            <a:r>
              <a:rPr lang="en-US" altLang="en-US" sz="2200" u="sng" dirty="0">
                <a:solidFill>
                  <a:schemeClr val="bg2"/>
                </a:solidFill>
                <a:cs typeface="Courier New" panose="02070309020205020404" pitchFamily="49" charset="0"/>
              </a:rPr>
              <a:t>p2</a:t>
            </a:r>
            <a:r>
              <a:rPr lang="en-US" altLang="en-US" sz="2200" dirty="0">
                <a:solidFill>
                  <a:schemeClr val="bg2"/>
                </a:solidFill>
                <a:cs typeface="Courier New" panose="02070309020205020404" pitchFamily="49" charset="0"/>
              </a:rPr>
              <a:t> and </a:t>
            </a:r>
            <a:r>
              <a:rPr lang="en-US" altLang="en-US" sz="2200" u="sng" dirty="0">
                <a:solidFill>
                  <a:schemeClr val="bg2"/>
                </a:solidFill>
                <a:cs typeface="Courier New" panose="02070309020205020404" pitchFamily="49" charset="0"/>
              </a:rPr>
              <a:t>p2</a:t>
            </a:r>
            <a:r>
              <a:rPr lang="en-US" altLang="en-US" sz="2200" dirty="0">
                <a:solidFill>
                  <a:schemeClr val="bg2"/>
                </a:solidFill>
                <a:cs typeface="Courier New" panose="02070309020205020404" pitchFamily="49" charset="0"/>
              </a:rPr>
              <a:t> may throw a checked exception (e.g., </a:t>
            </a:r>
            <a:r>
              <a:rPr lang="en-US" altLang="en-US" sz="2200" u="sng" dirty="0" err="1">
                <a:solidFill>
                  <a:schemeClr val="bg2"/>
                </a:solidFill>
                <a:cs typeface="Courier New" panose="02070309020205020404" pitchFamily="49" charset="0"/>
              </a:rPr>
              <a:t>IOException</a:t>
            </a:r>
            <a:r>
              <a:rPr lang="en-US" altLang="en-US" sz="2200" dirty="0">
                <a:solidFill>
                  <a:schemeClr val="bg2"/>
                </a:solidFill>
                <a:cs typeface="Courier New" panose="02070309020205020404" pitchFamily="49" charset="0"/>
              </a:rPr>
              <a:t>), you have to write the code as shown in (a) or (b).</a:t>
            </a:r>
          </a:p>
        </p:txBody>
      </p:sp>
      <p:graphicFrame>
        <p:nvGraphicFramePr>
          <p:cNvPr id="19" name="Object 5">
            <a:extLst>
              <a:ext uri="{FF2B5EF4-FFF2-40B4-BE49-F238E27FC236}">
                <a16:creationId xmlns:a16="http://schemas.microsoft.com/office/drawing/2014/main" id="{2F518EEF-3D5A-4211-AE84-D3BAAC4696B0}"/>
              </a:ext>
            </a:extLst>
          </p:cNvPr>
          <p:cNvGraphicFramePr>
            <a:graphicFrameLocks noChangeAspect="1"/>
          </p:cNvGraphicFramePr>
          <p:nvPr/>
        </p:nvGraphicFramePr>
        <p:xfrm>
          <a:off x="1004408" y="4260553"/>
          <a:ext cx="8451851" cy="2609851"/>
        </p:xfrm>
        <a:graphic>
          <a:graphicData uri="http://schemas.openxmlformats.org/presentationml/2006/ole">
            <mc:AlternateContent xmlns:mc="http://schemas.openxmlformats.org/markup-compatibility/2006">
              <mc:Choice xmlns:v="urn:schemas-microsoft-com:vml" Requires="v">
                <p:oleObj name="Picture" r:id="rId2" imgW="4420106" imgH="1357930" progId="Word.Picture.8">
                  <p:embed/>
                </p:oleObj>
              </mc:Choice>
              <mc:Fallback>
                <p:oleObj name="Picture" r:id="rId2" imgW="4420106" imgH="1357930" progId="Word.Picture.8">
                  <p:embed/>
                  <p:pic>
                    <p:nvPicPr>
                      <p:cNvPr id="19" name="Object 5">
                        <a:extLst>
                          <a:ext uri="{FF2B5EF4-FFF2-40B4-BE49-F238E27FC236}">
                            <a16:creationId xmlns:a16="http://schemas.microsoft.com/office/drawing/2014/main" id="{2F518EEF-3D5A-4211-AE84-D3BAAC4696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408" y="4260553"/>
                        <a:ext cx="8451851" cy="2609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Line 6">
            <a:extLst>
              <a:ext uri="{FF2B5EF4-FFF2-40B4-BE49-F238E27FC236}">
                <a16:creationId xmlns:a16="http://schemas.microsoft.com/office/drawing/2014/main" id="{1D8E4E2C-4F6A-4029-A16E-4BFBEF7305F1}"/>
              </a:ext>
            </a:extLst>
          </p:cNvPr>
          <p:cNvSpPr>
            <a:spLocks noChangeShapeType="1"/>
          </p:cNvSpPr>
          <p:nvPr/>
        </p:nvSpPr>
        <p:spPr bwMode="auto">
          <a:xfrm flipH="1">
            <a:off x="3134833" y="2814340"/>
            <a:ext cx="3505200" cy="2133600"/>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pPr defTabSz="914377" eaLnBrk="0" fontAlgn="base" hangingPunct="0">
              <a:spcBef>
                <a:spcPct val="0"/>
              </a:spcBef>
              <a:spcAft>
                <a:spcPct val="0"/>
              </a:spcAft>
            </a:pPr>
            <a:endParaRPr lang="en-US" sz="2400">
              <a:latin typeface="Times New Roman" panose="02020603050405020304" pitchFamily="18" charset="0"/>
              <a:cs typeface="Arial" panose="020B0604020202020204" pitchFamily="34" charset="0"/>
            </a:endParaRPr>
          </a:p>
        </p:txBody>
      </p:sp>
      <p:sp>
        <p:nvSpPr>
          <p:cNvPr id="21" name="Line 7">
            <a:extLst>
              <a:ext uri="{FF2B5EF4-FFF2-40B4-BE49-F238E27FC236}">
                <a16:creationId xmlns:a16="http://schemas.microsoft.com/office/drawing/2014/main" id="{32FFDDED-2E10-482C-A5C6-E7DFBDD8E681}"/>
              </a:ext>
            </a:extLst>
          </p:cNvPr>
          <p:cNvSpPr>
            <a:spLocks noChangeShapeType="1"/>
          </p:cNvSpPr>
          <p:nvPr/>
        </p:nvSpPr>
        <p:spPr bwMode="auto">
          <a:xfrm flipH="1">
            <a:off x="7478233" y="2814340"/>
            <a:ext cx="1143000" cy="1752600"/>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pPr defTabSz="914377" eaLnBrk="0" fontAlgn="base" hangingPunct="0">
              <a:spcBef>
                <a:spcPct val="0"/>
              </a:spcBef>
              <a:spcAft>
                <a:spcPct val="0"/>
              </a:spcAft>
            </a:pPr>
            <a:endParaRPr lang="en-US" sz="240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6796294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824436"/>
            <a:ext cx="11438448" cy="713600"/>
          </a:xfrm>
        </p:spPr>
        <p:txBody>
          <a:bodyPr>
            <a:normAutofit fontScale="90000"/>
          </a:bodyPr>
          <a:lstStyle/>
          <a:p>
            <a:r>
              <a:rPr lang="en-US" dirty="0"/>
              <a:t>Exceptions: </a:t>
            </a:r>
            <a:r>
              <a:rPr lang="en-US" altLang="en-US" sz="3733" dirty="0"/>
              <a:t>Catch or Declare Checked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73</a:t>
            </a:fld>
            <a:endParaRPr lang="en"/>
          </a:p>
        </p:txBody>
      </p:sp>
      <p:sp>
        <p:nvSpPr>
          <p:cNvPr id="14" name="Rectangle 3">
            <a:extLst>
              <a:ext uri="{FF2B5EF4-FFF2-40B4-BE49-F238E27FC236}">
                <a16:creationId xmlns:a16="http://schemas.microsoft.com/office/drawing/2014/main" id="{0DDB4271-25BB-491C-9ED3-2D1DCFA26456}"/>
              </a:ext>
            </a:extLst>
          </p:cNvPr>
          <p:cNvSpPr txBox="1">
            <a:spLocks noChangeArrowheads="1"/>
          </p:cNvSpPr>
          <p:nvPr/>
        </p:nvSpPr>
        <p:spPr bwMode="auto">
          <a:xfrm>
            <a:off x="652131" y="1828800"/>
            <a:ext cx="9634869"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algn="just" defTabSz="1219170">
              <a:lnSpc>
                <a:spcPct val="90000"/>
              </a:lnSpc>
              <a:buClr>
                <a:srgbClr val="000000"/>
              </a:buClr>
              <a:defRPr/>
            </a:pPr>
            <a:r>
              <a:rPr lang="en-US" altLang="en-US" sz="3400" dirty="0">
                <a:solidFill>
                  <a:srgbClr val="000000"/>
                </a:solidFill>
                <a:latin typeface="Times New Roman"/>
              </a:rPr>
              <a:t>Objective: </a:t>
            </a:r>
            <a:r>
              <a:rPr lang="en-US" altLang="en-US" sz="3400" dirty="0">
                <a:solidFill>
                  <a:srgbClr val="000000"/>
                </a:solidFill>
                <a:latin typeface="Times New Roman"/>
                <a:cs typeface="Times New Roman" panose="02020603050405020304" pitchFamily="18" charset="0"/>
              </a:rPr>
              <a:t>This example demonstrates declaring, throwing, and catching exceptions by modifying the </a:t>
            </a:r>
            <a:r>
              <a:rPr lang="en-US" altLang="en-US" sz="3400" u="sng" dirty="0" err="1">
                <a:solidFill>
                  <a:srgbClr val="000000"/>
                </a:solidFill>
                <a:latin typeface="Times New Roman"/>
                <a:cs typeface="Times New Roman" panose="02020603050405020304" pitchFamily="18" charset="0"/>
              </a:rPr>
              <a:t>setRadius</a:t>
            </a:r>
            <a:r>
              <a:rPr lang="en-US" altLang="en-US" sz="3400" dirty="0">
                <a:solidFill>
                  <a:srgbClr val="000000"/>
                </a:solidFill>
                <a:latin typeface="Times New Roman"/>
                <a:cs typeface="Times New Roman" panose="02020603050405020304" pitchFamily="18" charset="0"/>
              </a:rPr>
              <a:t> method in the </a:t>
            </a:r>
            <a:r>
              <a:rPr lang="en-US" altLang="en-US" sz="3400" u="sng" dirty="0">
                <a:solidFill>
                  <a:srgbClr val="000000"/>
                </a:solidFill>
                <a:latin typeface="Times New Roman"/>
                <a:cs typeface="Times New Roman" panose="02020603050405020304" pitchFamily="18" charset="0"/>
              </a:rPr>
              <a:t>Circle</a:t>
            </a:r>
            <a:r>
              <a:rPr lang="en-US" altLang="en-US" sz="3400" dirty="0">
                <a:solidFill>
                  <a:srgbClr val="000000"/>
                </a:solidFill>
                <a:latin typeface="Times New Roman"/>
                <a:cs typeface="Times New Roman" panose="02020603050405020304" pitchFamily="18" charset="0"/>
              </a:rPr>
              <a:t> class defined in Chapter 9. The new </a:t>
            </a:r>
            <a:r>
              <a:rPr lang="en-US" altLang="en-US" sz="3400" u="sng" dirty="0" err="1">
                <a:solidFill>
                  <a:srgbClr val="000000"/>
                </a:solidFill>
                <a:latin typeface="Times New Roman"/>
                <a:cs typeface="Times New Roman" panose="02020603050405020304" pitchFamily="18" charset="0"/>
              </a:rPr>
              <a:t>setRadius</a:t>
            </a:r>
            <a:r>
              <a:rPr lang="en-US" altLang="en-US" sz="3400" dirty="0">
                <a:solidFill>
                  <a:srgbClr val="000000"/>
                </a:solidFill>
                <a:latin typeface="Times New Roman"/>
                <a:cs typeface="Times New Roman" panose="02020603050405020304" pitchFamily="18" charset="0"/>
              </a:rPr>
              <a:t> method throws an exception if radius is negative.</a:t>
            </a:r>
          </a:p>
        </p:txBody>
      </p:sp>
      <p:sp>
        <p:nvSpPr>
          <p:cNvPr id="15" name="AutoShape 10">
            <a:hlinkClick r:id="rId2" action="ppaction://program" highlightClick="1"/>
            <a:extLst>
              <a:ext uri="{FF2B5EF4-FFF2-40B4-BE49-F238E27FC236}">
                <a16:creationId xmlns:a16="http://schemas.microsoft.com/office/drawing/2014/main" id="{65A47BBD-1E5B-4636-AE97-5A41D32D454A}"/>
              </a:ext>
            </a:extLst>
          </p:cNvPr>
          <p:cNvSpPr>
            <a:spLocks noChangeArrowheads="1"/>
          </p:cNvSpPr>
          <p:nvPr/>
        </p:nvSpPr>
        <p:spPr bwMode="auto">
          <a:xfrm>
            <a:off x="6356351" y="5791200"/>
            <a:ext cx="698500" cy="339725"/>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defRPr/>
            </a:pPr>
            <a:r>
              <a:rPr lang="en-US" altLang="en-US" sz="1800">
                <a:solidFill>
                  <a:srgbClr val="000000"/>
                </a:solidFill>
                <a:latin typeface="Book Antiqua" panose="02040602050305030304" pitchFamily="18" charset="0"/>
              </a:rPr>
              <a:t>Run</a:t>
            </a:r>
            <a:endParaRPr lang="en-US" altLang="en-US" sz="1800">
              <a:solidFill>
                <a:srgbClr val="000000"/>
              </a:solidFill>
            </a:endParaRPr>
          </a:p>
        </p:txBody>
      </p:sp>
      <p:sp>
        <p:nvSpPr>
          <p:cNvPr id="16" name="Rectangle 10">
            <a:hlinkClick r:id="rId3"/>
            <a:extLst>
              <a:ext uri="{FF2B5EF4-FFF2-40B4-BE49-F238E27FC236}">
                <a16:creationId xmlns:a16="http://schemas.microsoft.com/office/drawing/2014/main" id="{7E2FBABF-1AF6-4489-8770-B511BCC78B79}"/>
              </a:ext>
            </a:extLst>
          </p:cNvPr>
          <p:cNvSpPr>
            <a:spLocks noChangeArrowheads="1"/>
          </p:cNvSpPr>
          <p:nvPr/>
        </p:nvSpPr>
        <p:spPr bwMode="auto">
          <a:xfrm>
            <a:off x="3324225" y="5770563"/>
            <a:ext cx="28495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defRPr/>
            </a:pPr>
            <a:r>
              <a:rPr lang="en-US" altLang="en-US" sz="2000">
                <a:solidFill>
                  <a:srgbClr val="000000"/>
                </a:solidFill>
              </a:rPr>
              <a:t>TestCircleWithException</a:t>
            </a:r>
          </a:p>
        </p:txBody>
      </p:sp>
      <p:sp>
        <p:nvSpPr>
          <p:cNvPr id="17" name="Rectangle 11">
            <a:hlinkClick r:id="rId4"/>
            <a:extLst>
              <a:ext uri="{FF2B5EF4-FFF2-40B4-BE49-F238E27FC236}">
                <a16:creationId xmlns:a16="http://schemas.microsoft.com/office/drawing/2014/main" id="{E68F9DAD-1387-438C-8B48-18DF8F08E266}"/>
              </a:ext>
            </a:extLst>
          </p:cNvPr>
          <p:cNvSpPr>
            <a:spLocks noChangeArrowheads="1"/>
          </p:cNvSpPr>
          <p:nvPr/>
        </p:nvSpPr>
        <p:spPr bwMode="auto">
          <a:xfrm>
            <a:off x="3324225" y="5181600"/>
            <a:ext cx="28495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defRPr/>
            </a:pPr>
            <a:r>
              <a:rPr lang="en-US" altLang="en-US" sz="2000">
                <a:solidFill>
                  <a:srgbClr val="000000"/>
                </a:solidFill>
              </a:rPr>
              <a:t>CircleWithException</a:t>
            </a:r>
          </a:p>
        </p:txBody>
      </p:sp>
    </p:spTree>
    <p:extLst>
      <p:ext uri="{BB962C8B-B14F-4D97-AF65-F5344CB8AC3E}">
        <p14:creationId xmlns:p14="http://schemas.microsoft.com/office/powerpoint/2010/main" val="12184758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780724"/>
            <a:ext cx="11438448" cy="713600"/>
          </a:xfrm>
        </p:spPr>
        <p:txBody>
          <a:bodyPr>
            <a:normAutofit/>
          </a:bodyPr>
          <a:lstStyle/>
          <a:p>
            <a:r>
              <a:rPr lang="en-US" dirty="0"/>
              <a:t>Exceptions: </a:t>
            </a:r>
            <a:r>
              <a:rPr lang="en-US" altLang="en-US" dirty="0"/>
              <a:t>Rethrowing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74</a:t>
            </a:fld>
            <a:endParaRPr lang="en"/>
          </a:p>
        </p:txBody>
      </p:sp>
      <p:sp>
        <p:nvSpPr>
          <p:cNvPr id="8" name="Rectangle 3">
            <a:extLst>
              <a:ext uri="{FF2B5EF4-FFF2-40B4-BE49-F238E27FC236}">
                <a16:creationId xmlns:a16="http://schemas.microsoft.com/office/drawing/2014/main" id="{4ADCB942-1C71-40A0-9BA8-59FE359A1AF1}"/>
              </a:ext>
            </a:extLst>
          </p:cNvPr>
          <p:cNvSpPr txBox="1">
            <a:spLocks noChangeArrowheads="1"/>
          </p:cNvSpPr>
          <p:nvPr/>
        </p:nvSpPr>
        <p:spPr bwMode="auto">
          <a:xfrm>
            <a:off x="1369827" y="2046829"/>
            <a:ext cx="84582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buClr>
                <a:srgbClr val="000000"/>
              </a:buClr>
              <a:buNone/>
              <a:defRPr/>
            </a:pPr>
            <a:r>
              <a:rPr lang="en-US" altLang="en-US" sz="3000" b="1">
                <a:solidFill>
                  <a:srgbClr val="000000"/>
                </a:solidFill>
                <a:latin typeface="Courier New" panose="02070309020205020404" pitchFamily="49" charset="0"/>
              </a:rPr>
              <a:t>try {  </a:t>
            </a:r>
          </a:p>
          <a:p>
            <a:pPr marL="342891" indent="-342891" defTabSz="1219170">
              <a:spcBef>
                <a:spcPct val="0"/>
              </a:spcBef>
              <a:buClr>
                <a:srgbClr val="000000"/>
              </a:buClr>
              <a:buNone/>
              <a:defRPr/>
            </a:pPr>
            <a:r>
              <a:rPr lang="en-US" altLang="en-US" sz="3000" b="1">
                <a:solidFill>
                  <a:srgbClr val="000000"/>
                </a:solidFill>
                <a:latin typeface="Courier New" panose="02070309020205020404" pitchFamily="49" charset="0"/>
              </a:rPr>
              <a:t>  statements;</a:t>
            </a:r>
          </a:p>
          <a:p>
            <a:pPr marL="342891" indent="-342891" defTabSz="1219170">
              <a:spcBef>
                <a:spcPct val="0"/>
              </a:spcBef>
              <a:buClr>
                <a:srgbClr val="000000"/>
              </a:buClr>
              <a:buNone/>
              <a:defRPr/>
            </a:pPr>
            <a:r>
              <a:rPr lang="en-US" altLang="en-US" sz="3000" b="1">
                <a:solidFill>
                  <a:srgbClr val="000000"/>
                </a:solidFill>
                <a:latin typeface="Courier New" panose="02070309020205020404" pitchFamily="49" charset="0"/>
              </a:rPr>
              <a:t>}</a:t>
            </a:r>
          </a:p>
          <a:p>
            <a:pPr marL="342891" indent="-342891" defTabSz="1219170">
              <a:spcBef>
                <a:spcPct val="0"/>
              </a:spcBef>
              <a:buClr>
                <a:srgbClr val="000000"/>
              </a:buClr>
              <a:buNone/>
              <a:defRPr/>
            </a:pPr>
            <a:r>
              <a:rPr lang="en-US" altLang="en-US" sz="3000" b="1">
                <a:solidFill>
                  <a:srgbClr val="000000"/>
                </a:solidFill>
                <a:latin typeface="Courier New" panose="02070309020205020404" pitchFamily="49" charset="0"/>
              </a:rPr>
              <a:t>catch(TheException ex) { </a:t>
            </a:r>
          </a:p>
          <a:p>
            <a:pPr marL="342891" indent="-342891" defTabSz="1219170">
              <a:spcBef>
                <a:spcPct val="0"/>
              </a:spcBef>
              <a:buClr>
                <a:srgbClr val="000000"/>
              </a:buClr>
              <a:buNone/>
              <a:defRPr/>
            </a:pPr>
            <a:r>
              <a:rPr lang="en-US" altLang="en-US" sz="3000" b="1">
                <a:solidFill>
                  <a:srgbClr val="000000"/>
                </a:solidFill>
                <a:latin typeface="Courier New" panose="02070309020205020404" pitchFamily="49" charset="0"/>
              </a:rPr>
              <a:t>  perform operations before exits;</a:t>
            </a:r>
          </a:p>
          <a:p>
            <a:pPr marL="342891" indent="-342891" defTabSz="1219170">
              <a:spcBef>
                <a:spcPct val="0"/>
              </a:spcBef>
              <a:buClr>
                <a:srgbClr val="000000"/>
              </a:buClr>
              <a:buNone/>
              <a:defRPr/>
            </a:pPr>
            <a:r>
              <a:rPr lang="en-US" altLang="en-US" sz="3000" b="1">
                <a:solidFill>
                  <a:srgbClr val="000000"/>
                </a:solidFill>
                <a:latin typeface="Courier New" panose="02070309020205020404" pitchFamily="49" charset="0"/>
              </a:rPr>
              <a:t>  throw ex;</a:t>
            </a:r>
          </a:p>
          <a:p>
            <a:pPr marL="342891" indent="-342891" defTabSz="1219170">
              <a:spcBef>
                <a:spcPct val="0"/>
              </a:spcBef>
              <a:buClr>
                <a:srgbClr val="000000"/>
              </a:buClr>
              <a:buNone/>
              <a:defRPr/>
            </a:pPr>
            <a:r>
              <a:rPr lang="en-US" altLang="en-US" sz="3000" b="1">
                <a:solidFill>
                  <a:srgbClr val="000000"/>
                </a:solidFill>
                <a:latin typeface="Courier New" panose="02070309020205020404" pitchFamily="49" charset="0"/>
              </a:rPr>
              <a:t>}</a:t>
            </a:r>
            <a:endParaRPr lang="en-US" altLang="en-US" sz="3000" b="1"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7105479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780724"/>
            <a:ext cx="11438448" cy="713600"/>
          </a:xfrm>
        </p:spPr>
        <p:txBody>
          <a:bodyPr>
            <a:normAutofit/>
          </a:bodyPr>
          <a:lstStyle/>
          <a:p>
            <a:r>
              <a:rPr lang="en-US" dirty="0"/>
              <a:t>Exceptions: </a:t>
            </a:r>
            <a:r>
              <a:rPr lang="en-US" altLang="en-US" dirty="0"/>
              <a:t>The </a:t>
            </a:r>
            <a:r>
              <a:rPr lang="en-US" altLang="en-US" sz="3200" dirty="0">
                <a:latin typeface="Courier New" panose="02070309020205020404" pitchFamily="49" charset="0"/>
              </a:rPr>
              <a:t>finally</a:t>
            </a:r>
            <a:r>
              <a:rPr lang="en-US" altLang="en-US" dirty="0"/>
              <a:t> Clause</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75</a:t>
            </a:fld>
            <a:endParaRPr lang="en"/>
          </a:p>
        </p:txBody>
      </p:sp>
      <p:sp>
        <p:nvSpPr>
          <p:cNvPr id="5" name="Rectangle 3">
            <a:extLst>
              <a:ext uri="{FF2B5EF4-FFF2-40B4-BE49-F238E27FC236}">
                <a16:creationId xmlns:a16="http://schemas.microsoft.com/office/drawing/2014/main" id="{F4C36787-6802-47E3-ABA7-01E1CA0DF354}"/>
              </a:ext>
            </a:extLst>
          </p:cNvPr>
          <p:cNvSpPr txBox="1">
            <a:spLocks noChangeArrowheads="1"/>
          </p:cNvSpPr>
          <p:nvPr/>
        </p:nvSpPr>
        <p:spPr bwMode="auto">
          <a:xfrm>
            <a:off x="1644501" y="1818229"/>
            <a:ext cx="76962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algn="just" defTabSz="1219170">
              <a:lnSpc>
                <a:spcPct val="90000"/>
              </a:lnSpc>
              <a:buClr>
                <a:srgbClr val="000000"/>
              </a:buClr>
              <a:buNone/>
              <a:defRPr/>
            </a:pPr>
            <a:r>
              <a:rPr lang="en-US" altLang="en-US" sz="3000" b="1" dirty="0">
                <a:solidFill>
                  <a:srgbClr val="000000"/>
                </a:solidFill>
                <a:latin typeface="Courier New" panose="02070309020205020404" pitchFamily="49" charset="0"/>
              </a:rPr>
              <a:t>try {  </a:t>
            </a:r>
          </a:p>
          <a:p>
            <a:pPr marL="342891" indent="-342891" algn="just" defTabSz="1219170">
              <a:lnSpc>
                <a:spcPct val="90000"/>
              </a:lnSpc>
              <a:spcBef>
                <a:spcPct val="0"/>
              </a:spcBef>
              <a:buClr>
                <a:srgbClr val="000000"/>
              </a:buClr>
              <a:buNone/>
              <a:defRPr/>
            </a:pPr>
            <a:r>
              <a:rPr lang="en-US" altLang="en-US" sz="3000" b="1" dirty="0">
                <a:solidFill>
                  <a:srgbClr val="000000"/>
                </a:solidFill>
                <a:latin typeface="Courier New" panose="02070309020205020404" pitchFamily="49" charset="0"/>
              </a:rPr>
              <a:t>  statements;</a:t>
            </a:r>
          </a:p>
          <a:p>
            <a:pPr marL="342891" indent="-342891" algn="just" defTabSz="1219170">
              <a:lnSpc>
                <a:spcPct val="90000"/>
              </a:lnSpc>
              <a:spcBef>
                <a:spcPct val="0"/>
              </a:spcBef>
              <a:buClr>
                <a:srgbClr val="000000"/>
              </a:buClr>
              <a:buNone/>
              <a:defRPr/>
            </a:pPr>
            <a:r>
              <a:rPr lang="en-US" altLang="en-US" sz="3000" b="1" dirty="0">
                <a:solidFill>
                  <a:srgbClr val="000000"/>
                </a:solidFill>
                <a:latin typeface="Courier New" panose="02070309020205020404" pitchFamily="49" charset="0"/>
              </a:rPr>
              <a:t>}</a:t>
            </a:r>
          </a:p>
          <a:p>
            <a:pPr marL="342891" indent="-342891" algn="just" defTabSz="1219170">
              <a:lnSpc>
                <a:spcPct val="90000"/>
              </a:lnSpc>
              <a:spcBef>
                <a:spcPct val="0"/>
              </a:spcBef>
              <a:buClr>
                <a:srgbClr val="000000"/>
              </a:buClr>
              <a:buNone/>
              <a:defRPr/>
            </a:pPr>
            <a:r>
              <a:rPr lang="en-US" altLang="en-US" sz="3000" b="1" dirty="0">
                <a:solidFill>
                  <a:srgbClr val="000000"/>
                </a:solidFill>
                <a:latin typeface="Courier New" panose="02070309020205020404" pitchFamily="49" charset="0"/>
              </a:rPr>
              <a:t>catch(</a:t>
            </a:r>
            <a:r>
              <a:rPr lang="en-US" altLang="en-US" sz="3000" b="1" dirty="0" err="1">
                <a:solidFill>
                  <a:srgbClr val="000000"/>
                </a:solidFill>
                <a:latin typeface="Courier New" panose="02070309020205020404" pitchFamily="49" charset="0"/>
              </a:rPr>
              <a:t>TheException</a:t>
            </a:r>
            <a:r>
              <a:rPr lang="en-US" altLang="en-US" sz="3000" b="1" dirty="0">
                <a:solidFill>
                  <a:srgbClr val="000000"/>
                </a:solidFill>
                <a:latin typeface="Courier New" panose="02070309020205020404" pitchFamily="49" charset="0"/>
              </a:rPr>
              <a:t> ex) { </a:t>
            </a:r>
          </a:p>
          <a:p>
            <a:pPr marL="342891" indent="-342891" algn="just" defTabSz="1219170">
              <a:lnSpc>
                <a:spcPct val="90000"/>
              </a:lnSpc>
              <a:spcBef>
                <a:spcPct val="0"/>
              </a:spcBef>
              <a:buClr>
                <a:srgbClr val="000000"/>
              </a:buClr>
              <a:buNone/>
              <a:defRPr/>
            </a:pPr>
            <a:r>
              <a:rPr lang="en-US" altLang="en-US" sz="3000" b="1" dirty="0">
                <a:solidFill>
                  <a:srgbClr val="000000"/>
                </a:solidFill>
                <a:latin typeface="Courier New" panose="02070309020205020404" pitchFamily="49" charset="0"/>
              </a:rPr>
              <a:t>  handling ex; </a:t>
            </a:r>
          </a:p>
          <a:p>
            <a:pPr marL="342891" indent="-342891" algn="just" defTabSz="1219170">
              <a:lnSpc>
                <a:spcPct val="90000"/>
              </a:lnSpc>
              <a:spcBef>
                <a:spcPct val="0"/>
              </a:spcBef>
              <a:buClr>
                <a:srgbClr val="000000"/>
              </a:buClr>
              <a:buNone/>
              <a:defRPr/>
            </a:pPr>
            <a:r>
              <a:rPr lang="en-US" altLang="en-US" sz="3000" b="1" dirty="0">
                <a:solidFill>
                  <a:srgbClr val="000000"/>
                </a:solidFill>
                <a:latin typeface="Courier New" panose="02070309020205020404" pitchFamily="49" charset="0"/>
              </a:rPr>
              <a:t>}</a:t>
            </a:r>
          </a:p>
          <a:p>
            <a:pPr marL="342891" indent="-342891" algn="just" defTabSz="1219170">
              <a:lnSpc>
                <a:spcPct val="90000"/>
              </a:lnSpc>
              <a:spcBef>
                <a:spcPct val="0"/>
              </a:spcBef>
              <a:buClr>
                <a:srgbClr val="000000"/>
              </a:buClr>
              <a:buNone/>
              <a:defRPr/>
            </a:pPr>
            <a:r>
              <a:rPr lang="en-US" altLang="en-US" sz="3000" b="1" dirty="0">
                <a:solidFill>
                  <a:srgbClr val="000000"/>
                </a:solidFill>
                <a:latin typeface="Courier New" panose="02070309020205020404" pitchFamily="49" charset="0"/>
              </a:rPr>
              <a:t>finally { </a:t>
            </a:r>
          </a:p>
          <a:p>
            <a:pPr marL="342891" indent="-342891" algn="just" defTabSz="1219170">
              <a:lnSpc>
                <a:spcPct val="90000"/>
              </a:lnSpc>
              <a:spcBef>
                <a:spcPct val="0"/>
              </a:spcBef>
              <a:buClr>
                <a:srgbClr val="000000"/>
              </a:buClr>
              <a:buNone/>
              <a:defRPr/>
            </a:pPr>
            <a:r>
              <a:rPr lang="en-US" altLang="en-US" sz="3000" b="1" dirty="0">
                <a:solidFill>
                  <a:srgbClr val="000000"/>
                </a:solidFill>
                <a:latin typeface="Courier New" panose="02070309020205020404" pitchFamily="49" charset="0"/>
              </a:rPr>
              <a:t>  </a:t>
            </a:r>
            <a:r>
              <a:rPr lang="en-US" altLang="en-US" sz="3000" b="1" dirty="0" err="1">
                <a:solidFill>
                  <a:srgbClr val="000000"/>
                </a:solidFill>
                <a:latin typeface="Courier New" panose="02070309020205020404" pitchFamily="49" charset="0"/>
              </a:rPr>
              <a:t>finalStatements</a:t>
            </a:r>
            <a:r>
              <a:rPr lang="en-US" altLang="en-US" sz="3000" b="1" dirty="0">
                <a:solidFill>
                  <a:srgbClr val="000000"/>
                </a:solidFill>
                <a:latin typeface="Courier New" panose="02070309020205020404" pitchFamily="49" charset="0"/>
              </a:rPr>
              <a:t>; </a:t>
            </a:r>
          </a:p>
          <a:p>
            <a:pPr marL="342891" indent="-342891" algn="just" defTabSz="1219170">
              <a:lnSpc>
                <a:spcPct val="90000"/>
              </a:lnSpc>
              <a:spcBef>
                <a:spcPct val="0"/>
              </a:spcBef>
              <a:buClr>
                <a:srgbClr val="000000"/>
              </a:buClr>
              <a:buNone/>
              <a:defRPr/>
            </a:pPr>
            <a:r>
              <a:rPr lang="en-US" altLang="en-US" sz="3000" b="1" dirty="0">
                <a:solidFill>
                  <a:srgbClr val="000000"/>
                </a:solidFill>
                <a:latin typeface="Courier New" panose="02070309020205020404" pitchFamily="49" charset="0"/>
              </a:rPr>
              <a:t>}</a:t>
            </a:r>
            <a:endParaRPr lang="en-US" altLang="en-US" sz="3000" b="1" dirty="0">
              <a:solidFill>
                <a:srgbClr val="000000"/>
              </a:solidFill>
              <a:latin typeface="Times New Roman"/>
            </a:endParaRPr>
          </a:p>
        </p:txBody>
      </p:sp>
    </p:spTree>
    <p:extLst>
      <p:ext uri="{BB962C8B-B14F-4D97-AF65-F5344CB8AC3E}">
        <p14:creationId xmlns:p14="http://schemas.microsoft.com/office/powerpoint/2010/main" val="9986913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780724"/>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76</a:t>
            </a:fld>
            <a:endParaRPr lang="en"/>
          </a:p>
        </p:txBody>
      </p:sp>
      <p:sp>
        <p:nvSpPr>
          <p:cNvPr id="11" name="Rectangle 10">
            <a:extLst>
              <a:ext uri="{FF2B5EF4-FFF2-40B4-BE49-F238E27FC236}">
                <a16:creationId xmlns:a16="http://schemas.microsoft.com/office/drawing/2014/main" id="{5322244E-2BB0-4C7A-A053-ECD543940AA3}"/>
              </a:ext>
            </a:extLst>
          </p:cNvPr>
          <p:cNvSpPr txBox="1">
            <a:spLocks noChangeArrowheads="1"/>
          </p:cNvSpPr>
          <p:nvPr/>
        </p:nvSpPr>
        <p:spPr bwMode="auto">
          <a:xfrm>
            <a:off x="1828800" y="1905000"/>
            <a:ext cx="4648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statements;</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catch(TheException ex)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Next statement;</a:t>
            </a:r>
          </a:p>
        </p:txBody>
      </p:sp>
      <p:sp>
        <p:nvSpPr>
          <p:cNvPr id="12" name="Rectangle 6">
            <a:extLst>
              <a:ext uri="{FF2B5EF4-FFF2-40B4-BE49-F238E27FC236}">
                <a16:creationId xmlns:a16="http://schemas.microsoft.com/office/drawing/2014/main" id="{0EC9E82A-C201-4EB9-B818-48F3BF554B8A}"/>
              </a:ext>
            </a:extLst>
          </p:cNvPr>
          <p:cNvSpPr>
            <a:spLocks noChangeArrowheads="1"/>
          </p:cNvSpPr>
          <p:nvPr/>
        </p:nvSpPr>
        <p:spPr bwMode="auto">
          <a:xfrm>
            <a:off x="2133600" y="2286000"/>
            <a:ext cx="2819400" cy="3048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
        <p:nvSpPr>
          <p:cNvPr id="13" name="AutoShape 7">
            <a:extLst>
              <a:ext uri="{FF2B5EF4-FFF2-40B4-BE49-F238E27FC236}">
                <a16:creationId xmlns:a16="http://schemas.microsoft.com/office/drawing/2014/main" id="{34AD8F81-A1F2-457A-91CA-1B7811E83E1E}"/>
              </a:ext>
            </a:extLst>
          </p:cNvPr>
          <p:cNvSpPr>
            <a:spLocks noChangeArrowheads="1"/>
          </p:cNvSpPr>
          <p:nvPr/>
        </p:nvSpPr>
        <p:spPr bwMode="auto">
          <a:xfrm>
            <a:off x="7239001" y="893764"/>
            <a:ext cx="2927351" cy="1087437"/>
          </a:xfrm>
          <a:prstGeom prst="wedgeRoundRectCallout">
            <a:avLst>
              <a:gd name="adj1" fmla="val -145120"/>
              <a:gd name="adj2" fmla="val 88833"/>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Suppose no exceptions in the statements</a:t>
            </a:r>
          </a:p>
        </p:txBody>
      </p:sp>
    </p:spTree>
    <p:extLst>
      <p:ext uri="{BB962C8B-B14F-4D97-AF65-F5344CB8AC3E}">
        <p14:creationId xmlns:p14="http://schemas.microsoft.com/office/powerpoint/2010/main" val="60989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780724"/>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77</a:t>
            </a:fld>
            <a:endParaRPr lang="en"/>
          </a:p>
        </p:txBody>
      </p:sp>
      <p:sp>
        <p:nvSpPr>
          <p:cNvPr id="10" name="Rectangle 4">
            <a:extLst>
              <a:ext uri="{FF2B5EF4-FFF2-40B4-BE49-F238E27FC236}">
                <a16:creationId xmlns:a16="http://schemas.microsoft.com/office/drawing/2014/main" id="{7D669ECF-0458-4D87-BF47-8F28DE883929}"/>
              </a:ext>
            </a:extLst>
          </p:cNvPr>
          <p:cNvSpPr txBox="1">
            <a:spLocks noChangeArrowheads="1"/>
          </p:cNvSpPr>
          <p:nvPr/>
        </p:nvSpPr>
        <p:spPr bwMode="auto">
          <a:xfrm>
            <a:off x="1828800" y="1905000"/>
            <a:ext cx="4648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statements;</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catch(TheException ex)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Next statement;</a:t>
            </a:r>
          </a:p>
        </p:txBody>
      </p:sp>
      <p:sp>
        <p:nvSpPr>
          <p:cNvPr id="14" name="AutoShape 6">
            <a:extLst>
              <a:ext uri="{FF2B5EF4-FFF2-40B4-BE49-F238E27FC236}">
                <a16:creationId xmlns:a16="http://schemas.microsoft.com/office/drawing/2014/main" id="{D7C9AC6F-210E-4792-921E-A1632310B78D}"/>
              </a:ext>
            </a:extLst>
          </p:cNvPr>
          <p:cNvSpPr>
            <a:spLocks noChangeArrowheads="1"/>
          </p:cNvSpPr>
          <p:nvPr/>
        </p:nvSpPr>
        <p:spPr bwMode="auto">
          <a:xfrm>
            <a:off x="7239001" y="1447801"/>
            <a:ext cx="2927351" cy="1087439"/>
          </a:xfrm>
          <a:prstGeom prst="wedgeRoundRectCallout">
            <a:avLst>
              <a:gd name="adj1" fmla="val -124185"/>
              <a:gd name="adj2" fmla="val 234671"/>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The final block is always executed</a:t>
            </a:r>
          </a:p>
        </p:txBody>
      </p:sp>
      <p:sp>
        <p:nvSpPr>
          <p:cNvPr id="15" name="Rectangle 7">
            <a:extLst>
              <a:ext uri="{FF2B5EF4-FFF2-40B4-BE49-F238E27FC236}">
                <a16:creationId xmlns:a16="http://schemas.microsoft.com/office/drawing/2014/main" id="{BC8AA1E0-82B1-44F9-8C33-D7AC5F90CE5D}"/>
              </a:ext>
            </a:extLst>
          </p:cNvPr>
          <p:cNvSpPr>
            <a:spLocks noChangeArrowheads="1"/>
          </p:cNvSpPr>
          <p:nvPr/>
        </p:nvSpPr>
        <p:spPr bwMode="auto">
          <a:xfrm>
            <a:off x="2286000" y="4495800"/>
            <a:ext cx="3124200" cy="3048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Tree>
    <p:extLst>
      <p:ext uri="{BB962C8B-B14F-4D97-AF65-F5344CB8AC3E}">
        <p14:creationId xmlns:p14="http://schemas.microsoft.com/office/powerpoint/2010/main" val="240210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780724"/>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78</a:t>
            </a:fld>
            <a:endParaRPr lang="en"/>
          </a:p>
        </p:txBody>
      </p:sp>
      <p:sp>
        <p:nvSpPr>
          <p:cNvPr id="11" name="Rectangle 4">
            <a:extLst>
              <a:ext uri="{FF2B5EF4-FFF2-40B4-BE49-F238E27FC236}">
                <a16:creationId xmlns:a16="http://schemas.microsoft.com/office/drawing/2014/main" id="{89326960-1595-43A5-9979-C42C9B6FD276}"/>
              </a:ext>
            </a:extLst>
          </p:cNvPr>
          <p:cNvSpPr txBox="1">
            <a:spLocks noChangeArrowheads="1"/>
          </p:cNvSpPr>
          <p:nvPr/>
        </p:nvSpPr>
        <p:spPr bwMode="auto">
          <a:xfrm>
            <a:off x="1828800" y="1905000"/>
            <a:ext cx="4648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statements;</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catch(TheException ex)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b="1">
                <a:solidFill>
                  <a:srgbClr val="000000"/>
                </a:solidFill>
                <a:latin typeface="Courier New" panose="02070309020205020404" pitchFamily="49" charset="0"/>
              </a:rPr>
              <a:t>Next statement;</a:t>
            </a:r>
          </a:p>
        </p:txBody>
      </p:sp>
      <p:sp>
        <p:nvSpPr>
          <p:cNvPr id="12" name="AutoShape 5">
            <a:extLst>
              <a:ext uri="{FF2B5EF4-FFF2-40B4-BE49-F238E27FC236}">
                <a16:creationId xmlns:a16="http://schemas.microsoft.com/office/drawing/2014/main" id="{A12F2F26-4DDF-4242-AB73-B478F57017F5}"/>
              </a:ext>
            </a:extLst>
          </p:cNvPr>
          <p:cNvSpPr>
            <a:spLocks noChangeArrowheads="1"/>
          </p:cNvSpPr>
          <p:nvPr/>
        </p:nvSpPr>
        <p:spPr bwMode="auto">
          <a:xfrm>
            <a:off x="7239001" y="1447801"/>
            <a:ext cx="2927351" cy="1087439"/>
          </a:xfrm>
          <a:prstGeom prst="wedgeRoundRectCallout">
            <a:avLst>
              <a:gd name="adj1" fmla="val -127171"/>
              <a:gd name="adj2" fmla="val 325912"/>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Next statement in the method is executed</a:t>
            </a:r>
          </a:p>
        </p:txBody>
      </p:sp>
      <p:sp>
        <p:nvSpPr>
          <p:cNvPr id="13" name="Rectangle 6">
            <a:extLst>
              <a:ext uri="{FF2B5EF4-FFF2-40B4-BE49-F238E27FC236}">
                <a16:creationId xmlns:a16="http://schemas.microsoft.com/office/drawing/2014/main" id="{0337AF63-21E8-498B-8CE8-E737479CEAF2}"/>
              </a:ext>
            </a:extLst>
          </p:cNvPr>
          <p:cNvSpPr>
            <a:spLocks noChangeArrowheads="1"/>
          </p:cNvSpPr>
          <p:nvPr/>
        </p:nvSpPr>
        <p:spPr bwMode="auto">
          <a:xfrm>
            <a:off x="1905000" y="5562600"/>
            <a:ext cx="3124200" cy="3048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Tree>
    <p:extLst>
      <p:ext uri="{BB962C8B-B14F-4D97-AF65-F5344CB8AC3E}">
        <p14:creationId xmlns:p14="http://schemas.microsoft.com/office/powerpoint/2010/main" val="218849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780724"/>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79</a:t>
            </a:fld>
            <a:endParaRPr lang="en"/>
          </a:p>
        </p:txBody>
      </p:sp>
      <p:sp>
        <p:nvSpPr>
          <p:cNvPr id="10" name="Rectangle 4">
            <a:extLst>
              <a:ext uri="{FF2B5EF4-FFF2-40B4-BE49-F238E27FC236}">
                <a16:creationId xmlns:a16="http://schemas.microsoft.com/office/drawing/2014/main" id="{2389FD3B-D91D-4387-8104-E3E90A75A46C}"/>
              </a:ext>
            </a:extLst>
          </p:cNvPr>
          <p:cNvSpPr txBox="1">
            <a:spLocks noChangeArrowheads="1"/>
          </p:cNvSpPr>
          <p:nvPr/>
        </p:nvSpPr>
        <p:spPr bwMode="auto">
          <a:xfrm>
            <a:off x="1828800" y="1802228"/>
            <a:ext cx="4648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statement1;</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statement2;</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statement3;</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catch(Exception1 ex)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sz="2000"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Next statement;</a:t>
            </a:r>
          </a:p>
        </p:txBody>
      </p:sp>
      <p:sp>
        <p:nvSpPr>
          <p:cNvPr id="14" name="Rectangle 5">
            <a:extLst>
              <a:ext uri="{FF2B5EF4-FFF2-40B4-BE49-F238E27FC236}">
                <a16:creationId xmlns:a16="http://schemas.microsoft.com/office/drawing/2014/main" id="{E96BCD94-11E4-4F42-A5A5-28BFB5948786}"/>
              </a:ext>
            </a:extLst>
          </p:cNvPr>
          <p:cNvSpPr>
            <a:spLocks noChangeArrowheads="1"/>
          </p:cNvSpPr>
          <p:nvPr/>
        </p:nvSpPr>
        <p:spPr bwMode="auto">
          <a:xfrm>
            <a:off x="2133600" y="2411828"/>
            <a:ext cx="2819400" cy="3048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
        <p:nvSpPr>
          <p:cNvPr id="15" name="AutoShape 6">
            <a:extLst>
              <a:ext uri="{FF2B5EF4-FFF2-40B4-BE49-F238E27FC236}">
                <a16:creationId xmlns:a16="http://schemas.microsoft.com/office/drawing/2014/main" id="{0EC5F04C-E973-4A57-9500-8F8F9B86A027}"/>
              </a:ext>
            </a:extLst>
          </p:cNvPr>
          <p:cNvSpPr>
            <a:spLocks noChangeArrowheads="1"/>
          </p:cNvSpPr>
          <p:nvPr/>
        </p:nvSpPr>
        <p:spPr bwMode="auto">
          <a:xfrm>
            <a:off x="7239000" y="1726028"/>
            <a:ext cx="3200400" cy="1143000"/>
          </a:xfrm>
          <a:prstGeom prst="wedgeRoundRectCallout">
            <a:avLst>
              <a:gd name="adj1" fmla="val -138245"/>
              <a:gd name="adj2" fmla="val 22361"/>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Suppose an exception of type Exception1 is thrown in statement2</a:t>
            </a:r>
          </a:p>
        </p:txBody>
      </p:sp>
    </p:spTree>
    <p:extLst>
      <p:ext uri="{BB962C8B-B14F-4D97-AF65-F5344CB8AC3E}">
        <p14:creationId xmlns:p14="http://schemas.microsoft.com/office/powerpoint/2010/main" val="264495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309088" y="780724"/>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80</a:t>
            </a:fld>
            <a:endParaRPr lang="en"/>
          </a:p>
        </p:txBody>
      </p:sp>
      <p:sp>
        <p:nvSpPr>
          <p:cNvPr id="11" name="Rectangle 4">
            <a:extLst>
              <a:ext uri="{FF2B5EF4-FFF2-40B4-BE49-F238E27FC236}">
                <a16:creationId xmlns:a16="http://schemas.microsoft.com/office/drawing/2014/main" id="{14348361-8119-4AAB-90EC-E1BCF077B60D}"/>
              </a:ext>
            </a:extLst>
          </p:cNvPr>
          <p:cNvSpPr txBox="1">
            <a:spLocks noChangeArrowheads="1"/>
          </p:cNvSpPr>
          <p:nvPr/>
        </p:nvSpPr>
        <p:spPr bwMode="auto">
          <a:xfrm>
            <a:off x="1828800" y="2057401"/>
            <a:ext cx="4648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statement1;</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statement2;</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statement3;</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catch(Exception1 ex)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sz="2000"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Next statement;</a:t>
            </a:r>
          </a:p>
        </p:txBody>
      </p:sp>
      <p:sp>
        <p:nvSpPr>
          <p:cNvPr id="12" name="Rectangle 5">
            <a:extLst>
              <a:ext uri="{FF2B5EF4-FFF2-40B4-BE49-F238E27FC236}">
                <a16:creationId xmlns:a16="http://schemas.microsoft.com/office/drawing/2014/main" id="{CFDF8873-486D-4997-BC7D-A6B278336C4F}"/>
              </a:ext>
            </a:extLst>
          </p:cNvPr>
          <p:cNvSpPr>
            <a:spLocks noChangeArrowheads="1"/>
          </p:cNvSpPr>
          <p:nvPr/>
        </p:nvSpPr>
        <p:spPr bwMode="auto">
          <a:xfrm>
            <a:off x="2133600" y="3810001"/>
            <a:ext cx="2819400" cy="3810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
        <p:nvSpPr>
          <p:cNvPr id="13" name="AutoShape 6">
            <a:extLst>
              <a:ext uri="{FF2B5EF4-FFF2-40B4-BE49-F238E27FC236}">
                <a16:creationId xmlns:a16="http://schemas.microsoft.com/office/drawing/2014/main" id="{5C9A37C4-D16F-4E79-B3AC-D2DEFF3D6B66}"/>
              </a:ext>
            </a:extLst>
          </p:cNvPr>
          <p:cNvSpPr>
            <a:spLocks noChangeArrowheads="1"/>
          </p:cNvSpPr>
          <p:nvPr/>
        </p:nvSpPr>
        <p:spPr bwMode="auto">
          <a:xfrm>
            <a:off x="7239000" y="1981201"/>
            <a:ext cx="3200400" cy="1143000"/>
          </a:xfrm>
          <a:prstGeom prst="wedgeRoundRectCallout">
            <a:avLst>
              <a:gd name="adj1" fmla="val -134574"/>
              <a:gd name="adj2" fmla="val 123611"/>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The exception is handled.</a:t>
            </a:r>
          </a:p>
        </p:txBody>
      </p:sp>
    </p:spTree>
    <p:extLst>
      <p:ext uri="{BB962C8B-B14F-4D97-AF65-F5344CB8AC3E}">
        <p14:creationId xmlns:p14="http://schemas.microsoft.com/office/powerpoint/2010/main" val="941173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209851" y="734201"/>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81</a:t>
            </a:fld>
            <a:endParaRPr lang="en"/>
          </a:p>
        </p:txBody>
      </p:sp>
      <p:sp>
        <p:nvSpPr>
          <p:cNvPr id="10" name="Rectangle 4">
            <a:extLst>
              <a:ext uri="{FF2B5EF4-FFF2-40B4-BE49-F238E27FC236}">
                <a16:creationId xmlns:a16="http://schemas.microsoft.com/office/drawing/2014/main" id="{062A917F-3B6F-4650-B003-D5811CB26428}"/>
              </a:ext>
            </a:extLst>
          </p:cNvPr>
          <p:cNvSpPr txBox="1">
            <a:spLocks noChangeArrowheads="1"/>
          </p:cNvSpPr>
          <p:nvPr/>
        </p:nvSpPr>
        <p:spPr bwMode="auto">
          <a:xfrm>
            <a:off x="1828800" y="2298404"/>
            <a:ext cx="4648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statement1;</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statement2;</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statement3;</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catch(Exception1 ex)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sz="2000"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Next statement;</a:t>
            </a:r>
          </a:p>
        </p:txBody>
      </p:sp>
      <p:sp>
        <p:nvSpPr>
          <p:cNvPr id="14" name="Rectangle 5">
            <a:extLst>
              <a:ext uri="{FF2B5EF4-FFF2-40B4-BE49-F238E27FC236}">
                <a16:creationId xmlns:a16="http://schemas.microsoft.com/office/drawing/2014/main" id="{A850E5D8-1555-401B-B0B8-769FADEF3773}"/>
              </a:ext>
            </a:extLst>
          </p:cNvPr>
          <p:cNvSpPr>
            <a:spLocks noChangeArrowheads="1"/>
          </p:cNvSpPr>
          <p:nvPr/>
        </p:nvSpPr>
        <p:spPr bwMode="auto">
          <a:xfrm>
            <a:off x="2209800" y="5041604"/>
            <a:ext cx="2819400" cy="3810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
        <p:nvSpPr>
          <p:cNvPr id="15" name="AutoShape 6">
            <a:extLst>
              <a:ext uri="{FF2B5EF4-FFF2-40B4-BE49-F238E27FC236}">
                <a16:creationId xmlns:a16="http://schemas.microsoft.com/office/drawing/2014/main" id="{72C0A09F-0F7E-4238-B916-7F07878B563A}"/>
              </a:ext>
            </a:extLst>
          </p:cNvPr>
          <p:cNvSpPr>
            <a:spLocks noChangeArrowheads="1"/>
          </p:cNvSpPr>
          <p:nvPr/>
        </p:nvSpPr>
        <p:spPr bwMode="auto">
          <a:xfrm>
            <a:off x="7239000" y="2222204"/>
            <a:ext cx="3200400" cy="1143000"/>
          </a:xfrm>
          <a:prstGeom prst="wedgeRoundRectCallout">
            <a:avLst>
              <a:gd name="adj1" fmla="val -124801"/>
              <a:gd name="adj2" fmla="val 208750"/>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The final block is always executed.</a:t>
            </a:r>
          </a:p>
        </p:txBody>
      </p:sp>
    </p:spTree>
    <p:extLst>
      <p:ext uri="{BB962C8B-B14F-4D97-AF65-F5344CB8AC3E}">
        <p14:creationId xmlns:p14="http://schemas.microsoft.com/office/powerpoint/2010/main" val="162759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209851" y="734201"/>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82</a:t>
            </a:fld>
            <a:endParaRPr lang="en"/>
          </a:p>
        </p:txBody>
      </p:sp>
      <p:sp>
        <p:nvSpPr>
          <p:cNvPr id="11" name="Rectangle 4">
            <a:extLst>
              <a:ext uri="{FF2B5EF4-FFF2-40B4-BE49-F238E27FC236}">
                <a16:creationId xmlns:a16="http://schemas.microsoft.com/office/drawing/2014/main" id="{F9DE5E1F-689A-435C-8177-7AFA14AF4D90}"/>
              </a:ext>
            </a:extLst>
          </p:cNvPr>
          <p:cNvSpPr txBox="1">
            <a:spLocks noChangeArrowheads="1"/>
          </p:cNvSpPr>
          <p:nvPr/>
        </p:nvSpPr>
        <p:spPr bwMode="auto">
          <a:xfrm>
            <a:off x="1828800" y="1858935"/>
            <a:ext cx="4648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statement1;</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statement2;</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statement3;</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catch(Exception1 ex)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sz="2000"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sz="2000" b="1">
                <a:solidFill>
                  <a:srgbClr val="000000"/>
                </a:solidFill>
                <a:latin typeface="Courier New" panose="02070309020205020404" pitchFamily="49" charset="0"/>
              </a:rPr>
              <a:t>Next statement;</a:t>
            </a:r>
          </a:p>
        </p:txBody>
      </p:sp>
      <p:sp>
        <p:nvSpPr>
          <p:cNvPr id="12" name="Rectangle 5">
            <a:extLst>
              <a:ext uri="{FF2B5EF4-FFF2-40B4-BE49-F238E27FC236}">
                <a16:creationId xmlns:a16="http://schemas.microsoft.com/office/drawing/2014/main" id="{3CE6EF37-A4D3-4D7F-8389-EEDB8CD13136}"/>
              </a:ext>
            </a:extLst>
          </p:cNvPr>
          <p:cNvSpPr>
            <a:spLocks noChangeArrowheads="1"/>
          </p:cNvSpPr>
          <p:nvPr/>
        </p:nvSpPr>
        <p:spPr bwMode="auto">
          <a:xfrm>
            <a:off x="1905000" y="5440335"/>
            <a:ext cx="2819400" cy="3810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
        <p:nvSpPr>
          <p:cNvPr id="13" name="AutoShape 6">
            <a:extLst>
              <a:ext uri="{FF2B5EF4-FFF2-40B4-BE49-F238E27FC236}">
                <a16:creationId xmlns:a16="http://schemas.microsoft.com/office/drawing/2014/main" id="{F4647E27-0902-4AD4-ACF0-7A19D36BA98E}"/>
              </a:ext>
            </a:extLst>
          </p:cNvPr>
          <p:cNvSpPr>
            <a:spLocks noChangeArrowheads="1"/>
          </p:cNvSpPr>
          <p:nvPr/>
        </p:nvSpPr>
        <p:spPr bwMode="auto">
          <a:xfrm>
            <a:off x="7239000" y="1782735"/>
            <a:ext cx="3200400" cy="1143000"/>
          </a:xfrm>
          <a:prstGeom prst="wedgeRoundRectCallout">
            <a:avLst>
              <a:gd name="adj1" fmla="val -133333"/>
              <a:gd name="adj2" fmla="val 282778"/>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The next statement in the method is now executed.</a:t>
            </a:r>
          </a:p>
        </p:txBody>
      </p:sp>
    </p:spTree>
    <p:extLst>
      <p:ext uri="{BB962C8B-B14F-4D97-AF65-F5344CB8AC3E}">
        <p14:creationId xmlns:p14="http://schemas.microsoft.com/office/powerpoint/2010/main" val="255584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209851" y="734201"/>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83</a:t>
            </a:fld>
            <a:endParaRPr lang="en"/>
          </a:p>
        </p:txBody>
      </p:sp>
      <p:sp>
        <p:nvSpPr>
          <p:cNvPr id="10" name="Rectangle 4">
            <a:extLst>
              <a:ext uri="{FF2B5EF4-FFF2-40B4-BE49-F238E27FC236}">
                <a16:creationId xmlns:a16="http://schemas.microsoft.com/office/drawing/2014/main" id="{C7A03755-5489-4419-8B87-7C7D74D26D9A}"/>
              </a:ext>
            </a:extLst>
          </p:cNvPr>
          <p:cNvSpPr txBox="1">
            <a:spLocks noChangeArrowheads="1"/>
          </p:cNvSpPr>
          <p:nvPr/>
        </p:nvSpPr>
        <p:spPr bwMode="auto">
          <a:xfrm>
            <a:off x="1828800" y="1724256"/>
            <a:ext cx="4648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statement1;</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statement2;</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statement3;</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catch(Exception1 ex)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catch(Exception2 ex)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throw ex;</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sz="1800"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Next statement;</a:t>
            </a:r>
            <a:endParaRPr lang="en-US" altLang="en-US" sz="1800" b="1" dirty="0">
              <a:solidFill>
                <a:srgbClr val="000000"/>
              </a:solidFill>
              <a:latin typeface="Courier New" panose="02070309020205020404" pitchFamily="49" charset="0"/>
            </a:endParaRPr>
          </a:p>
        </p:txBody>
      </p:sp>
      <p:sp>
        <p:nvSpPr>
          <p:cNvPr id="14" name="Rectangle 5">
            <a:extLst>
              <a:ext uri="{FF2B5EF4-FFF2-40B4-BE49-F238E27FC236}">
                <a16:creationId xmlns:a16="http://schemas.microsoft.com/office/drawing/2014/main" id="{D705969B-350C-4B0B-AFBA-7722BE264C3F}"/>
              </a:ext>
            </a:extLst>
          </p:cNvPr>
          <p:cNvSpPr>
            <a:spLocks noChangeArrowheads="1"/>
          </p:cNvSpPr>
          <p:nvPr/>
        </p:nvSpPr>
        <p:spPr bwMode="auto">
          <a:xfrm>
            <a:off x="1905000" y="2257656"/>
            <a:ext cx="2819400" cy="3048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
        <p:nvSpPr>
          <p:cNvPr id="15" name="AutoShape 6">
            <a:extLst>
              <a:ext uri="{FF2B5EF4-FFF2-40B4-BE49-F238E27FC236}">
                <a16:creationId xmlns:a16="http://schemas.microsoft.com/office/drawing/2014/main" id="{2356D9EA-99E5-4346-960A-64D543EC9112}"/>
              </a:ext>
            </a:extLst>
          </p:cNvPr>
          <p:cNvSpPr>
            <a:spLocks noChangeArrowheads="1"/>
          </p:cNvSpPr>
          <p:nvPr/>
        </p:nvSpPr>
        <p:spPr bwMode="auto">
          <a:xfrm>
            <a:off x="7239000" y="1952856"/>
            <a:ext cx="3200400" cy="1143000"/>
          </a:xfrm>
          <a:prstGeom prst="wedgeRoundRectCallout">
            <a:avLst>
              <a:gd name="adj1" fmla="val -142162"/>
              <a:gd name="adj2" fmla="val -4861"/>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statement2 throws an exception of type Exception2.</a:t>
            </a:r>
          </a:p>
        </p:txBody>
      </p:sp>
    </p:spTree>
    <p:extLst>
      <p:ext uri="{BB962C8B-B14F-4D97-AF65-F5344CB8AC3E}">
        <p14:creationId xmlns:p14="http://schemas.microsoft.com/office/powerpoint/2010/main" val="363468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209851" y="734201"/>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84</a:t>
            </a:fld>
            <a:endParaRPr lang="en"/>
          </a:p>
        </p:txBody>
      </p:sp>
      <p:sp>
        <p:nvSpPr>
          <p:cNvPr id="11" name="Rectangle 4">
            <a:extLst>
              <a:ext uri="{FF2B5EF4-FFF2-40B4-BE49-F238E27FC236}">
                <a16:creationId xmlns:a16="http://schemas.microsoft.com/office/drawing/2014/main" id="{656E9595-9895-48D6-B126-CB487575FD2A}"/>
              </a:ext>
            </a:extLst>
          </p:cNvPr>
          <p:cNvSpPr txBox="1">
            <a:spLocks noChangeArrowheads="1"/>
          </p:cNvSpPr>
          <p:nvPr/>
        </p:nvSpPr>
        <p:spPr bwMode="auto">
          <a:xfrm>
            <a:off x="1828800" y="1710077"/>
            <a:ext cx="4648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statement1;</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statement2;</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statement3;</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catch(Exception1 ex)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catch(Exception2 ex)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throw ex;</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sz="1800"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Next statement;</a:t>
            </a:r>
          </a:p>
        </p:txBody>
      </p:sp>
      <p:sp>
        <p:nvSpPr>
          <p:cNvPr id="12" name="AutoShape 6">
            <a:extLst>
              <a:ext uri="{FF2B5EF4-FFF2-40B4-BE49-F238E27FC236}">
                <a16:creationId xmlns:a16="http://schemas.microsoft.com/office/drawing/2014/main" id="{10428B2B-E185-4A7E-8A4E-CAA48C083859}"/>
              </a:ext>
            </a:extLst>
          </p:cNvPr>
          <p:cNvSpPr>
            <a:spLocks noChangeArrowheads="1"/>
          </p:cNvSpPr>
          <p:nvPr/>
        </p:nvSpPr>
        <p:spPr bwMode="auto">
          <a:xfrm>
            <a:off x="7239000" y="1938677"/>
            <a:ext cx="3200400" cy="609600"/>
          </a:xfrm>
          <a:prstGeom prst="wedgeRoundRectCallout">
            <a:avLst>
              <a:gd name="adj1" fmla="val -136407"/>
              <a:gd name="adj2" fmla="val 337759"/>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Handling exception</a:t>
            </a:r>
          </a:p>
        </p:txBody>
      </p:sp>
      <p:sp>
        <p:nvSpPr>
          <p:cNvPr id="13" name="Rectangle 7">
            <a:extLst>
              <a:ext uri="{FF2B5EF4-FFF2-40B4-BE49-F238E27FC236}">
                <a16:creationId xmlns:a16="http://schemas.microsoft.com/office/drawing/2014/main" id="{D23717C6-39EA-4862-B813-5C6CCF5CCAEB}"/>
              </a:ext>
            </a:extLst>
          </p:cNvPr>
          <p:cNvSpPr>
            <a:spLocks noChangeArrowheads="1"/>
          </p:cNvSpPr>
          <p:nvPr/>
        </p:nvSpPr>
        <p:spPr bwMode="auto">
          <a:xfrm>
            <a:off x="1905000" y="4148477"/>
            <a:ext cx="2819400" cy="3048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Tree>
    <p:extLst>
      <p:ext uri="{BB962C8B-B14F-4D97-AF65-F5344CB8AC3E}">
        <p14:creationId xmlns:p14="http://schemas.microsoft.com/office/powerpoint/2010/main" val="283131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209851" y="734201"/>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85</a:t>
            </a:fld>
            <a:endParaRPr lang="en"/>
          </a:p>
        </p:txBody>
      </p:sp>
      <p:sp>
        <p:nvSpPr>
          <p:cNvPr id="7" name="Rectangle 4">
            <a:extLst>
              <a:ext uri="{FF2B5EF4-FFF2-40B4-BE49-F238E27FC236}">
                <a16:creationId xmlns:a16="http://schemas.microsoft.com/office/drawing/2014/main" id="{F0509FCC-D483-4C36-87CA-CB10AB433D4B}"/>
              </a:ext>
            </a:extLst>
          </p:cNvPr>
          <p:cNvSpPr txBox="1">
            <a:spLocks noChangeArrowheads="1"/>
          </p:cNvSpPr>
          <p:nvPr/>
        </p:nvSpPr>
        <p:spPr bwMode="auto">
          <a:xfrm>
            <a:off x="2183219" y="1596656"/>
            <a:ext cx="4648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statement1;</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statement2;</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statement3;</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catch(Exception1 ex)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catch(Exception2 ex)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throw ex;</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sz="1800"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Next statement;</a:t>
            </a:r>
          </a:p>
        </p:txBody>
      </p:sp>
      <p:sp>
        <p:nvSpPr>
          <p:cNvPr id="8" name="AutoShape 5">
            <a:extLst>
              <a:ext uri="{FF2B5EF4-FFF2-40B4-BE49-F238E27FC236}">
                <a16:creationId xmlns:a16="http://schemas.microsoft.com/office/drawing/2014/main" id="{C8F603F7-8662-4638-8B00-56550E99B9CC}"/>
              </a:ext>
            </a:extLst>
          </p:cNvPr>
          <p:cNvSpPr>
            <a:spLocks noChangeArrowheads="1"/>
          </p:cNvSpPr>
          <p:nvPr/>
        </p:nvSpPr>
        <p:spPr bwMode="auto">
          <a:xfrm>
            <a:off x="7593419" y="1825256"/>
            <a:ext cx="3200400" cy="609600"/>
          </a:xfrm>
          <a:prstGeom prst="wedgeRoundRectCallout">
            <a:avLst>
              <a:gd name="adj1" fmla="val -133681"/>
              <a:gd name="adj2" fmla="val 518231"/>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Execute the final block</a:t>
            </a:r>
          </a:p>
        </p:txBody>
      </p:sp>
      <p:sp>
        <p:nvSpPr>
          <p:cNvPr id="9" name="Rectangle 6">
            <a:extLst>
              <a:ext uri="{FF2B5EF4-FFF2-40B4-BE49-F238E27FC236}">
                <a16:creationId xmlns:a16="http://schemas.microsoft.com/office/drawing/2014/main" id="{E109C53C-E35A-4A2F-A594-BF2E5012EEFA}"/>
              </a:ext>
            </a:extLst>
          </p:cNvPr>
          <p:cNvSpPr>
            <a:spLocks noChangeArrowheads="1"/>
          </p:cNvSpPr>
          <p:nvPr/>
        </p:nvSpPr>
        <p:spPr bwMode="auto">
          <a:xfrm>
            <a:off x="2259419" y="5178056"/>
            <a:ext cx="2819400" cy="3048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Tree>
    <p:extLst>
      <p:ext uri="{BB962C8B-B14F-4D97-AF65-F5344CB8AC3E}">
        <p14:creationId xmlns:p14="http://schemas.microsoft.com/office/powerpoint/2010/main" val="279681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209851" y="734201"/>
            <a:ext cx="11438448" cy="713600"/>
          </a:xfrm>
        </p:spPr>
        <p:txBody>
          <a:bodyPr>
            <a:normAutofit/>
          </a:bodyPr>
          <a:lstStyle/>
          <a:p>
            <a:r>
              <a:rPr lang="en-US" dirty="0"/>
              <a:t>Exceptions: </a:t>
            </a:r>
            <a:r>
              <a:rPr lang="en-US" altLang="en-US" dirty="0"/>
              <a:t>Trace a Program Execution</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86</a:t>
            </a:fld>
            <a:endParaRPr lang="en"/>
          </a:p>
        </p:txBody>
      </p:sp>
      <p:sp>
        <p:nvSpPr>
          <p:cNvPr id="10" name="Rectangle 4">
            <a:extLst>
              <a:ext uri="{FF2B5EF4-FFF2-40B4-BE49-F238E27FC236}">
                <a16:creationId xmlns:a16="http://schemas.microsoft.com/office/drawing/2014/main" id="{6E165B2B-34D6-4FE4-930B-B8DA7DB5498E}"/>
              </a:ext>
            </a:extLst>
          </p:cNvPr>
          <p:cNvSpPr txBox="1">
            <a:spLocks noChangeArrowheads="1"/>
          </p:cNvSpPr>
          <p:nvPr/>
        </p:nvSpPr>
        <p:spPr bwMode="auto">
          <a:xfrm>
            <a:off x="1828800" y="1752607"/>
            <a:ext cx="4648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2767" tIns="61384" rIns="122767" bIns="61384" numCol="1" anchor="t" anchorCtr="0" compatLnSpc="1">
            <a:prstTxWarp prst="textNoShape">
              <a:avLst/>
            </a:prstTxWarp>
          </a:bodyPr>
          <a:lstStyle>
            <a:lvl1pPr marL="257175" indent="-257175" algn="l" rtl="0" eaLnBrk="0" fontAlgn="base" hangingPunct="0">
              <a:spcBef>
                <a:spcPct val="20000"/>
              </a:spcBef>
              <a:spcAft>
                <a:spcPct val="0"/>
              </a:spcAft>
              <a:buClr>
                <a:schemeClr val="tx2"/>
              </a:buClr>
              <a:buSzPct val="75000"/>
              <a:buFont typeface="Monotype Sorts"/>
              <a:buChar char="F"/>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Clr>
                <a:schemeClr val="tx1"/>
              </a:buClr>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Clr>
                <a:schemeClr val="accent2"/>
              </a:buClr>
              <a:buSzPct val="65000"/>
              <a:buFont typeface="Monotype Sorts"/>
              <a:buChar char="u"/>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Clr>
                <a:schemeClr val="tx1"/>
              </a:buClr>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Clr>
                <a:schemeClr val="tx2"/>
              </a:buClr>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try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statement1;</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statement2;</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statement3;</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catch(Exception1 ex)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catch(Exception2 ex)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handling ex;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throw ex;</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finally {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  finalStatements; </a:t>
            </a: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a:t>
            </a:r>
          </a:p>
          <a:p>
            <a:pPr marL="342891" indent="-342891" defTabSz="1219170">
              <a:lnSpc>
                <a:spcPct val="80000"/>
              </a:lnSpc>
              <a:buClr>
                <a:srgbClr val="000000"/>
              </a:buClr>
              <a:buNone/>
              <a:defRPr/>
            </a:pPr>
            <a:endParaRPr lang="en-US" altLang="en-US" sz="1800" b="1">
              <a:solidFill>
                <a:srgbClr val="000000"/>
              </a:solidFill>
              <a:latin typeface="Courier New" panose="02070309020205020404" pitchFamily="49" charset="0"/>
            </a:endParaRPr>
          </a:p>
          <a:p>
            <a:pPr marL="342891" indent="-342891" defTabSz="1219170">
              <a:lnSpc>
                <a:spcPct val="80000"/>
              </a:lnSpc>
              <a:buClr>
                <a:srgbClr val="000000"/>
              </a:buClr>
              <a:buNone/>
              <a:defRPr/>
            </a:pPr>
            <a:r>
              <a:rPr lang="en-US" altLang="en-US" sz="1800" b="1">
                <a:solidFill>
                  <a:srgbClr val="000000"/>
                </a:solidFill>
                <a:latin typeface="Courier New" panose="02070309020205020404" pitchFamily="49" charset="0"/>
              </a:rPr>
              <a:t>Next statement;</a:t>
            </a:r>
          </a:p>
        </p:txBody>
      </p:sp>
      <p:sp>
        <p:nvSpPr>
          <p:cNvPr id="11" name="AutoShape 5">
            <a:extLst>
              <a:ext uri="{FF2B5EF4-FFF2-40B4-BE49-F238E27FC236}">
                <a16:creationId xmlns:a16="http://schemas.microsoft.com/office/drawing/2014/main" id="{902C81D2-9AE3-483F-9DEE-EE6EEF427CB9}"/>
              </a:ext>
            </a:extLst>
          </p:cNvPr>
          <p:cNvSpPr>
            <a:spLocks noChangeArrowheads="1"/>
          </p:cNvSpPr>
          <p:nvPr/>
        </p:nvSpPr>
        <p:spPr bwMode="auto">
          <a:xfrm>
            <a:off x="7239000" y="1981207"/>
            <a:ext cx="3276600" cy="1143000"/>
          </a:xfrm>
          <a:prstGeom prst="wedgeRoundRectCallout">
            <a:avLst>
              <a:gd name="adj1" fmla="val -134398"/>
              <a:gd name="adj2" fmla="val 186528"/>
              <a:gd name="adj3" fmla="val 16667"/>
            </a:avLst>
          </a:prstGeom>
          <a:solidFill>
            <a:srgbClr val="CBCBCB"/>
          </a:solidFill>
          <a:ln w="12700">
            <a:solidFill>
              <a:srgbClr val="000000"/>
            </a:solidFill>
            <a:miter lim="800000"/>
            <a:headEnd type="none" w="sm" len="sm"/>
            <a:tailEnd type="none" w="sm" len="sm"/>
          </a:ln>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80000"/>
              </a:lnSpc>
              <a:spcBef>
                <a:spcPct val="20000"/>
              </a:spcBef>
              <a:spcAft>
                <a:spcPct val="0"/>
              </a:spcAft>
              <a:buSzPct val="75000"/>
              <a:defRPr/>
            </a:pPr>
            <a:r>
              <a:rPr lang="en-US" altLang="en-US">
                <a:solidFill>
                  <a:srgbClr val="000000"/>
                </a:solidFill>
              </a:rPr>
              <a:t>Rethrow the exception and control is transferred to the caller</a:t>
            </a:r>
          </a:p>
        </p:txBody>
      </p:sp>
      <p:sp>
        <p:nvSpPr>
          <p:cNvPr id="12" name="Rectangle 6">
            <a:extLst>
              <a:ext uri="{FF2B5EF4-FFF2-40B4-BE49-F238E27FC236}">
                <a16:creationId xmlns:a16="http://schemas.microsoft.com/office/drawing/2014/main" id="{4FDD4D05-C957-42EB-B235-74D800BD43FC}"/>
              </a:ext>
            </a:extLst>
          </p:cNvPr>
          <p:cNvSpPr>
            <a:spLocks noChangeArrowheads="1"/>
          </p:cNvSpPr>
          <p:nvPr/>
        </p:nvSpPr>
        <p:spPr bwMode="auto">
          <a:xfrm>
            <a:off x="1905000" y="4495807"/>
            <a:ext cx="2819400" cy="304800"/>
          </a:xfrm>
          <a:prstGeom prst="rect">
            <a:avLst/>
          </a:prstGeom>
          <a:solidFill>
            <a:srgbClr val="CBCBCB">
              <a:alpha val="45097"/>
            </a:srgbClr>
          </a:solidFill>
          <a:ln w="12700">
            <a:solidFill>
              <a:srgbClr val="000000"/>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spcBef>
                <a:spcPct val="0"/>
              </a:spcBef>
              <a:spcAft>
                <a:spcPct val="0"/>
              </a:spcAft>
              <a:defRPr/>
            </a:pPr>
            <a:endParaRPr lang="en-US" altLang="en-US">
              <a:solidFill>
                <a:srgbClr val="000000"/>
              </a:solidFill>
            </a:endParaRPr>
          </a:p>
        </p:txBody>
      </p:sp>
    </p:spTree>
    <p:extLst>
      <p:ext uri="{BB962C8B-B14F-4D97-AF65-F5344CB8AC3E}">
        <p14:creationId xmlns:p14="http://schemas.microsoft.com/office/powerpoint/2010/main" val="189200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209851" y="734201"/>
            <a:ext cx="11438448" cy="713600"/>
          </a:xfrm>
        </p:spPr>
        <p:txBody>
          <a:bodyPr>
            <a:normAutofit/>
          </a:bodyPr>
          <a:lstStyle/>
          <a:p>
            <a:r>
              <a:rPr lang="en-US" dirty="0"/>
              <a:t>Exceptions: </a:t>
            </a:r>
            <a:r>
              <a:rPr lang="en-US" altLang="en-US" dirty="0"/>
              <a:t>Cautions When Using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87</a:t>
            </a:fld>
            <a:endParaRPr lang="en"/>
          </a:p>
        </p:txBody>
      </p:sp>
      <p:sp>
        <p:nvSpPr>
          <p:cNvPr id="8" name="Rectangle 3">
            <a:extLst>
              <a:ext uri="{FF2B5EF4-FFF2-40B4-BE49-F238E27FC236}">
                <a16:creationId xmlns:a16="http://schemas.microsoft.com/office/drawing/2014/main" id="{2C866D8D-724F-49C4-A967-B0C6D5CD39B5}"/>
              </a:ext>
            </a:extLst>
          </p:cNvPr>
          <p:cNvSpPr>
            <a:spLocks noGrp="1" noChangeArrowheads="1"/>
          </p:cNvSpPr>
          <p:nvPr>
            <p:ph type="body" idx="1"/>
          </p:nvPr>
        </p:nvSpPr>
        <p:spPr>
          <a:xfrm>
            <a:off x="942613" y="1924494"/>
            <a:ext cx="9972923" cy="4408641"/>
          </a:xfrm>
        </p:spPr>
        <p:txBody>
          <a:bodyPr>
            <a:noAutofit/>
          </a:bodyPr>
          <a:lstStyle/>
          <a:p>
            <a:pPr algn="just">
              <a:lnSpc>
                <a:spcPct val="150000"/>
              </a:lnSpc>
              <a:spcAft>
                <a:spcPts val="1200"/>
              </a:spcAft>
            </a:pPr>
            <a:r>
              <a:rPr lang="en-US" altLang="en-US" sz="2400" dirty="0"/>
              <a:t>Exception handling separates error-handling code from normal programming tasks, thus making programs easier to read and to modify. Be aware, however, that exception handling usually requires more time and resources because it requires instantiating a new exception object, rolling back the call stack, and propagating the errors to the calling methods.</a:t>
            </a:r>
          </a:p>
        </p:txBody>
      </p:sp>
    </p:spTree>
    <p:extLst>
      <p:ext uri="{BB962C8B-B14F-4D97-AF65-F5344CB8AC3E}">
        <p14:creationId xmlns:p14="http://schemas.microsoft.com/office/powerpoint/2010/main" val="2719500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167320" y="688127"/>
            <a:ext cx="11438448" cy="713600"/>
          </a:xfrm>
        </p:spPr>
        <p:txBody>
          <a:bodyPr>
            <a:normAutofit/>
          </a:bodyPr>
          <a:lstStyle/>
          <a:p>
            <a:r>
              <a:rPr lang="en-US" dirty="0"/>
              <a:t>Exceptions: </a:t>
            </a:r>
            <a:r>
              <a:rPr lang="en-US" altLang="en-US" dirty="0"/>
              <a:t>When to Use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88</a:t>
            </a:fld>
            <a:endParaRPr lang="en"/>
          </a:p>
        </p:txBody>
      </p:sp>
      <p:sp>
        <p:nvSpPr>
          <p:cNvPr id="12" name="Rectangle 3">
            <a:extLst>
              <a:ext uri="{FF2B5EF4-FFF2-40B4-BE49-F238E27FC236}">
                <a16:creationId xmlns:a16="http://schemas.microsoft.com/office/drawing/2014/main" id="{8EC40493-69BB-4808-8523-428C15830871}"/>
              </a:ext>
            </a:extLst>
          </p:cNvPr>
          <p:cNvSpPr>
            <a:spLocks noGrp="1" noChangeArrowheads="1"/>
          </p:cNvSpPr>
          <p:nvPr>
            <p:ph type="body" idx="1"/>
          </p:nvPr>
        </p:nvSpPr>
        <p:spPr>
          <a:xfrm>
            <a:off x="394760" y="1550583"/>
            <a:ext cx="10986977" cy="1676400"/>
          </a:xfrm>
        </p:spPr>
        <p:txBody>
          <a:bodyPr>
            <a:noAutofit/>
          </a:bodyPr>
          <a:lstStyle/>
          <a:p>
            <a:pPr marL="0" indent="0" algn="just">
              <a:lnSpc>
                <a:spcPct val="150000"/>
              </a:lnSpc>
              <a:spcAft>
                <a:spcPts val="1200"/>
              </a:spcAft>
              <a:buNone/>
            </a:pPr>
            <a:r>
              <a:rPr lang="en-US" altLang="en-US" sz="2400" dirty="0">
                <a:solidFill>
                  <a:schemeClr val="bg2"/>
                </a:solidFill>
                <a:cs typeface="Times New Roman" panose="02020603050405020304" pitchFamily="18" charset="0"/>
              </a:rPr>
              <a:t>When should you use the try-catch block in the code? You should use it to deal with unexpected error conditions. Do not use it to deal with simple, expected situations. For example, the following code </a:t>
            </a:r>
          </a:p>
        </p:txBody>
      </p:sp>
      <p:sp>
        <p:nvSpPr>
          <p:cNvPr id="13" name="Rectangle 4">
            <a:extLst>
              <a:ext uri="{FF2B5EF4-FFF2-40B4-BE49-F238E27FC236}">
                <a16:creationId xmlns:a16="http://schemas.microsoft.com/office/drawing/2014/main" id="{298C5C80-EA64-48C0-BB36-171FC4CEB26E}"/>
              </a:ext>
            </a:extLst>
          </p:cNvPr>
          <p:cNvSpPr>
            <a:spLocks noChangeArrowheads="1"/>
          </p:cNvSpPr>
          <p:nvPr/>
        </p:nvSpPr>
        <p:spPr bwMode="auto">
          <a:xfrm>
            <a:off x="1905000" y="3285464"/>
            <a:ext cx="8458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try {</a:t>
            </a:r>
          </a:p>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  </a:t>
            </a:r>
            <a:r>
              <a:rPr lang="en-US" altLang="en-US" b="1" dirty="0" err="1">
                <a:solidFill>
                  <a:srgbClr val="000000"/>
                </a:solidFill>
                <a:latin typeface="Courier New" panose="02070309020205020404" pitchFamily="49" charset="0"/>
                <a:cs typeface="Times New Roman" panose="02020603050405020304" pitchFamily="18" charset="0"/>
              </a:rPr>
              <a:t>System.out.println</a:t>
            </a:r>
            <a:r>
              <a:rPr lang="en-US" altLang="en-US" b="1" dirty="0">
                <a:solidFill>
                  <a:srgbClr val="000000"/>
                </a:solidFill>
                <a:latin typeface="Courier New" panose="02070309020205020404" pitchFamily="49" charset="0"/>
                <a:cs typeface="Times New Roman" panose="02020603050405020304" pitchFamily="18" charset="0"/>
              </a:rPr>
              <a:t>(</a:t>
            </a:r>
            <a:r>
              <a:rPr lang="en-US" altLang="en-US" b="1" dirty="0" err="1">
                <a:solidFill>
                  <a:srgbClr val="000000"/>
                </a:solidFill>
                <a:latin typeface="Courier New" panose="02070309020205020404" pitchFamily="49" charset="0"/>
                <a:cs typeface="Times New Roman" panose="02020603050405020304" pitchFamily="18" charset="0"/>
              </a:rPr>
              <a:t>refVar.toString</a:t>
            </a:r>
            <a:r>
              <a:rPr lang="en-US" altLang="en-US" b="1" dirty="0">
                <a:solidFill>
                  <a:srgbClr val="000000"/>
                </a:solidFill>
                <a:latin typeface="Courier New" panose="02070309020205020404" pitchFamily="49" charset="0"/>
                <a:cs typeface="Times New Roman" panose="02020603050405020304" pitchFamily="18" charset="0"/>
              </a:rPr>
              <a:t>());</a:t>
            </a:r>
          </a:p>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a:t>
            </a:r>
          </a:p>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catch (</a:t>
            </a:r>
            <a:r>
              <a:rPr lang="en-US" altLang="en-US" b="1" dirty="0" err="1">
                <a:solidFill>
                  <a:srgbClr val="000000"/>
                </a:solidFill>
                <a:latin typeface="Courier New" panose="02070309020205020404" pitchFamily="49" charset="0"/>
                <a:cs typeface="Times New Roman" panose="02020603050405020304" pitchFamily="18" charset="0"/>
              </a:rPr>
              <a:t>NullPointerException</a:t>
            </a:r>
            <a:r>
              <a:rPr lang="en-US" altLang="en-US" b="1" dirty="0">
                <a:solidFill>
                  <a:srgbClr val="000000"/>
                </a:solidFill>
                <a:latin typeface="Courier New" panose="02070309020205020404" pitchFamily="49" charset="0"/>
                <a:cs typeface="Times New Roman" panose="02020603050405020304" pitchFamily="18" charset="0"/>
              </a:rPr>
              <a:t> ex) {</a:t>
            </a:r>
          </a:p>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  </a:t>
            </a:r>
            <a:r>
              <a:rPr lang="en-US" altLang="en-US" b="1" dirty="0" err="1">
                <a:solidFill>
                  <a:srgbClr val="000000"/>
                </a:solidFill>
                <a:latin typeface="Courier New" panose="02070309020205020404" pitchFamily="49" charset="0"/>
                <a:cs typeface="Times New Roman" panose="02020603050405020304" pitchFamily="18" charset="0"/>
              </a:rPr>
              <a:t>System.out.println</a:t>
            </a:r>
            <a:r>
              <a:rPr lang="en-US" altLang="en-US" b="1" dirty="0">
                <a:solidFill>
                  <a:srgbClr val="000000"/>
                </a:solidFill>
                <a:latin typeface="Courier New" panose="02070309020205020404" pitchFamily="49" charset="0"/>
                <a:cs typeface="Times New Roman" panose="02020603050405020304" pitchFamily="18" charset="0"/>
              </a:rPr>
              <a:t>("</a:t>
            </a:r>
            <a:r>
              <a:rPr lang="en-US" altLang="en-US" b="1" dirty="0" err="1">
                <a:solidFill>
                  <a:srgbClr val="000000"/>
                </a:solidFill>
                <a:latin typeface="Courier New" panose="02070309020205020404" pitchFamily="49" charset="0"/>
                <a:cs typeface="Times New Roman" panose="02020603050405020304" pitchFamily="18" charset="0"/>
              </a:rPr>
              <a:t>refVar</a:t>
            </a:r>
            <a:r>
              <a:rPr lang="en-US" altLang="en-US" b="1" dirty="0">
                <a:solidFill>
                  <a:srgbClr val="000000"/>
                </a:solidFill>
                <a:latin typeface="Courier New" panose="02070309020205020404" pitchFamily="49" charset="0"/>
                <a:cs typeface="Times New Roman" panose="02020603050405020304" pitchFamily="18" charset="0"/>
              </a:rPr>
              <a:t> is null");</a:t>
            </a:r>
          </a:p>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2693118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167320" y="688127"/>
            <a:ext cx="11438448" cy="713600"/>
          </a:xfrm>
        </p:spPr>
        <p:txBody>
          <a:bodyPr>
            <a:normAutofit/>
          </a:bodyPr>
          <a:lstStyle/>
          <a:p>
            <a:r>
              <a:rPr lang="en-US" dirty="0"/>
              <a:t>Exceptions: </a:t>
            </a:r>
            <a:r>
              <a:rPr lang="en-US" altLang="en-US" dirty="0"/>
              <a:t>When to Use Exceptions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89</a:t>
            </a:fld>
            <a:endParaRPr lang="en"/>
          </a:p>
        </p:txBody>
      </p:sp>
      <p:sp>
        <p:nvSpPr>
          <p:cNvPr id="7" name="Rectangle 3">
            <a:extLst>
              <a:ext uri="{FF2B5EF4-FFF2-40B4-BE49-F238E27FC236}">
                <a16:creationId xmlns:a16="http://schemas.microsoft.com/office/drawing/2014/main" id="{76178676-1C7F-4696-BD7F-C3D065E40F33}"/>
              </a:ext>
            </a:extLst>
          </p:cNvPr>
          <p:cNvSpPr>
            <a:spLocks noGrp="1" noChangeArrowheads="1"/>
          </p:cNvSpPr>
          <p:nvPr>
            <p:ph type="body" idx="1"/>
          </p:nvPr>
        </p:nvSpPr>
        <p:spPr>
          <a:xfrm>
            <a:off x="1408813" y="2193852"/>
            <a:ext cx="8458200" cy="609600"/>
          </a:xfrm>
        </p:spPr>
        <p:txBody>
          <a:bodyPr>
            <a:noAutofit/>
          </a:bodyPr>
          <a:lstStyle/>
          <a:p>
            <a:pPr marL="0" indent="0">
              <a:spcAft>
                <a:spcPts val="1200"/>
              </a:spcAft>
              <a:buNone/>
            </a:pPr>
            <a:r>
              <a:rPr lang="en-US" altLang="en-US" sz="2400">
                <a:solidFill>
                  <a:schemeClr val="bg2"/>
                </a:solidFill>
                <a:cs typeface="Times New Roman" panose="02020603050405020304" pitchFamily="18" charset="0"/>
              </a:rPr>
              <a:t>is better to be replaced by </a:t>
            </a:r>
          </a:p>
        </p:txBody>
      </p:sp>
      <p:sp>
        <p:nvSpPr>
          <p:cNvPr id="8" name="Rectangle 4">
            <a:extLst>
              <a:ext uri="{FF2B5EF4-FFF2-40B4-BE49-F238E27FC236}">
                <a16:creationId xmlns:a16="http://schemas.microsoft.com/office/drawing/2014/main" id="{E8776654-8996-4D2F-971A-4048CB1B3F16}"/>
              </a:ext>
            </a:extLst>
          </p:cNvPr>
          <p:cNvSpPr>
            <a:spLocks noChangeArrowheads="1"/>
          </p:cNvSpPr>
          <p:nvPr/>
        </p:nvSpPr>
        <p:spPr bwMode="auto">
          <a:xfrm>
            <a:off x="1408813" y="3108252"/>
            <a:ext cx="8229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if (</a:t>
            </a:r>
            <a:r>
              <a:rPr lang="en-US" altLang="en-US" b="1" dirty="0" err="1">
                <a:solidFill>
                  <a:srgbClr val="000000"/>
                </a:solidFill>
                <a:latin typeface="Courier New" panose="02070309020205020404" pitchFamily="49" charset="0"/>
                <a:cs typeface="Times New Roman" panose="02020603050405020304" pitchFamily="18" charset="0"/>
              </a:rPr>
              <a:t>refVar</a:t>
            </a:r>
            <a:r>
              <a:rPr lang="en-US" altLang="en-US" b="1" dirty="0">
                <a:solidFill>
                  <a:srgbClr val="000000"/>
                </a:solidFill>
                <a:latin typeface="Courier New" panose="02070309020205020404" pitchFamily="49" charset="0"/>
                <a:cs typeface="Times New Roman" panose="02020603050405020304" pitchFamily="18" charset="0"/>
              </a:rPr>
              <a:t> != null)</a:t>
            </a:r>
          </a:p>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  </a:t>
            </a:r>
            <a:r>
              <a:rPr lang="en-US" altLang="en-US" b="1" dirty="0" err="1">
                <a:solidFill>
                  <a:srgbClr val="000000"/>
                </a:solidFill>
                <a:latin typeface="Courier New" panose="02070309020205020404" pitchFamily="49" charset="0"/>
                <a:cs typeface="Times New Roman" panose="02020603050405020304" pitchFamily="18" charset="0"/>
              </a:rPr>
              <a:t>System.out.println</a:t>
            </a:r>
            <a:r>
              <a:rPr lang="en-US" altLang="en-US" b="1" dirty="0">
                <a:solidFill>
                  <a:srgbClr val="000000"/>
                </a:solidFill>
                <a:latin typeface="Courier New" panose="02070309020205020404" pitchFamily="49" charset="0"/>
                <a:cs typeface="Times New Roman" panose="02020603050405020304" pitchFamily="18" charset="0"/>
              </a:rPr>
              <a:t>(</a:t>
            </a:r>
            <a:r>
              <a:rPr lang="en-US" altLang="en-US" b="1" dirty="0" err="1">
                <a:solidFill>
                  <a:srgbClr val="000000"/>
                </a:solidFill>
                <a:latin typeface="Courier New" panose="02070309020205020404" pitchFamily="49" charset="0"/>
                <a:cs typeface="Times New Roman" panose="02020603050405020304" pitchFamily="18" charset="0"/>
              </a:rPr>
              <a:t>refVar.toString</a:t>
            </a:r>
            <a:r>
              <a:rPr lang="en-US" altLang="en-US" b="1" dirty="0">
                <a:solidFill>
                  <a:srgbClr val="000000"/>
                </a:solidFill>
                <a:latin typeface="Courier New" panose="02070309020205020404" pitchFamily="49" charset="0"/>
                <a:cs typeface="Times New Roman" panose="02020603050405020304" pitchFamily="18" charset="0"/>
              </a:rPr>
              <a:t>());</a:t>
            </a:r>
          </a:p>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else</a:t>
            </a:r>
          </a:p>
          <a:p>
            <a:pPr defTabSz="914377" eaLnBrk="0" fontAlgn="base" hangingPunct="0">
              <a:lnSpc>
                <a:spcPct val="90000"/>
              </a:lnSpc>
              <a:spcBef>
                <a:spcPct val="20000"/>
              </a:spcBef>
              <a:spcAft>
                <a:spcPts val="1200"/>
              </a:spcAft>
              <a:buSzPct val="75000"/>
            </a:pPr>
            <a:r>
              <a:rPr lang="en-US" altLang="en-US" b="1" dirty="0">
                <a:solidFill>
                  <a:srgbClr val="000000"/>
                </a:solidFill>
                <a:latin typeface="Courier New" panose="02070309020205020404" pitchFamily="49" charset="0"/>
                <a:cs typeface="Times New Roman" panose="02020603050405020304" pitchFamily="18" charset="0"/>
              </a:rPr>
              <a:t>  </a:t>
            </a:r>
            <a:r>
              <a:rPr lang="en-US" altLang="en-US" b="1" dirty="0" err="1">
                <a:solidFill>
                  <a:srgbClr val="000000"/>
                </a:solidFill>
                <a:latin typeface="Courier New" panose="02070309020205020404" pitchFamily="49" charset="0"/>
                <a:cs typeface="Times New Roman" panose="02020603050405020304" pitchFamily="18" charset="0"/>
              </a:rPr>
              <a:t>System.out.println</a:t>
            </a:r>
            <a:r>
              <a:rPr lang="en-US" altLang="en-US" b="1" dirty="0">
                <a:solidFill>
                  <a:srgbClr val="000000"/>
                </a:solidFill>
                <a:latin typeface="Courier New" panose="02070309020205020404" pitchFamily="49" charset="0"/>
                <a:cs typeface="Times New Roman" panose="02020603050405020304" pitchFamily="18" charset="0"/>
              </a:rPr>
              <a:t>("</a:t>
            </a:r>
            <a:r>
              <a:rPr lang="en-US" altLang="en-US" b="1" dirty="0" err="1">
                <a:solidFill>
                  <a:srgbClr val="000000"/>
                </a:solidFill>
                <a:latin typeface="Courier New" panose="02070309020205020404" pitchFamily="49" charset="0"/>
                <a:cs typeface="Times New Roman" panose="02020603050405020304" pitchFamily="18" charset="0"/>
              </a:rPr>
              <a:t>refVar</a:t>
            </a:r>
            <a:r>
              <a:rPr lang="en-US" altLang="en-US" b="1" dirty="0">
                <a:solidFill>
                  <a:srgbClr val="000000"/>
                </a:solidFill>
                <a:latin typeface="Courier New" panose="02070309020205020404" pitchFamily="49" charset="0"/>
                <a:cs typeface="Times New Roman" panose="02020603050405020304" pitchFamily="18" charset="0"/>
              </a:rPr>
              <a:t> is null");</a:t>
            </a:r>
          </a:p>
        </p:txBody>
      </p:sp>
    </p:spTree>
    <p:extLst>
      <p:ext uri="{BB962C8B-B14F-4D97-AF65-F5344CB8AC3E}">
        <p14:creationId xmlns:p14="http://schemas.microsoft.com/office/powerpoint/2010/main" val="4577708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167320" y="688127"/>
            <a:ext cx="11438448" cy="713600"/>
          </a:xfrm>
        </p:spPr>
        <p:txBody>
          <a:bodyPr>
            <a:normAutofit/>
          </a:bodyPr>
          <a:lstStyle/>
          <a:p>
            <a:r>
              <a:rPr lang="en-US" dirty="0"/>
              <a:t>Exceptions: </a:t>
            </a:r>
            <a:r>
              <a:rPr lang="en-US" altLang="en-US" dirty="0"/>
              <a:t>Defining Custom Exception Classes</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90</a:t>
            </a:fld>
            <a:endParaRPr lang="en"/>
          </a:p>
        </p:txBody>
      </p:sp>
      <p:sp>
        <p:nvSpPr>
          <p:cNvPr id="10" name="Text Box 3">
            <a:extLst>
              <a:ext uri="{FF2B5EF4-FFF2-40B4-BE49-F238E27FC236}">
                <a16:creationId xmlns:a16="http://schemas.microsoft.com/office/drawing/2014/main" id="{4D3083B1-CEDC-4793-9E03-F9577B60B473}"/>
              </a:ext>
            </a:extLst>
          </p:cNvPr>
          <p:cNvSpPr txBox="1">
            <a:spLocks noChangeArrowheads="1"/>
          </p:cNvSpPr>
          <p:nvPr/>
        </p:nvSpPr>
        <p:spPr bwMode="auto">
          <a:xfrm>
            <a:off x="595423" y="2272678"/>
            <a:ext cx="9978239" cy="315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401638" indent="-401638">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457189" indent="-457189" algn="just" defTabSz="914377" eaLnBrk="0" fontAlgn="base" hangingPunct="0">
              <a:lnSpc>
                <a:spcPct val="150000"/>
              </a:lnSpc>
              <a:spcBef>
                <a:spcPct val="50000"/>
              </a:spcBef>
              <a:spcAft>
                <a:spcPct val="0"/>
              </a:spcAft>
              <a:buSzPct val="75000"/>
              <a:buFont typeface="Arial" panose="020B0604020202020204" pitchFamily="34" charset="0"/>
              <a:buChar char="•"/>
            </a:pP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Use the exception classes in the API whenever possible.</a:t>
            </a:r>
          </a:p>
          <a:p>
            <a:pPr marL="457189" indent="-457189" algn="just" defTabSz="914377" eaLnBrk="0" fontAlgn="base" hangingPunct="0">
              <a:lnSpc>
                <a:spcPct val="150000"/>
              </a:lnSpc>
              <a:spcBef>
                <a:spcPct val="50000"/>
              </a:spcBef>
              <a:spcAft>
                <a:spcPct val="0"/>
              </a:spcAft>
              <a:buSzPct val="75000"/>
              <a:buFont typeface="Arial" panose="020B0604020202020204" pitchFamily="34" charset="0"/>
              <a:buChar char="•"/>
            </a:pP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Define custom exception classes if the predefined classes are not sufficient.</a:t>
            </a:r>
          </a:p>
          <a:p>
            <a:pPr marL="457189" indent="-457189" algn="just" defTabSz="914377" eaLnBrk="0" fontAlgn="base" hangingPunct="0">
              <a:lnSpc>
                <a:spcPct val="150000"/>
              </a:lnSpc>
              <a:spcBef>
                <a:spcPct val="50000"/>
              </a:spcBef>
              <a:spcAft>
                <a:spcPct val="0"/>
              </a:spcAft>
              <a:buSzPct val="75000"/>
              <a:buFont typeface="Arial" panose="020B0604020202020204" pitchFamily="34" charset="0"/>
              <a:buChar char="•"/>
            </a:pP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Define custom exception classes by extending Exception or a subclass of Exception.</a:t>
            </a:r>
          </a:p>
        </p:txBody>
      </p:sp>
    </p:spTree>
    <p:extLst>
      <p:ext uri="{BB962C8B-B14F-4D97-AF65-F5344CB8AC3E}">
        <p14:creationId xmlns:p14="http://schemas.microsoft.com/office/powerpoint/2010/main" val="131629005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6080-B800-4FF1-BCF2-2488045964A6}"/>
              </a:ext>
            </a:extLst>
          </p:cNvPr>
          <p:cNvSpPr>
            <a:spLocks noGrp="1"/>
          </p:cNvSpPr>
          <p:nvPr>
            <p:ph type="title"/>
          </p:nvPr>
        </p:nvSpPr>
        <p:spPr>
          <a:xfrm>
            <a:off x="167320" y="688127"/>
            <a:ext cx="11438448" cy="713600"/>
          </a:xfrm>
        </p:spPr>
        <p:txBody>
          <a:bodyPr>
            <a:normAutofit/>
          </a:bodyPr>
          <a:lstStyle/>
          <a:p>
            <a:r>
              <a:rPr lang="en-US" dirty="0"/>
              <a:t>Exceptions: </a:t>
            </a:r>
            <a:r>
              <a:rPr lang="en-US" altLang="en-US" dirty="0"/>
              <a:t>Custom Exception Class Example</a:t>
            </a:r>
            <a:endParaRPr lang="en-US" dirty="0"/>
          </a:p>
        </p:txBody>
      </p:sp>
      <p:sp>
        <p:nvSpPr>
          <p:cNvPr id="4" name="Slide Number Placeholder 3">
            <a:extLst>
              <a:ext uri="{FF2B5EF4-FFF2-40B4-BE49-F238E27FC236}">
                <a16:creationId xmlns:a16="http://schemas.microsoft.com/office/drawing/2014/main" id="{C4F00365-AB78-431D-9D81-7A50501B665C}"/>
              </a:ext>
            </a:extLst>
          </p:cNvPr>
          <p:cNvSpPr>
            <a:spLocks noGrp="1"/>
          </p:cNvSpPr>
          <p:nvPr>
            <p:ph type="sldNum" idx="12"/>
          </p:nvPr>
        </p:nvSpPr>
        <p:spPr/>
        <p:txBody>
          <a:bodyPr/>
          <a:lstStyle/>
          <a:p>
            <a:fld id="{00000000-1234-1234-1234-123412341234}" type="slidenum">
              <a:rPr lang="en" smtClean="0"/>
              <a:pPr/>
              <a:t>91</a:t>
            </a:fld>
            <a:endParaRPr lang="en"/>
          </a:p>
        </p:txBody>
      </p:sp>
      <p:sp>
        <p:nvSpPr>
          <p:cNvPr id="5" name="Text Box 9">
            <a:extLst>
              <a:ext uri="{FF2B5EF4-FFF2-40B4-BE49-F238E27FC236}">
                <a16:creationId xmlns:a16="http://schemas.microsoft.com/office/drawing/2014/main" id="{48D59892-25A8-4D66-B92B-6C91E6F136F6}"/>
              </a:ext>
            </a:extLst>
          </p:cNvPr>
          <p:cNvSpPr txBox="1">
            <a:spLocks noChangeArrowheads="1"/>
          </p:cNvSpPr>
          <p:nvPr/>
        </p:nvSpPr>
        <p:spPr bwMode="auto">
          <a:xfrm>
            <a:off x="354418" y="1716821"/>
            <a:ext cx="10290127" cy="1681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just" defTabSz="914377" eaLnBrk="0" fontAlgn="base" hangingPunct="0">
              <a:lnSpc>
                <a:spcPct val="150000"/>
              </a:lnSpc>
              <a:spcBef>
                <a:spcPct val="50000"/>
              </a:spcBef>
              <a:spcAft>
                <a:spcPct val="0"/>
              </a:spcAft>
              <a:buSzPct val="75000"/>
            </a:pP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In Listing 13.8, the </a:t>
            </a:r>
            <a:r>
              <a:rPr lang="en-US" altLang="en-US" u="sng" dirty="0" err="1">
                <a:solidFill>
                  <a:srgbClr val="000000"/>
                </a:solidFill>
                <a:latin typeface="Lato" panose="020F0502020204030203" pitchFamily="34" charset="0"/>
                <a:ea typeface="Lato" panose="020F0502020204030203" pitchFamily="34" charset="0"/>
                <a:cs typeface="Lato" panose="020F0502020204030203" pitchFamily="34" charset="0"/>
              </a:rPr>
              <a:t>setRadius</a:t>
            </a: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 method throws </a:t>
            </a:r>
            <a:r>
              <a:rPr lang="en-US" altLang="en-US">
                <a:solidFill>
                  <a:srgbClr val="000000"/>
                </a:solidFill>
                <a:latin typeface="Lato" panose="020F0502020204030203" pitchFamily="34" charset="0"/>
                <a:ea typeface="Lato" panose="020F0502020204030203" pitchFamily="34" charset="0"/>
                <a:cs typeface="Lato" panose="020F0502020204030203" pitchFamily="34" charset="0"/>
              </a:rPr>
              <a:t>an exception </a:t>
            </a:r>
            <a:r>
              <a:rPr lang="en-US" altLang="en-US" dirty="0">
                <a:solidFill>
                  <a:srgbClr val="000000"/>
                </a:solidFill>
                <a:latin typeface="Lato" panose="020F0502020204030203" pitchFamily="34" charset="0"/>
                <a:ea typeface="Lato" panose="020F0502020204030203" pitchFamily="34" charset="0"/>
                <a:cs typeface="Lato" panose="020F0502020204030203" pitchFamily="34" charset="0"/>
              </a:rPr>
              <a:t>if the radius is negative. Suppose you wish to pass the radius to the handler, you have to create a custom exception class. </a:t>
            </a:r>
          </a:p>
        </p:txBody>
      </p:sp>
      <p:sp>
        <p:nvSpPr>
          <p:cNvPr id="6" name="AutoShape 10">
            <a:hlinkClick r:id="rId2" action="ppaction://program" highlightClick="1"/>
            <a:extLst>
              <a:ext uri="{FF2B5EF4-FFF2-40B4-BE49-F238E27FC236}">
                <a16:creationId xmlns:a16="http://schemas.microsoft.com/office/drawing/2014/main" id="{95F6CB2B-66D8-4F13-AF5E-F6FDCFED0C6B}"/>
              </a:ext>
            </a:extLst>
          </p:cNvPr>
          <p:cNvSpPr>
            <a:spLocks noChangeArrowheads="1"/>
          </p:cNvSpPr>
          <p:nvPr/>
        </p:nvSpPr>
        <p:spPr bwMode="auto">
          <a:xfrm>
            <a:off x="7031666" y="5237052"/>
            <a:ext cx="698500" cy="339725"/>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wrap="none" anchor="ct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1800">
                <a:solidFill>
                  <a:srgbClr val="000000"/>
                </a:solidFill>
                <a:latin typeface="Book Antiqua" panose="02040602050305030304" pitchFamily="18" charset="0"/>
              </a:rPr>
              <a:t>Run</a:t>
            </a:r>
            <a:endParaRPr lang="en-US" altLang="en-US" sz="1800">
              <a:solidFill>
                <a:srgbClr val="000000"/>
              </a:solidFill>
            </a:endParaRPr>
          </a:p>
        </p:txBody>
      </p:sp>
      <p:sp>
        <p:nvSpPr>
          <p:cNvPr id="7" name="Rectangle 12">
            <a:hlinkClick r:id="rId3"/>
            <a:extLst>
              <a:ext uri="{FF2B5EF4-FFF2-40B4-BE49-F238E27FC236}">
                <a16:creationId xmlns:a16="http://schemas.microsoft.com/office/drawing/2014/main" id="{26C34967-79C3-4551-B35F-14C445610FA2}"/>
              </a:ext>
            </a:extLst>
          </p:cNvPr>
          <p:cNvSpPr>
            <a:spLocks noChangeArrowheads="1"/>
          </p:cNvSpPr>
          <p:nvPr/>
        </p:nvSpPr>
        <p:spPr bwMode="auto">
          <a:xfrm>
            <a:off x="3189917" y="5216415"/>
            <a:ext cx="366077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2000">
                <a:solidFill>
                  <a:srgbClr val="000000"/>
                </a:solidFill>
              </a:rPr>
              <a:t>TestCircleWithRadiusException</a:t>
            </a:r>
          </a:p>
        </p:txBody>
      </p:sp>
      <p:sp>
        <p:nvSpPr>
          <p:cNvPr id="8" name="Rectangle 13">
            <a:hlinkClick r:id="rId4"/>
            <a:extLst>
              <a:ext uri="{FF2B5EF4-FFF2-40B4-BE49-F238E27FC236}">
                <a16:creationId xmlns:a16="http://schemas.microsoft.com/office/drawing/2014/main" id="{DA3770BE-C877-4E3A-8E7A-649591E38CB9}"/>
              </a:ext>
            </a:extLst>
          </p:cNvPr>
          <p:cNvSpPr>
            <a:spLocks noChangeArrowheads="1"/>
          </p:cNvSpPr>
          <p:nvPr/>
        </p:nvSpPr>
        <p:spPr bwMode="auto">
          <a:xfrm>
            <a:off x="3205791" y="4627451"/>
            <a:ext cx="366077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2000">
                <a:solidFill>
                  <a:srgbClr val="000000"/>
                </a:solidFill>
              </a:rPr>
              <a:t>CircleWithRadiusException</a:t>
            </a:r>
          </a:p>
        </p:txBody>
      </p:sp>
      <p:sp>
        <p:nvSpPr>
          <p:cNvPr id="9" name="Rectangle 14">
            <a:hlinkClick r:id="rId5"/>
            <a:extLst>
              <a:ext uri="{FF2B5EF4-FFF2-40B4-BE49-F238E27FC236}">
                <a16:creationId xmlns:a16="http://schemas.microsoft.com/office/drawing/2014/main" id="{EE4E1290-788B-41EE-9538-92E881DF89D2}"/>
              </a:ext>
            </a:extLst>
          </p:cNvPr>
          <p:cNvSpPr>
            <a:spLocks noChangeArrowheads="1"/>
          </p:cNvSpPr>
          <p:nvPr/>
        </p:nvSpPr>
        <p:spPr bwMode="auto">
          <a:xfrm>
            <a:off x="3205791" y="4017851"/>
            <a:ext cx="3660775"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defTabSz="914377" eaLnBrk="0" fontAlgn="base" hangingPunct="0">
              <a:spcBef>
                <a:spcPct val="0"/>
              </a:spcBef>
              <a:spcAft>
                <a:spcPct val="0"/>
              </a:spcAft>
            </a:pPr>
            <a:r>
              <a:rPr lang="en-US" altLang="en-US" sz="2000">
                <a:solidFill>
                  <a:srgbClr val="000000"/>
                </a:solidFill>
              </a:rPr>
              <a:t>InvalidRadiusException</a:t>
            </a:r>
          </a:p>
        </p:txBody>
      </p:sp>
    </p:spTree>
    <p:extLst>
      <p:ext uri="{BB962C8B-B14F-4D97-AF65-F5344CB8AC3E}">
        <p14:creationId xmlns:p14="http://schemas.microsoft.com/office/powerpoint/2010/main" val="1572006207"/>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9312</TotalTime>
  <Words>4198</Words>
  <Application>Microsoft Office PowerPoint</Application>
  <PresentationFormat>شاشة عريضة</PresentationFormat>
  <Paragraphs>702</Paragraphs>
  <Slides>91</Slides>
  <Notes>6</Notes>
  <HiddenSlides>0</HiddenSlides>
  <MMClips>0</MMClips>
  <ScaleCrop>false</ScaleCrop>
  <HeadingPairs>
    <vt:vector size="8" baseType="variant">
      <vt:variant>
        <vt:lpstr>الخطوط المستخدمة</vt:lpstr>
      </vt:variant>
      <vt:variant>
        <vt:i4>10</vt:i4>
      </vt:variant>
      <vt:variant>
        <vt:lpstr>نسق</vt:lpstr>
      </vt:variant>
      <vt:variant>
        <vt:i4>1</vt:i4>
      </vt:variant>
      <vt:variant>
        <vt:lpstr>خوادم OLE مضمنة</vt:lpstr>
      </vt:variant>
      <vt:variant>
        <vt:i4>1</vt:i4>
      </vt:variant>
      <vt:variant>
        <vt:lpstr>عناوين الشرائح</vt:lpstr>
      </vt:variant>
      <vt:variant>
        <vt:i4>91</vt:i4>
      </vt:variant>
    </vt:vector>
  </HeadingPairs>
  <TitlesOfParts>
    <vt:vector size="103" baseType="lpstr">
      <vt:lpstr>Arial</vt:lpstr>
      <vt:lpstr>Book Antiqua</vt:lpstr>
      <vt:lpstr>Calibri</vt:lpstr>
      <vt:lpstr>Courier</vt:lpstr>
      <vt:lpstr>Courier New</vt:lpstr>
      <vt:lpstr>Lato</vt:lpstr>
      <vt:lpstr>Monotype Sorts</vt:lpstr>
      <vt:lpstr>Raleway</vt:lpstr>
      <vt:lpstr>Times New Roman</vt:lpstr>
      <vt:lpstr>Wingdings</vt:lpstr>
      <vt:lpstr>Streamline</vt:lpstr>
      <vt:lpstr>Picture</vt:lpstr>
      <vt:lpstr>CS 342 – Visual Programming</vt:lpstr>
      <vt:lpstr>Course profile</vt:lpstr>
      <vt:lpstr>Seek Help</vt:lpstr>
      <vt:lpstr>Course Materials</vt:lpstr>
      <vt:lpstr>Course Outline</vt:lpstr>
      <vt:lpstr>Outline: Chapter 0- Background about OOP</vt:lpstr>
      <vt:lpstr>Motivations</vt:lpstr>
      <vt:lpstr>Classes and Objects</vt:lpstr>
      <vt:lpstr>Classes and Objects</vt:lpstr>
      <vt:lpstr>Classes and Objects</vt:lpstr>
      <vt:lpstr>Classes and Objects</vt:lpstr>
      <vt:lpstr>Classes and Objects</vt:lpstr>
      <vt:lpstr>Classes and Objects</vt:lpstr>
      <vt:lpstr>Classes and Objects</vt:lpstr>
      <vt:lpstr>Classes and Objects</vt:lpstr>
      <vt:lpstr>Exercises</vt:lpstr>
      <vt:lpstr>Exercise 1</vt:lpstr>
      <vt:lpstr>Exercise 1</vt:lpstr>
      <vt:lpstr>عرض تقديمي في PowerPoint</vt:lpstr>
      <vt:lpstr>عرض تقديمي في PowerPoint</vt:lpstr>
      <vt:lpstr>عرض تقديمي في PowerPoint</vt:lpstr>
      <vt:lpstr>عرض تقديمي في PowerPoint</vt:lpstr>
      <vt:lpstr>Exercise 2</vt:lpstr>
      <vt:lpstr>Exercise 2</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Polymorphism (contd.)</vt:lpstr>
      <vt:lpstr>Polymorphism (contd.)</vt:lpstr>
      <vt:lpstr>Casting</vt:lpstr>
      <vt:lpstr>Casting (contd.)</vt:lpstr>
      <vt:lpstr>Casting (contd.)</vt:lpstr>
      <vt:lpstr>Casting (contd.)</vt:lpstr>
      <vt:lpstr>Casting (contd.)</vt:lpstr>
      <vt:lpstr>Casting (contd.)</vt:lpstr>
      <vt:lpstr>Casting (contd.)</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Exceptions: Motivations</vt:lpstr>
      <vt:lpstr>Exceptions: Handling Overview </vt:lpstr>
      <vt:lpstr>Exceptions: Advantages</vt:lpstr>
      <vt:lpstr>Exceptions: Handling InputMismatchException</vt:lpstr>
      <vt:lpstr>Exceptions: Types</vt:lpstr>
      <vt:lpstr>Exceptions: System Errors</vt:lpstr>
      <vt:lpstr>Exceptions: Pre-defined Exceptions</vt:lpstr>
      <vt:lpstr>Exceptions: Runtime Exceptions</vt:lpstr>
      <vt:lpstr>Exceptions: Checked Exceptions vs. Unchecked Exceptions</vt:lpstr>
      <vt:lpstr>Exceptions: Unchecked Exceptions</vt:lpstr>
      <vt:lpstr>Exceptions: Unchecked Exceptions</vt:lpstr>
      <vt:lpstr>Exceptions: Declaring, Throwing, and Catching Exceptions</vt:lpstr>
      <vt:lpstr>Exceptions: Declaring Exceptions</vt:lpstr>
      <vt:lpstr>Exceptions: Throwing Exceptions</vt:lpstr>
      <vt:lpstr>Exceptions: Throwing Exceptions Example</vt:lpstr>
      <vt:lpstr>Exceptions: Catching Exceptions</vt:lpstr>
      <vt:lpstr>Exceptions: Catching Exceptions</vt:lpstr>
      <vt:lpstr>Exceptions: Catch or Declare Checked Exceptions</vt:lpstr>
      <vt:lpstr>Exceptions: Catch or Declare Checked Exceptions</vt:lpstr>
      <vt:lpstr>Exceptions: Catch or Declare Checked Exceptions</vt:lpstr>
      <vt:lpstr>Exceptions: Rethrowing Exceptions</vt:lpstr>
      <vt:lpstr>Exceptions: The finally Clause</vt:lpstr>
      <vt:lpstr>Exceptions: Trace a Program Execution</vt:lpstr>
      <vt:lpstr>Exceptions: Trace a Program Execution</vt:lpstr>
      <vt:lpstr>Exceptions: Trace a Program Execution</vt:lpstr>
      <vt:lpstr>Exceptions: Trace a Program Execution</vt:lpstr>
      <vt:lpstr>Exceptions: Trace a Program Execution</vt:lpstr>
      <vt:lpstr>Exceptions: Trace a Program Execution</vt:lpstr>
      <vt:lpstr>Exceptions: Trace a Program Execution</vt:lpstr>
      <vt:lpstr>Exceptions: Trace a Program Execution</vt:lpstr>
      <vt:lpstr>Exceptions: Trace a Program Execution</vt:lpstr>
      <vt:lpstr>Exceptions: Trace a Program Execution</vt:lpstr>
      <vt:lpstr>Exceptions: Trace a Program Execution</vt:lpstr>
      <vt:lpstr>Exceptions: Cautions When Using Exceptions</vt:lpstr>
      <vt:lpstr>Exceptions: When to Use Exceptions</vt:lpstr>
      <vt:lpstr>Exceptions: When to Use Exceptions</vt:lpstr>
      <vt:lpstr>Exceptions: Defining Custom Exception Classes</vt:lpstr>
      <vt:lpstr>Exceptions: Custom Exception Class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342 – Visual Programming</dc:title>
  <dc:creator>pc5</dc:creator>
  <cp:lastModifiedBy>هادية الصادق عبدالسلام الزردي</cp:lastModifiedBy>
  <cp:revision>15</cp:revision>
  <dcterms:created xsi:type="dcterms:W3CDTF">2022-12-09T00:59:49Z</dcterms:created>
  <dcterms:modified xsi:type="dcterms:W3CDTF">2026-09-13T08:25:43Z</dcterms:modified>
</cp:coreProperties>
</file>