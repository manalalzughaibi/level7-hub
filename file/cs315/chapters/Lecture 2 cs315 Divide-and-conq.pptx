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30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2" r:id="rId17"/>
    <p:sldId id="303" r:id="rId18"/>
    <p:sldId id="307" r:id="rId19"/>
    <p:sldId id="306" r:id="rId20"/>
    <p:sldId id="309" r:id="rId21"/>
    <p:sldId id="310" r:id="rId22"/>
    <p:sldId id="288" r:id="rId23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1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26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Work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n log(n)</c:v>
                </c:pt>
              </c:strCache>
            </c:strRef>
          </c:tx>
          <c:spPr>
            <a:ln w="508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64</c:v>
                </c:pt>
                <c:pt idx="2">
                  <c:v>160</c:v>
                </c:pt>
                <c:pt idx="3">
                  <c:v>384</c:v>
                </c:pt>
                <c:pt idx="4">
                  <c:v>896</c:v>
                </c:pt>
                <c:pt idx="5">
                  <c:v>2048</c:v>
                </c:pt>
                <c:pt idx="6">
                  <c:v>4608</c:v>
                </c:pt>
                <c:pt idx="7">
                  <c:v>10240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F5-4A96-818B-82C5349AE309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n^2</c:v>
                </c:pt>
              </c:strCache>
            </c:strRef>
          </c:tx>
          <c:spPr>
            <a:ln w="508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64</c:v>
                </c:pt>
                <c:pt idx="1">
                  <c:v>256</c:v>
                </c:pt>
                <c:pt idx="2">
                  <c:v>1024</c:v>
                </c:pt>
                <c:pt idx="3">
                  <c:v>4096</c:v>
                </c:pt>
                <c:pt idx="4">
                  <c:v>16384</c:v>
                </c:pt>
                <c:pt idx="5">
                  <c:v>65536</c:v>
                </c:pt>
                <c:pt idx="6">
                  <c:v>262144</c:v>
                </c:pt>
                <c:pt idx="7">
                  <c:v>1048576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F5-4A96-818B-82C5349AE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792685168"/>
        <c:axId val="-794674848"/>
      </c:scatterChart>
      <c:valAx>
        <c:axId val="-7926851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94674848"/>
        <c:crosses val="autoZero"/>
        <c:crossBetween val="midCat"/>
      </c:valAx>
      <c:valAx>
        <c:axId val="-794674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92685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الثانوي الرئيسي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7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2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4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8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0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8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0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0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2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2DDF0-FB72-40F5-A770-CD670E0892B0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D3511-CBC3-4C2D-8DCB-B148D6127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terviewkickstart.com/learn/quicksort-vs-merge-sort#:~:text=Merge%20sort%20generally%20performs%20fewer,in%20common%20real%2Dlife%20settings" TargetMode="External"/><Relationship Id="rId5" Type="http://schemas.openxmlformats.org/officeDocument/2006/relationships/hyperlink" Target="https://www.youtube.com/watch?v=Kg4bqzAqRBM" TargetMode="External"/><Relationship Id="rId4" Type="http://schemas.openxmlformats.org/officeDocument/2006/relationships/hyperlink" Target="https://www.amazon.sa/-/en/s/ref=dp_byline_sr_book_1?ie=UTF8&amp;field-author=Thomas+H.+Cormen&amp;search-alias=boo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/>
          <p:cNvSpPr txBox="1"/>
          <p:nvPr/>
        </p:nvSpPr>
        <p:spPr>
          <a:xfrm>
            <a:off x="300446" y="1254432"/>
            <a:ext cx="1162594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000" b="1" i="1" spc="-5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Semester 443  -  2023, 1444 </a:t>
            </a:r>
            <a:b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b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b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</a:br>
            <a:r>
              <a:rPr lang="en-US" sz="2800" b="1" dirty="0">
                <a:solidFill>
                  <a:srgbClr val="006666"/>
                </a:solidFill>
                <a:latin typeface="Georgia" panose="02040502050405020303" pitchFamily="18" charset="0"/>
              </a:rPr>
              <a:t>Course CS315 Algorithms Analysis and Design</a:t>
            </a:r>
          </a:p>
          <a:p>
            <a:pPr algn="ctr" rtl="0"/>
            <a:endParaRPr lang="en-US" sz="2800" b="1" dirty="0">
              <a:solidFill>
                <a:srgbClr val="006666"/>
              </a:solidFill>
              <a:latin typeface="Georgia" panose="02040502050405020303" pitchFamily="18" charset="0"/>
              <a:cs typeface="Times New Roman"/>
            </a:endParaRPr>
          </a:p>
          <a:p>
            <a:pPr algn="ctr" rtl="0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Divide-and-conquer</a:t>
            </a:r>
            <a:b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</a:br>
            <a:endParaRPr lang="en-US" sz="2000" b="1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-132145" y="5020112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Supervisordr@yahoo.com</a:t>
            </a:r>
          </a:p>
        </p:txBody>
      </p:sp>
      <p:sp>
        <p:nvSpPr>
          <p:cNvPr id="8" name="مربع نص 7"/>
          <p:cNvSpPr txBox="1"/>
          <p:nvPr/>
        </p:nvSpPr>
        <p:spPr>
          <a:xfrm>
            <a:off x="3141406" y="3848401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spc="-5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  <a:cs typeface="Times New Roman"/>
              </a:rPr>
              <a:t>Lecture 2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4077297" y="29432"/>
            <a:ext cx="4099560" cy="68816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430" y="4925575"/>
            <a:ext cx="1932425" cy="1932425"/>
          </a:xfrm>
          <a:prstGeom prst="rect">
            <a:avLst/>
          </a:prstGeom>
        </p:spPr>
      </p:pic>
      <p:sp>
        <p:nvSpPr>
          <p:cNvPr id="2" name="مستطيل 1"/>
          <p:cNvSpPr/>
          <p:nvPr/>
        </p:nvSpPr>
        <p:spPr>
          <a:xfrm>
            <a:off x="1317176" y="4483277"/>
            <a:ext cx="3072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Prof. </a:t>
            </a:r>
            <a:r>
              <a:rPr lang="en-US" altLang="ar-SA" dirty="0" err="1">
                <a:solidFill>
                  <a:schemeClr val="accent5">
                    <a:lumMod val="75000"/>
                  </a:schemeClr>
                </a:solidFill>
              </a:rPr>
              <a:t>Dr</a:t>
            </a:r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 Mohammed Al-</a:t>
            </a:r>
            <a:r>
              <a:rPr lang="en-US" altLang="ar-SA" dirty="0" err="1">
                <a:solidFill>
                  <a:schemeClr val="accent5">
                    <a:lumMod val="75000"/>
                  </a:schemeClr>
                </a:solidFill>
              </a:rPr>
              <a:t>Hagery</a:t>
            </a:r>
            <a:endParaRPr lang="ar-SA" altLang="ar-S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مستطيل 12"/>
          <p:cNvSpPr/>
          <p:nvPr/>
        </p:nvSpPr>
        <p:spPr>
          <a:xfrm>
            <a:off x="7883869" y="4483277"/>
            <a:ext cx="1481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ar-SA" dirty="0">
                <a:solidFill>
                  <a:schemeClr val="accent5">
                    <a:lumMod val="75000"/>
                  </a:schemeClr>
                </a:solidFill>
              </a:rPr>
              <a:t>Athar alwabel</a:t>
            </a:r>
            <a:endParaRPr lang="ar-SA" altLang="ar-S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مربع نص 13"/>
          <p:cNvSpPr txBox="1"/>
          <p:nvPr/>
        </p:nvSpPr>
        <p:spPr>
          <a:xfrm>
            <a:off x="5791153" y="5084093"/>
            <a:ext cx="597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aa.alwabel@qu.edu.sa</a:t>
            </a:r>
          </a:p>
        </p:txBody>
      </p:sp>
    </p:spTree>
    <p:extLst>
      <p:ext uri="{BB962C8B-B14F-4D97-AF65-F5344CB8AC3E}">
        <p14:creationId xmlns:p14="http://schemas.microsoft.com/office/powerpoint/2010/main" val="391654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68622" y="249637"/>
            <a:ext cx="8229600" cy="1371600"/>
          </a:xfrm>
          <a:prstGeom prst="rect">
            <a:avLst/>
          </a:prstGeom>
        </p:spPr>
        <p:txBody>
          <a:bodyPr vert="horz" lIns="91440" tIns="45720" rIns="91440" bIns="45720" rtlCol="1" anchor="t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solidFill>
                  <a:schemeClr val="accent5">
                    <a:lumMod val="75000"/>
                  </a:schemeClr>
                </a:solidFill>
              </a:rPr>
              <a:t>What is Divide and Conquer?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001398" y="701219"/>
            <a:ext cx="10532383" cy="412322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    </a:t>
            </a:r>
            <a:r>
              <a:rPr lang="en-US" altLang="en-US" sz="2800" dirty="0"/>
              <a:t>An effective approach to designing fast algorithms in sequential computation is the method known as </a:t>
            </a:r>
            <a:r>
              <a:rPr lang="en-US" altLang="en-US" sz="2800" b="1" i="1" dirty="0"/>
              <a:t>divide and conquer</a:t>
            </a:r>
            <a:r>
              <a:rPr lang="en-US" altLang="en-US" sz="2800" dirty="0"/>
              <a:t>.</a:t>
            </a:r>
            <a:endParaRPr lang="en-US" altLang="en-US" sz="2000" dirty="0">
              <a:latin typeface="Britannic Bold" panose="020B0903060703020204" pitchFamily="34" charset="0"/>
            </a:endParaRP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Britannic Bold" panose="020B0903060703020204" pitchFamily="34" charset="0"/>
              </a:rPr>
              <a:t>    </a:t>
            </a:r>
            <a:r>
              <a:rPr lang="en-US" altLang="en-US" sz="2000" dirty="0">
                <a:solidFill>
                  <a:srgbClr val="C00000"/>
                </a:solidFill>
                <a:latin typeface="Britannic Bold" panose="020B0903060703020204" pitchFamily="34" charset="0"/>
              </a:rPr>
              <a:t>Strategy</a:t>
            </a:r>
            <a:r>
              <a:rPr lang="en-US" altLang="en-US" sz="2000" dirty="0">
                <a:solidFill>
                  <a:srgbClr val="C00000"/>
                </a:solidFill>
              </a:rPr>
              <a:t>  :-</a:t>
            </a:r>
            <a:endParaRPr lang="en-US" altLang="en-US" sz="2800" dirty="0">
              <a:solidFill>
                <a:srgbClr val="C0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 sz="2800" dirty="0"/>
              <a:t>Divide: 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      A problem to be solved is broken into a number of sub problems of the same form as the original problems</a:t>
            </a:r>
            <a:r>
              <a:rPr lang="en-US" altLang="en-US" sz="1600" dirty="0"/>
              <a:t>;</a:t>
            </a:r>
          </a:p>
          <a:p>
            <a:pPr algn="l">
              <a:lnSpc>
                <a:spcPct val="80000"/>
              </a:lnSpc>
            </a:pPr>
            <a:r>
              <a:rPr lang="en-US" altLang="en-US" sz="2800" dirty="0"/>
              <a:t>Conquer: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</a:t>
            </a:r>
            <a:r>
              <a:rPr lang="en-US" altLang="en-US" sz="1600" dirty="0"/>
              <a:t>The sub problems are then solved independently, usually recursively;</a:t>
            </a:r>
            <a:endParaRPr lang="en-US" altLang="en-US" sz="2800" dirty="0"/>
          </a:p>
          <a:p>
            <a:pPr algn="l">
              <a:lnSpc>
                <a:spcPct val="80000"/>
              </a:lnSpc>
            </a:pPr>
            <a:r>
              <a:rPr lang="en-US" altLang="en-US" sz="2800" dirty="0"/>
              <a:t>Combine: 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/>
              <a:t>      Finally, the solutions to the sub problems are combined to provide the answer to the original problem.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-1584772" y="4063947"/>
            <a:ext cx="8229600" cy="1371600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Classic example 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3523987" y="5454062"/>
            <a:ext cx="5003947" cy="1132024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en-US" dirty="0"/>
              <a:t>Sorting algorithms</a:t>
            </a:r>
          </a:p>
          <a:p>
            <a:pPr algn="l"/>
            <a:r>
              <a:rPr lang="en-US" altLang="en-US" dirty="0"/>
              <a:t>1- merge sort </a:t>
            </a:r>
          </a:p>
          <a:p>
            <a:pPr algn="l"/>
            <a:r>
              <a:rPr lang="en-US" altLang="en-US" dirty="0"/>
              <a:t>2- quicksort</a:t>
            </a:r>
          </a:p>
          <a:p>
            <a:pPr algn="l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064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14500" y="325492"/>
            <a:ext cx="7886700" cy="640714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Sorting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039565" y="1371758"/>
            <a:ext cx="9697015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/>
              <a:t>Sorting with insertion sort and Merge sort</a:t>
            </a:r>
          </a:p>
          <a:p>
            <a:pPr algn="l"/>
            <a:r>
              <a:rPr lang="en-US" sz="2800" dirty="0"/>
              <a:t>Study </a:t>
            </a:r>
            <a:r>
              <a:rPr lang="en-US" sz="2800" dirty="0">
                <a:solidFill>
                  <a:schemeClr val="accent1"/>
                </a:solidFill>
              </a:rPr>
              <a:t>divide-and-conquer</a:t>
            </a:r>
            <a:r>
              <a:rPr lang="en-US" sz="2800" dirty="0"/>
              <a:t> with</a:t>
            </a:r>
            <a:r>
              <a:rPr lang="en-US" sz="2800" dirty="0">
                <a:solidFill>
                  <a:schemeClr val="accent4"/>
                </a:solidFill>
              </a:rPr>
              <a:t> Merge Sort</a:t>
            </a:r>
          </a:p>
          <a:p>
            <a:pPr algn="l"/>
            <a:r>
              <a:rPr lang="en-US" sz="2800" dirty="0">
                <a:solidFill>
                  <a:schemeClr val="accent5"/>
                </a:solidFill>
              </a:rPr>
              <a:t>Skills:</a:t>
            </a:r>
          </a:p>
          <a:p>
            <a:pPr lvl="1" algn="l"/>
            <a:r>
              <a:rPr lang="en-US" sz="2400" dirty="0">
                <a:solidFill>
                  <a:schemeClr val="tx2"/>
                </a:solidFill>
              </a:rPr>
              <a:t>	          Analyzing correctness of iterative and recursive algorithms.</a:t>
            </a:r>
          </a:p>
          <a:p>
            <a:pPr lvl="1" algn="l"/>
            <a:r>
              <a:rPr lang="en-US" sz="2400" dirty="0">
                <a:solidFill>
                  <a:schemeClr val="tx2"/>
                </a:solidFill>
              </a:rPr>
              <a:t>          Analyzing running time of recursive algorithms.</a:t>
            </a:r>
          </a:p>
          <a:p>
            <a:pPr algn="l"/>
            <a:endParaRPr lang="en-US" sz="2800" dirty="0">
              <a:solidFill>
                <a:schemeClr val="accent4"/>
              </a:solidFill>
            </a:endParaRPr>
          </a:p>
          <a:p>
            <a:pPr algn="l"/>
            <a:r>
              <a:rPr lang="en-US" sz="2800" dirty="0"/>
              <a:t>How do we measure the runtime of an algorithm?</a:t>
            </a:r>
          </a:p>
          <a:p>
            <a:pPr lvl="1" algn="l"/>
            <a:r>
              <a:rPr lang="en-US" sz="2400" dirty="0">
                <a:solidFill>
                  <a:srgbClr val="50496A"/>
                </a:solidFill>
              </a:rPr>
              <a:t>          Worst-case analysis</a:t>
            </a:r>
          </a:p>
          <a:p>
            <a:pPr lvl="1" algn="l"/>
            <a:r>
              <a:rPr lang="en-US" sz="2400" dirty="0">
                <a:solidFill>
                  <a:srgbClr val="50496A"/>
                </a:solidFill>
              </a:rPr>
              <a:t>          Asymptotic Analysis</a:t>
            </a:r>
          </a:p>
        </p:txBody>
      </p:sp>
    </p:spTree>
    <p:extLst>
      <p:ext uri="{BB962C8B-B14F-4D97-AF65-F5344CB8AC3E}">
        <p14:creationId xmlns:p14="http://schemas.microsoft.com/office/powerpoint/2010/main" val="361525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14500" y="325492"/>
            <a:ext cx="7886700" cy="640714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Sorting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78280" y="144415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- Important primitive</a:t>
            </a:r>
          </a:p>
          <a:p>
            <a:pPr algn="l"/>
            <a:r>
              <a:rPr lang="en-US" dirty="0"/>
              <a:t>- For today, we’ll pretend all elements are distinct.</a:t>
            </a:r>
          </a:p>
        </p:txBody>
      </p:sp>
      <p:grpSp>
        <p:nvGrpSpPr>
          <p:cNvPr id="9" name="Group 21"/>
          <p:cNvGrpSpPr/>
          <p:nvPr/>
        </p:nvGrpSpPr>
        <p:grpSpPr>
          <a:xfrm>
            <a:off x="2560947" y="2701453"/>
            <a:ext cx="5766649" cy="705201"/>
            <a:chOff x="1573619" y="3296093"/>
            <a:chExt cx="5766649" cy="705201"/>
          </a:xfrm>
        </p:grpSpPr>
        <p:sp>
          <p:nvSpPr>
            <p:cNvPr id="13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2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2"/>
          <p:cNvGrpSpPr/>
          <p:nvPr/>
        </p:nvGrpSpPr>
        <p:grpSpPr>
          <a:xfrm>
            <a:off x="2590018" y="4197988"/>
            <a:ext cx="5766649" cy="705201"/>
            <a:chOff x="1602690" y="4736528"/>
            <a:chExt cx="5766649" cy="705201"/>
          </a:xfrm>
        </p:grpSpPr>
        <p:sp>
          <p:nvSpPr>
            <p:cNvPr id="22" name="Rectangle 13"/>
            <p:cNvSpPr/>
            <p:nvPr/>
          </p:nvSpPr>
          <p:spPr>
            <a:xfrm>
              <a:off x="1602690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14"/>
            <p:cNvSpPr/>
            <p:nvPr/>
          </p:nvSpPr>
          <p:spPr>
            <a:xfrm>
              <a:off x="2332609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15"/>
            <p:cNvSpPr/>
            <p:nvPr/>
          </p:nvSpPr>
          <p:spPr>
            <a:xfrm>
              <a:off x="3041263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16"/>
            <p:cNvSpPr/>
            <p:nvPr/>
          </p:nvSpPr>
          <p:spPr>
            <a:xfrm>
              <a:off x="3767729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17"/>
            <p:cNvSpPr/>
            <p:nvPr/>
          </p:nvSpPr>
          <p:spPr>
            <a:xfrm>
              <a:off x="4477834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18"/>
            <p:cNvSpPr/>
            <p:nvPr/>
          </p:nvSpPr>
          <p:spPr>
            <a:xfrm>
              <a:off x="5207753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19"/>
            <p:cNvSpPr/>
            <p:nvPr/>
          </p:nvSpPr>
          <p:spPr>
            <a:xfrm>
              <a:off x="5937672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0"/>
            <p:cNvSpPr/>
            <p:nvPr/>
          </p:nvSpPr>
          <p:spPr>
            <a:xfrm>
              <a:off x="6664138" y="473652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Down Arrow 4"/>
          <p:cNvSpPr/>
          <p:nvPr/>
        </p:nvSpPr>
        <p:spPr>
          <a:xfrm>
            <a:off x="5202712" y="3614294"/>
            <a:ext cx="228475" cy="3749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6838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14500" y="325492"/>
            <a:ext cx="7886700" cy="640714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Benchmark: insertion sort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1821180" y="1825327"/>
            <a:ext cx="7886700" cy="4322927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Say we want to sort: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Insert items one at a time.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How would we actually implement this?  </a:t>
            </a:r>
          </a:p>
        </p:txBody>
      </p:sp>
      <p:sp>
        <p:nvSpPr>
          <p:cNvPr id="32" name="Rectangle 4"/>
          <p:cNvSpPr/>
          <p:nvPr/>
        </p:nvSpPr>
        <p:spPr>
          <a:xfrm>
            <a:off x="6625190" y="18253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7355109" y="18253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8063763" y="18253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7"/>
          <p:cNvSpPr/>
          <p:nvPr/>
        </p:nvSpPr>
        <p:spPr>
          <a:xfrm>
            <a:off x="8792681" y="18253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8"/>
          <p:cNvSpPr/>
          <p:nvPr/>
        </p:nvSpPr>
        <p:spPr>
          <a:xfrm>
            <a:off x="9521599" y="18253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24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94 0.32407 " pathEditMode="relative" ptsTypes="AA">
                                      <p:cBhvr>
                                        <p:cTn id="1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1018 L -0.19861 0.35486 " pathEditMode="relative" ptsTypes="AA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3.33333E-6 L -0.41823 0.35046 " pathEditMode="relative" ptsTypes="AA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-0.03958 0.34814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" y="1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81 -0.01297 L -0.3151 0.3618 " pathEditMode="relative" ptsTypes="AA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326570" y="164192"/>
            <a:ext cx="6668017" cy="727074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Insertion sort </a:t>
            </a:r>
            <a:r>
              <a:rPr lang="en-US" sz="3100" dirty="0">
                <a:solidFill>
                  <a:schemeClr val="accent5">
                    <a:lumMod val="75000"/>
                  </a:schemeClr>
                </a:solidFill>
              </a:rPr>
              <a:t>example</a:t>
            </a:r>
            <a:r>
              <a:rPr lang="mr-IN" sz="3100" dirty="0">
                <a:solidFill>
                  <a:schemeClr val="accent5">
                    <a:lumMod val="75000"/>
                  </a:schemeClr>
                </a:solidFill>
              </a:rPr>
              <a:t>…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4" name="Group 4"/>
          <p:cNvGrpSpPr/>
          <p:nvPr/>
        </p:nvGrpSpPr>
        <p:grpSpPr>
          <a:xfrm>
            <a:off x="1639454" y="1198952"/>
            <a:ext cx="3601610" cy="705201"/>
            <a:chOff x="1573619" y="3296093"/>
            <a:chExt cx="3601610" cy="705201"/>
          </a:xfrm>
        </p:grpSpPr>
        <p:sp>
          <p:nvSpPr>
            <p:cNvPr id="15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73"/>
          <p:cNvGrpSpPr/>
          <p:nvPr/>
        </p:nvGrpSpPr>
        <p:grpSpPr>
          <a:xfrm>
            <a:off x="1649174" y="2054046"/>
            <a:ext cx="3587074" cy="705202"/>
            <a:chOff x="1583251" y="3296092"/>
            <a:chExt cx="3587074" cy="705202"/>
          </a:xfrm>
        </p:grpSpPr>
        <p:sp>
          <p:nvSpPr>
            <p:cNvPr id="21" name="Rectangle 74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75"/>
            <p:cNvSpPr/>
            <p:nvPr/>
          </p:nvSpPr>
          <p:spPr>
            <a:xfrm>
              <a:off x="1583251" y="3296093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7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7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78"/>
            <p:cNvSpPr/>
            <p:nvPr/>
          </p:nvSpPr>
          <p:spPr>
            <a:xfrm>
              <a:off x="4465124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Box 2"/>
          <p:cNvSpPr txBox="1"/>
          <p:nvPr/>
        </p:nvSpPr>
        <p:spPr>
          <a:xfrm>
            <a:off x="6208615" y="1298077"/>
            <a:ext cx="3689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Start with the second element (the first element is sorted within itself</a:t>
            </a:r>
            <a:r>
              <a:rPr lang="mr-IN" dirty="0"/>
              <a:t>…</a:t>
            </a:r>
            <a:r>
              <a:rPr lang="en-US" dirty="0"/>
              <a:t>)</a:t>
            </a:r>
          </a:p>
        </p:txBody>
      </p:sp>
      <p:sp>
        <p:nvSpPr>
          <p:cNvPr id="27" name="TextBox 79"/>
          <p:cNvSpPr txBox="1"/>
          <p:nvPr/>
        </p:nvSpPr>
        <p:spPr>
          <a:xfrm>
            <a:off x="6208616" y="2193204"/>
            <a:ext cx="4051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Pull “4” back until it’s in the right place.</a:t>
            </a:r>
          </a:p>
        </p:txBody>
      </p:sp>
      <p:grpSp>
        <p:nvGrpSpPr>
          <p:cNvPr id="28" name="Group 80"/>
          <p:cNvGrpSpPr/>
          <p:nvPr/>
        </p:nvGrpSpPr>
        <p:grpSpPr>
          <a:xfrm>
            <a:off x="1644270" y="3001218"/>
            <a:ext cx="3591978" cy="705202"/>
            <a:chOff x="1583251" y="3296092"/>
            <a:chExt cx="3591978" cy="705202"/>
          </a:xfrm>
        </p:grpSpPr>
        <p:sp>
          <p:nvSpPr>
            <p:cNvPr id="29" name="Rectangle 81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82"/>
            <p:cNvSpPr/>
            <p:nvPr/>
          </p:nvSpPr>
          <p:spPr>
            <a:xfrm>
              <a:off x="158325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83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84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85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TextBox 3"/>
          <p:cNvSpPr txBox="1"/>
          <p:nvPr/>
        </p:nvSpPr>
        <p:spPr>
          <a:xfrm>
            <a:off x="6208616" y="3149274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Now look at “3”</a:t>
            </a:r>
          </a:p>
        </p:txBody>
      </p:sp>
      <p:grpSp>
        <p:nvGrpSpPr>
          <p:cNvPr id="41" name="Group 86"/>
          <p:cNvGrpSpPr/>
          <p:nvPr/>
        </p:nvGrpSpPr>
        <p:grpSpPr>
          <a:xfrm>
            <a:off x="1639454" y="3836434"/>
            <a:ext cx="3583091" cy="720968"/>
            <a:chOff x="1592138" y="3280326"/>
            <a:chExt cx="3583091" cy="720968"/>
          </a:xfrm>
        </p:grpSpPr>
        <p:sp>
          <p:nvSpPr>
            <p:cNvPr id="42" name="Rectangle 87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88"/>
            <p:cNvSpPr/>
            <p:nvPr/>
          </p:nvSpPr>
          <p:spPr>
            <a:xfrm>
              <a:off x="3018370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89"/>
            <p:cNvSpPr/>
            <p:nvPr/>
          </p:nvSpPr>
          <p:spPr>
            <a:xfrm>
              <a:off x="1592138" y="3280326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90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91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Box 10"/>
          <p:cNvSpPr txBox="1"/>
          <p:nvPr/>
        </p:nvSpPr>
        <p:spPr>
          <a:xfrm>
            <a:off x="6208616" y="3852200"/>
            <a:ext cx="3877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Pull “3” back until it’s in the right place.</a:t>
            </a:r>
          </a:p>
        </p:txBody>
      </p:sp>
      <p:grpSp>
        <p:nvGrpSpPr>
          <p:cNvPr id="48" name="Group 92"/>
          <p:cNvGrpSpPr/>
          <p:nvPr/>
        </p:nvGrpSpPr>
        <p:grpSpPr>
          <a:xfrm>
            <a:off x="1622297" y="4763727"/>
            <a:ext cx="3591978" cy="705202"/>
            <a:chOff x="1583251" y="3296092"/>
            <a:chExt cx="3591978" cy="705202"/>
          </a:xfrm>
        </p:grpSpPr>
        <p:sp>
          <p:nvSpPr>
            <p:cNvPr id="49" name="Rectangle 93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94"/>
            <p:cNvSpPr/>
            <p:nvPr/>
          </p:nvSpPr>
          <p:spPr>
            <a:xfrm>
              <a:off x="158325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95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96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08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97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4" name="TextBox 11"/>
          <p:cNvSpPr txBox="1"/>
          <p:nvPr/>
        </p:nvSpPr>
        <p:spPr>
          <a:xfrm>
            <a:off x="6208616" y="4903076"/>
            <a:ext cx="304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“8” is good</a:t>
            </a:r>
            <a:r>
              <a:rPr lang="mr-IN" dirty="0"/>
              <a:t>…</a:t>
            </a:r>
            <a:r>
              <a:rPr lang="en-US" dirty="0"/>
              <a:t>look at 5</a:t>
            </a:r>
          </a:p>
        </p:txBody>
      </p:sp>
      <p:grpSp>
        <p:nvGrpSpPr>
          <p:cNvPr id="55" name="Group 98"/>
          <p:cNvGrpSpPr/>
          <p:nvPr/>
        </p:nvGrpSpPr>
        <p:grpSpPr>
          <a:xfrm>
            <a:off x="1681185" y="5763211"/>
            <a:ext cx="3584635" cy="705202"/>
            <a:chOff x="1583251" y="3296092"/>
            <a:chExt cx="3584635" cy="705202"/>
          </a:xfrm>
        </p:grpSpPr>
        <p:sp>
          <p:nvSpPr>
            <p:cNvPr id="56" name="Rectangle 99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100"/>
            <p:cNvSpPr/>
            <p:nvPr/>
          </p:nvSpPr>
          <p:spPr>
            <a:xfrm>
              <a:off x="158325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101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102"/>
            <p:cNvSpPr/>
            <p:nvPr/>
          </p:nvSpPr>
          <p:spPr>
            <a:xfrm>
              <a:off x="4462685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103"/>
            <p:cNvSpPr/>
            <p:nvPr/>
          </p:nvSpPr>
          <p:spPr>
            <a:xfrm>
              <a:off x="3742110" y="3296092"/>
              <a:ext cx="705201" cy="7052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12"/>
          <p:cNvSpPr txBox="1"/>
          <p:nvPr/>
        </p:nvSpPr>
        <p:spPr>
          <a:xfrm>
            <a:off x="6227316" y="5818830"/>
            <a:ext cx="2711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(then fix 5 and we’re done)</a:t>
            </a:r>
          </a:p>
        </p:txBody>
      </p:sp>
    </p:spTree>
    <p:extLst>
      <p:ext uri="{BB962C8B-B14F-4D97-AF65-F5344CB8AC3E}">
        <p14:creationId xmlns:p14="http://schemas.microsoft.com/office/powerpoint/2010/main" val="80474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40" grpId="0"/>
      <p:bldP spid="47" grpId="0"/>
      <p:bldP spid="54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62" name="Title 1"/>
          <p:cNvSpPr txBox="1">
            <a:spLocks/>
          </p:cNvSpPr>
          <p:nvPr/>
        </p:nvSpPr>
        <p:spPr>
          <a:xfrm>
            <a:off x="157426" y="159322"/>
            <a:ext cx="7886700" cy="884928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Insertion sort pseudocode</a:t>
            </a:r>
          </a:p>
        </p:txBody>
      </p:sp>
      <p:sp>
        <p:nvSpPr>
          <p:cNvPr id="63" name="TextBox 5"/>
          <p:cNvSpPr txBox="1"/>
          <p:nvPr/>
        </p:nvSpPr>
        <p:spPr>
          <a:xfrm>
            <a:off x="1089442" y="1272513"/>
            <a:ext cx="623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Go one-at-a-time until things are in the right place.</a:t>
            </a:r>
          </a:p>
        </p:txBody>
      </p:sp>
      <p:pic>
        <p:nvPicPr>
          <p:cNvPr id="64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442" y="1802100"/>
            <a:ext cx="5005042" cy="3348105"/>
          </a:xfrm>
          <a:prstGeom prst="rect">
            <a:avLst/>
          </a:prstGeom>
        </p:spPr>
      </p:pic>
      <p:sp>
        <p:nvSpPr>
          <p:cNvPr id="65" name="TextBox 7"/>
          <p:cNvSpPr txBox="1"/>
          <p:nvPr/>
        </p:nvSpPr>
        <p:spPr>
          <a:xfrm>
            <a:off x="1313455" y="5464392"/>
            <a:ext cx="7079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</a:rPr>
              <a:t>1- Apply the steps of the </a:t>
            </a:r>
            <a:r>
              <a:rPr lang="en-US" sz="2000" dirty="0" err="1">
                <a:solidFill>
                  <a:srgbClr val="C00000"/>
                </a:solidFill>
              </a:rPr>
              <a:t>algorithim</a:t>
            </a:r>
            <a:r>
              <a:rPr lang="en-US" sz="2000" dirty="0">
                <a:solidFill>
                  <a:srgbClr val="C00000"/>
                </a:solidFill>
              </a:rPr>
              <a:t>  on the example on the right</a:t>
            </a:r>
          </a:p>
          <a:p>
            <a:pPr algn="l"/>
            <a:r>
              <a:rPr lang="en-US" sz="2000" dirty="0">
                <a:solidFill>
                  <a:srgbClr val="C00000"/>
                </a:solidFill>
              </a:rPr>
              <a:t>2- Also, practice with this algorithm to calculate the prime Ops.</a:t>
            </a:r>
          </a:p>
        </p:txBody>
      </p:sp>
      <p:grpSp>
        <p:nvGrpSpPr>
          <p:cNvPr id="10" name="Group 4"/>
          <p:cNvGrpSpPr/>
          <p:nvPr/>
        </p:nvGrpSpPr>
        <p:grpSpPr>
          <a:xfrm>
            <a:off x="7688218" y="2258949"/>
            <a:ext cx="3601610" cy="705201"/>
            <a:chOff x="1573619" y="3296093"/>
            <a:chExt cx="3601610" cy="705201"/>
          </a:xfrm>
        </p:grpSpPr>
        <p:sp>
          <p:nvSpPr>
            <p:cNvPr id="12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73"/>
          <p:cNvGrpSpPr/>
          <p:nvPr/>
        </p:nvGrpSpPr>
        <p:grpSpPr>
          <a:xfrm>
            <a:off x="7697938" y="3114043"/>
            <a:ext cx="3587074" cy="705202"/>
            <a:chOff x="1583251" y="3296092"/>
            <a:chExt cx="3587074" cy="705202"/>
          </a:xfrm>
        </p:grpSpPr>
        <p:sp>
          <p:nvSpPr>
            <p:cNvPr id="18" name="Rectangle 74"/>
            <p:cNvSpPr/>
            <p:nvPr/>
          </p:nvSpPr>
          <p:spPr>
            <a:xfrm>
              <a:off x="2313169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75"/>
            <p:cNvSpPr/>
            <p:nvPr/>
          </p:nvSpPr>
          <p:spPr>
            <a:xfrm>
              <a:off x="1583251" y="3296093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7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7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78"/>
            <p:cNvSpPr/>
            <p:nvPr/>
          </p:nvSpPr>
          <p:spPr>
            <a:xfrm>
              <a:off x="4465124" y="32960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20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-324550" y="-196224"/>
            <a:ext cx="8863159" cy="132556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Insertion sort: running time</a:t>
            </a:r>
          </a:p>
        </p:txBody>
      </p:sp>
      <p:pic>
        <p:nvPicPr>
          <p:cNvPr id="12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505" y="1211502"/>
            <a:ext cx="5449162" cy="3465511"/>
          </a:xfrm>
          <a:prstGeom prst="rect">
            <a:avLst/>
          </a:prstGeom>
        </p:spPr>
      </p:pic>
      <p:sp>
        <p:nvSpPr>
          <p:cNvPr id="13" name="Left Brace 4"/>
          <p:cNvSpPr/>
          <p:nvPr/>
        </p:nvSpPr>
        <p:spPr>
          <a:xfrm rot="10800000">
            <a:off x="7120762" y="2010014"/>
            <a:ext cx="1092200" cy="2590800"/>
          </a:xfrm>
          <a:prstGeom prst="leftBrace">
            <a:avLst/>
          </a:prstGeom>
          <a:ln w="412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5"/>
          <p:cNvSpPr/>
          <p:nvPr/>
        </p:nvSpPr>
        <p:spPr>
          <a:xfrm rot="10800000">
            <a:off x="6273461" y="2944258"/>
            <a:ext cx="718412" cy="1366044"/>
          </a:xfrm>
          <a:prstGeom prst="leftBrace">
            <a:avLst/>
          </a:prstGeom>
          <a:ln w="412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6"/>
          <p:cNvSpPr txBox="1"/>
          <p:nvPr/>
        </p:nvSpPr>
        <p:spPr>
          <a:xfrm>
            <a:off x="8341850" y="2873782"/>
            <a:ext cx="18060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n-1 iterations of the outer loop</a:t>
            </a:r>
          </a:p>
        </p:txBody>
      </p:sp>
      <p:sp>
        <p:nvSpPr>
          <p:cNvPr id="16" name="TextBox 7"/>
          <p:cNvSpPr txBox="1"/>
          <p:nvPr/>
        </p:nvSpPr>
        <p:spPr>
          <a:xfrm>
            <a:off x="7938107" y="4092982"/>
            <a:ext cx="22097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the worst case, about n iterations of this inner loop</a:t>
            </a:r>
          </a:p>
        </p:txBody>
      </p:sp>
      <p:cxnSp>
        <p:nvCxnSpPr>
          <p:cNvPr id="17" name="Straight Connector 11"/>
          <p:cNvCxnSpPr/>
          <p:nvPr/>
        </p:nvCxnSpPr>
        <p:spPr>
          <a:xfrm>
            <a:off x="7115151" y="3609124"/>
            <a:ext cx="817346" cy="710719"/>
          </a:xfrm>
          <a:prstGeom prst="line">
            <a:avLst/>
          </a:prstGeom>
          <a:ln w="412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3"/>
          <p:cNvSpPr txBox="1"/>
          <p:nvPr/>
        </p:nvSpPr>
        <p:spPr>
          <a:xfrm>
            <a:off x="1042848" y="5108645"/>
            <a:ext cx="3773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Running time is about n</a:t>
            </a:r>
            <a:r>
              <a:rPr lang="en-US" sz="2800" baseline="30000" dirty="0">
                <a:solidFill>
                  <a:srgbClr val="00B050"/>
                </a:solidFill>
              </a:rPr>
              <a:t>2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25575"/>
            <a:ext cx="1932425" cy="1932425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409868" y="320247"/>
            <a:ext cx="7886700" cy="795457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Insertion sort: correctness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1160060" y="1443496"/>
            <a:ext cx="9730853" cy="4535655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accent4"/>
                </a:solidFill>
              </a:rPr>
              <a:t>loop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</a:rPr>
              <a:t>in</a:t>
            </a:r>
            <a:r>
              <a:rPr lang="en-US" sz="2800" dirty="0">
                <a:solidFill>
                  <a:schemeClr val="accent4"/>
                </a:solidFill>
              </a:rPr>
              <a:t>variant</a:t>
            </a:r>
            <a:r>
              <a:rPr lang="en-US" sz="2800" dirty="0"/>
              <a:t>: is something that should be true at every iteration.</a:t>
            </a:r>
            <a:endParaRPr lang="ar-SA" sz="2800" dirty="0"/>
          </a:p>
          <a:p>
            <a:pPr algn="r"/>
            <a:r>
              <a:rPr lang="ar-SA" sz="1200" b="1" dirty="0">
                <a:solidFill>
                  <a:srgbClr val="C00000"/>
                </a:solidFill>
              </a:rPr>
              <a:t>الحلقة الثابتة</a:t>
            </a:r>
            <a:endParaRPr lang="en-US" sz="1200" b="1" dirty="0">
              <a:solidFill>
                <a:srgbClr val="C00000"/>
              </a:solidFill>
            </a:endParaRP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Initialization</a:t>
            </a:r>
            <a:r>
              <a:rPr lang="en-US" sz="2800" dirty="0"/>
              <a:t>: the loop invariant holds before the first iteration.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Maintenance</a:t>
            </a:r>
            <a:r>
              <a:rPr lang="en-US" sz="2800" dirty="0"/>
              <a:t>: If it is true before the </a:t>
            </a:r>
            <a:r>
              <a:rPr lang="en-US" sz="2800" dirty="0" err="1"/>
              <a:t>t’th</a:t>
            </a:r>
            <a:r>
              <a:rPr lang="en-US" sz="2800" dirty="0"/>
              <a:t> iteration, it will be true before the (t+1)’</a:t>
            </a:r>
            <a:r>
              <a:rPr lang="en-US" sz="2800" dirty="0" err="1"/>
              <a:t>st</a:t>
            </a:r>
            <a:r>
              <a:rPr lang="en-US" sz="2800" dirty="0"/>
              <a:t> iteration</a:t>
            </a:r>
          </a:p>
          <a:p>
            <a:pPr algn="l"/>
            <a:r>
              <a:rPr lang="en-US" sz="2800" dirty="0">
                <a:solidFill>
                  <a:schemeClr val="accent4"/>
                </a:solidFill>
              </a:rPr>
              <a:t>Termination</a:t>
            </a:r>
            <a:r>
              <a:rPr lang="en-US" sz="2800" dirty="0"/>
              <a:t>: It is useful to know that the loop invariant is true at the end of the last iteration.</a:t>
            </a:r>
          </a:p>
          <a:p>
            <a:pPr algn="l"/>
            <a:r>
              <a:rPr lang="en-US" sz="2800" b="1" dirty="0">
                <a:solidFill>
                  <a:srgbClr val="C00000"/>
                </a:solidFill>
              </a:rPr>
              <a:t>Note</a:t>
            </a:r>
            <a:r>
              <a:rPr lang="en-US" sz="2800" dirty="0"/>
              <a:t>: the cost of comparison is higher than the cost of a swap.</a:t>
            </a:r>
          </a:p>
        </p:txBody>
      </p:sp>
    </p:spTree>
    <p:extLst>
      <p:ext uri="{BB962C8B-B14F-4D97-AF65-F5344CB8AC3E}">
        <p14:creationId xmlns:p14="http://schemas.microsoft.com/office/powerpoint/2010/main" val="229693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905972"/>
            <a:ext cx="1932425" cy="1932425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To summarize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67443" y="2169280"/>
            <a:ext cx="9435360" cy="173738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solidFill>
                  <a:srgbClr val="C00000"/>
                </a:solidFill>
              </a:rPr>
              <a:t>InsertionSort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is an algorithm that correctly sorts an arbitrary n-element of an array in time about </a:t>
            </a:r>
            <a:r>
              <a:rPr lang="en-US" sz="3200" b="1" dirty="0"/>
              <a:t>n</a:t>
            </a:r>
            <a:r>
              <a:rPr lang="en-US" sz="3200" b="1" baseline="30000" dirty="0"/>
              <a:t>2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01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1485"/>
            <a:ext cx="1932425" cy="1932425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628649" y="365126"/>
            <a:ext cx="9199749" cy="839953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Can we do better?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28648" y="1518496"/>
            <a:ext cx="10248618" cy="1146175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solidFill>
                  <a:srgbClr val="C00000"/>
                </a:solidFill>
              </a:rPr>
              <a:t>MergeSort</a:t>
            </a:r>
            <a:r>
              <a:rPr lang="en-US" sz="2800" dirty="0"/>
              <a:t>: a </a:t>
            </a:r>
            <a:r>
              <a:rPr lang="en-US" sz="2800" dirty="0">
                <a:solidFill>
                  <a:srgbClr val="D6A300"/>
                </a:solidFill>
              </a:rPr>
              <a:t>divide-and-conquer</a:t>
            </a:r>
            <a:r>
              <a:rPr lang="en-US" sz="2800" dirty="0"/>
              <a:t> approach Recall from last time:</a:t>
            </a:r>
          </a:p>
        </p:txBody>
      </p:sp>
      <p:grpSp>
        <p:nvGrpSpPr>
          <p:cNvPr id="13" name="Group 17"/>
          <p:cNvGrpSpPr/>
          <p:nvPr/>
        </p:nvGrpSpPr>
        <p:grpSpPr>
          <a:xfrm>
            <a:off x="1546860" y="2273592"/>
            <a:ext cx="8359909" cy="3712671"/>
            <a:chOff x="374070" y="2649874"/>
            <a:chExt cx="8392239" cy="3834056"/>
          </a:xfrm>
        </p:grpSpPr>
        <p:sp>
          <p:nvSpPr>
            <p:cNvPr id="14" name="Oval 3"/>
            <p:cNvSpPr/>
            <p:nvPr/>
          </p:nvSpPr>
          <p:spPr>
            <a:xfrm>
              <a:off x="2808695" y="2649874"/>
              <a:ext cx="3494168" cy="11311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Big problem</a:t>
              </a:r>
            </a:p>
          </p:txBody>
        </p:sp>
        <p:sp>
          <p:nvSpPr>
            <p:cNvPr id="15" name="Oval 4"/>
            <p:cNvSpPr/>
            <p:nvPr/>
          </p:nvSpPr>
          <p:spPr>
            <a:xfrm>
              <a:off x="5901240" y="4206632"/>
              <a:ext cx="2375742" cy="909231"/>
            </a:xfrm>
            <a:prstGeom prst="ellipse">
              <a:avLst/>
            </a:prstGeom>
            <a:solidFill>
              <a:srgbClr val="2E75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Smaller problem</a:t>
              </a:r>
            </a:p>
          </p:txBody>
        </p:sp>
        <p:sp>
          <p:nvSpPr>
            <p:cNvPr id="16" name="Oval 5"/>
            <p:cNvSpPr/>
            <p:nvPr/>
          </p:nvSpPr>
          <p:spPr>
            <a:xfrm>
              <a:off x="891616" y="4221638"/>
              <a:ext cx="2375742" cy="909231"/>
            </a:xfrm>
            <a:prstGeom prst="ellipse">
              <a:avLst/>
            </a:prstGeom>
            <a:solidFill>
              <a:srgbClr val="2E75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Smaller problem</a:t>
              </a:r>
            </a:p>
          </p:txBody>
        </p:sp>
        <p:sp>
          <p:nvSpPr>
            <p:cNvPr id="17" name="Oval 6"/>
            <p:cNvSpPr/>
            <p:nvPr/>
          </p:nvSpPr>
          <p:spPr>
            <a:xfrm>
              <a:off x="374070" y="5832763"/>
              <a:ext cx="1801093" cy="651167"/>
            </a:xfrm>
            <a:prstGeom prst="ellipse">
              <a:avLst/>
            </a:prstGeom>
            <a:solidFill>
              <a:srgbClr val="555B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Yet smaller problem</a:t>
              </a:r>
            </a:p>
          </p:txBody>
        </p:sp>
        <p:sp>
          <p:nvSpPr>
            <p:cNvPr id="18" name="Oval 7"/>
            <p:cNvSpPr/>
            <p:nvPr/>
          </p:nvSpPr>
          <p:spPr>
            <a:xfrm>
              <a:off x="2272144" y="5832763"/>
              <a:ext cx="1801093" cy="651167"/>
            </a:xfrm>
            <a:prstGeom prst="ellipse">
              <a:avLst/>
            </a:prstGeom>
            <a:solidFill>
              <a:srgbClr val="555B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Yet smaller problem</a:t>
              </a:r>
            </a:p>
          </p:txBody>
        </p:sp>
        <p:sp>
          <p:nvSpPr>
            <p:cNvPr id="19" name="Oval 8"/>
            <p:cNvSpPr/>
            <p:nvPr/>
          </p:nvSpPr>
          <p:spPr>
            <a:xfrm>
              <a:off x="5056908" y="5832763"/>
              <a:ext cx="1801093" cy="651167"/>
            </a:xfrm>
            <a:prstGeom prst="ellipse">
              <a:avLst/>
            </a:prstGeom>
            <a:solidFill>
              <a:srgbClr val="555B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Yet smaller problem</a:t>
              </a:r>
            </a:p>
          </p:txBody>
        </p:sp>
        <p:sp>
          <p:nvSpPr>
            <p:cNvPr id="20" name="Oval 9"/>
            <p:cNvSpPr/>
            <p:nvPr/>
          </p:nvSpPr>
          <p:spPr>
            <a:xfrm>
              <a:off x="6965216" y="5832763"/>
              <a:ext cx="1801093" cy="651167"/>
            </a:xfrm>
            <a:prstGeom prst="ellipse">
              <a:avLst/>
            </a:prstGeom>
            <a:solidFill>
              <a:srgbClr val="555B9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Yet smaller problem</a:t>
              </a:r>
            </a:p>
          </p:txBody>
        </p:sp>
        <p:sp>
          <p:nvSpPr>
            <p:cNvPr id="21" name="TextBox 10"/>
            <p:cNvSpPr txBox="1"/>
            <p:nvPr/>
          </p:nvSpPr>
          <p:spPr>
            <a:xfrm>
              <a:off x="2728381" y="5181597"/>
              <a:ext cx="1001245" cy="3814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5">
                      <a:lumMod val="75000"/>
                    </a:schemeClr>
                  </a:solidFill>
                </a:rPr>
                <a:t>Recurse</a:t>
              </a:r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!</a:t>
              </a:r>
            </a:p>
          </p:txBody>
        </p:sp>
        <p:cxnSp>
          <p:nvCxnSpPr>
            <p:cNvPr id="22" name="Straight Connector 11"/>
            <p:cNvCxnSpPr>
              <a:stCxn id="14" idx="4"/>
              <a:endCxn id="15" idx="0"/>
            </p:cNvCxnSpPr>
            <p:nvPr/>
          </p:nvCxnSpPr>
          <p:spPr>
            <a:xfrm>
              <a:off x="4555779" y="3780974"/>
              <a:ext cx="2533331" cy="42565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12"/>
            <p:cNvCxnSpPr>
              <a:stCxn id="14" idx="4"/>
              <a:endCxn id="16" idx="0"/>
            </p:cNvCxnSpPr>
            <p:nvPr/>
          </p:nvCxnSpPr>
          <p:spPr>
            <a:xfrm flipH="1">
              <a:off x="2079487" y="3780974"/>
              <a:ext cx="2476293" cy="44066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13"/>
            <p:cNvCxnSpPr>
              <a:stCxn id="16" idx="4"/>
              <a:endCxn id="17" idx="0"/>
            </p:cNvCxnSpPr>
            <p:nvPr/>
          </p:nvCxnSpPr>
          <p:spPr>
            <a:xfrm flipH="1">
              <a:off x="1274617" y="5130869"/>
              <a:ext cx="804870" cy="70189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14"/>
            <p:cNvCxnSpPr>
              <a:stCxn id="15" idx="4"/>
              <a:endCxn id="19" idx="0"/>
            </p:cNvCxnSpPr>
            <p:nvPr/>
          </p:nvCxnSpPr>
          <p:spPr>
            <a:xfrm flipH="1">
              <a:off x="5957455" y="5115863"/>
              <a:ext cx="1131656" cy="7169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15"/>
            <p:cNvCxnSpPr>
              <a:stCxn id="15" idx="4"/>
              <a:endCxn id="20" idx="0"/>
            </p:cNvCxnSpPr>
            <p:nvPr/>
          </p:nvCxnSpPr>
          <p:spPr>
            <a:xfrm>
              <a:off x="7089111" y="5115863"/>
              <a:ext cx="776652" cy="7169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16"/>
            <p:cNvCxnSpPr>
              <a:stCxn id="16" idx="4"/>
              <a:endCxn id="18" idx="0"/>
            </p:cNvCxnSpPr>
            <p:nvPr/>
          </p:nvCxnSpPr>
          <p:spPr>
            <a:xfrm>
              <a:off x="2079487" y="5130869"/>
              <a:ext cx="1093204" cy="70189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144"/>
          <p:cNvSpPr txBox="1"/>
          <p:nvPr/>
        </p:nvSpPr>
        <p:spPr>
          <a:xfrm>
            <a:off x="1228155" y="2262333"/>
            <a:ext cx="1668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Divide and Conquer: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389315" y="4665682"/>
            <a:ext cx="125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Recurse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1279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8015"/>
            <a:ext cx="1932425" cy="1932425"/>
          </a:xfrm>
          <a:prstGeom prst="rect">
            <a:avLst/>
          </a:prstGeom>
        </p:spPr>
      </p:pic>
      <p:sp>
        <p:nvSpPr>
          <p:cNvPr id="30" name="Rectangle 38"/>
          <p:cNvSpPr/>
          <p:nvPr/>
        </p:nvSpPr>
        <p:spPr>
          <a:xfrm>
            <a:off x="2892636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387034" y="264993"/>
            <a:ext cx="7886700" cy="735364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Merge Sort</a:t>
            </a:r>
          </a:p>
        </p:txBody>
      </p:sp>
      <p:grpSp>
        <p:nvGrpSpPr>
          <p:cNvPr id="32" name="Group 3"/>
          <p:cNvGrpSpPr/>
          <p:nvPr/>
        </p:nvGrpSpPr>
        <p:grpSpPr>
          <a:xfrm>
            <a:off x="2934060" y="1201943"/>
            <a:ext cx="5766649" cy="705201"/>
            <a:chOff x="1573619" y="3296093"/>
            <a:chExt cx="5766649" cy="705201"/>
          </a:xfrm>
        </p:grpSpPr>
        <p:sp>
          <p:nvSpPr>
            <p:cNvPr id="33" name="Rectangle 4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5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8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9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10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11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Rectangle 12"/>
          <p:cNvSpPr/>
          <p:nvPr/>
        </p:nvSpPr>
        <p:spPr>
          <a:xfrm>
            <a:off x="1796670" y="24973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13"/>
          <p:cNvSpPr/>
          <p:nvPr/>
        </p:nvSpPr>
        <p:spPr>
          <a:xfrm>
            <a:off x="2526589" y="24973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14"/>
          <p:cNvSpPr/>
          <p:nvPr/>
        </p:nvSpPr>
        <p:spPr>
          <a:xfrm>
            <a:off x="3235243" y="24973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15"/>
          <p:cNvSpPr/>
          <p:nvPr/>
        </p:nvSpPr>
        <p:spPr>
          <a:xfrm>
            <a:off x="3961709" y="24973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 16"/>
          <p:cNvSpPr/>
          <p:nvPr/>
        </p:nvSpPr>
        <p:spPr>
          <a:xfrm>
            <a:off x="6648879" y="24719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17"/>
          <p:cNvSpPr/>
          <p:nvPr/>
        </p:nvSpPr>
        <p:spPr>
          <a:xfrm>
            <a:off x="7357533" y="24719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18"/>
          <p:cNvSpPr/>
          <p:nvPr/>
        </p:nvSpPr>
        <p:spPr>
          <a:xfrm>
            <a:off x="8087452" y="24719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19"/>
          <p:cNvSpPr/>
          <p:nvPr/>
        </p:nvSpPr>
        <p:spPr>
          <a:xfrm>
            <a:off x="8813918" y="24719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20"/>
          <p:cNvSpPr/>
          <p:nvPr/>
        </p:nvSpPr>
        <p:spPr>
          <a:xfrm>
            <a:off x="1796670" y="35387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ectangle 21"/>
          <p:cNvSpPr/>
          <p:nvPr/>
        </p:nvSpPr>
        <p:spPr>
          <a:xfrm>
            <a:off x="2526589" y="35387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22"/>
          <p:cNvSpPr/>
          <p:nvPr/>
        </p:nvSpPr>
        <p:spPr>
          <a:xfrm>
            <a:off x="3235243" y="35387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23"/>
          <p:cNvSpPr/>
          <p:nvPr/>
        </p:nvSpPr>
        <p:spPr>
          <a:xfrm>
            <a:off x="3961709" y="35387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24"/>
          <p:cNvSpPr/>
          <p:nvPr/>
        </p:nvSpPr>
        <p:spPr>
          <a:xfrm>
            <a:off x="6623479" y="35133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25"/>
          <p:cNvSpPr/>
          <p:nvPr/>
        </p:nvSpPr>
        <p:spPr>
          <a:xfrm>
            <a:off x="7332133" y="35133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26"/>
          <p:cNvSpPr/>
          <p:nvPr/>
        </p:nvSpPr>
        <p:spPr>
          <a:xfrm>
            <a:off x="8062052" y="35133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le 27"/>
          <p:cNvSpPr/>
          <p:nvPr/>
        </p:nvSpPr>
        <p:spPr>
          <a:xfrm>
            <a:off x="8788518" y="3513343"/>
            <a:ext cx="705201" cy="705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39"/>
          <p:cNvSpPr/>
          <p:nvPr/>
        </p:nvSpPr>
        <p:spPr>
          <a:xfrm>
            <a:off x="3622192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8" name="Rectangle 40"/>
          <p:cNvSpPr/>
          <p:nvPr/>
        </p:nvSpPr>
        <p:spPr>
          <a:xfrm>
            <a:off x="4330846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9" name="Rectangle 41"/>
          <p:cNvSpPr/>
          <p:nvPr/>
        </p:nvSpPr>
        <p:spPr>
          <a:xfrm>
            <a:off x="5057312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0" name="Rectangle 42"/>
          <p:cNvSpPr/>
          <p:nvPr/>
        </p:nvSpPr>
        <p:spPr>
          <a:xfrm>
            <a:off x="5788682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Rectangle 43"/>
          <p:cNvSpPr/>
          <p:nvPr/>
        </p:nvSpPr>
        <p:spPr>
          <a:xfrm>
            <a:off x="6497336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Rectangle 44"/>
          <p:cNvSpPr/>
          <p:nvPr/>
        </p:nvSpPr>
        <p:spPr>
          <a:xfrm>
            <a:off x="7227255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3" name="Rectangle 45"/>
          <p:cNvSpPr/>
          <p:nvPr/>
        </p:nvSpPr>
        <p:spPr>
          <a:xfrm>
            <a:off x="7953721" y="5011943"/>
            <a:ext cx="705201" cy="7052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4" name="Triangle 46"/>
          <p:cNvSpPr/>
          <p:nvPr/>
        </p:nvSpPr>
        <p:spPr>
          <a:xfrm>
            <a:off x="2006645" y="4286454"/>
            <a:ext cx="269625" cy="279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riangle 47"/>
          <p:cNvSpPr/>
          <p:nvPr/>
        </p:nvSpPr>
        <p:spPr>
          <a:xfrm>
            <a:off x="6883445" y="4286454"/>
            <a:ext cx="269625" cy="279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48"/>
          <p:cNvSpPr txBox="1"/>
          <p:nvPr/>
        </p:nvSpPr>
        <p:spPr>
          <a:xfrm>
            <a:off x="8613638" y="3144011"/>
            <a:ext cx="17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Recursive magic!</a:t>
            </a:r>
          </a:p>
        </p:txBody>
      </p:sp>
      <p:sp>
        <p:nvSpPr>
          <p:cNvPr id="67" name="TextBox 49"/>
          <p:cNvSpPr txBox="1"/>
          <p:nvPr/>
        </p:nvSpPr>
        <p:spPr>
          <a:xfrm>
            <a:off x="588751" y="3157646"/>
            <a:ext cx="17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Recursive magic!</a:t>
            </a:r>
          </a:p>
        </p:txBody>
      </p:sp>
      <p:sp>
        <p:nvSpPr>
          <p:cNvPr id="68" name="TextBox 2"/>
          <p:cNvSpPr txBox="1"/>
          <p:nvPr/>
        </p:nvSpPr>
        <p:spPr>
          <a:xfrm>
            <a:off x="92837" y="5811878"/>
            <a:ext cx="6925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>
                <a:solidFill>
                  <a:schemeClr val="accent5"/>
                </a:solidFill>
              </a:rPr>
              <a:t>MERGE</a:t>
            </a:r>
            <a:r>
              <a:rPr lang="en-US" dirty="0"/>
              <a:t> pseudocode + analysis )</a:t>
            </a:r>
          </a:p>
        </p:txBody>
      </p:sp>
      <p:sp>
        <p:nvSpPr>
          <p:cNvPr id="69" name="TextBox 37"/>
          <p:cNvSpPr txBox="1"/>
          <p:nvPr/>
        </p:nvSpPr>
        <p:spPr>
          <a:xfrm>
            <a:off x="1447774" y="5129000"/>
            <a:ext cx="13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MERGE!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70" name="TextBox 50"/>
          <p:cNvSpPr txBox="1"/>
          <p:nvPr/>
        </p:nvSpPr>
        <p:spPr>
          <a:xfrm>
            <a:off x="864683" y="6163233"/>
            <a:ext cx="6925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 good exercise: how would I do this </a:t>
            </a:r>
            <a:r>
              <a:rPr lang="en-US" dirty="0">
                <a:solidFill>
                  <a:schemeClr val="accent1"/>
                </a:solidFill>
              </a:rPr>
              <a:t>in place?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2305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5" presetClass="emph" presetSubtype="0" repeatCount="3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07483 0.00301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3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emph" presetSubtype="0" repeatCount="3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483 0.00301 L 0.14705 0.00301 " pathEditMode="relative" rAng="0" ptsTypes="AA">
                                      <p:cBhvr>
                                        <p:cTn id="10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5" presetClass="emph" presetSubtype="0" repeatCount="3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L 0.08211 0.01042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5" presetClass="emph" presetSubtype="0" repeatCount="3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211 0.01042 L 0.1592 0.01042 " pathEditMode="relative" rAng="0" ptsTypes="AA">
                                      <p:cBhvr>
                                        <p:cTn id="1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5" presetClass="emph" presetSubtype="0" repeatCount="3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05 0.00301 L 0.2276 0.00301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5" presetClass="emph" presetSubtype="0" repeatCount="3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1042 L 0.23906 0.01042 " pathEditMode="relative" rAng="0" ptsTypes="AA">
                                      <p:cBhvr>
                                        <p:cTn id="1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5" presetClass="emph" presetSubtype="0" repeatCount="3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5" presetClass="emph" presetSubtype="0" repeatCount="3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allAtOnce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4" grpId="1" animBg="1"/>
      <p:bldP spid="64" grpId="2" animBg="1"/>
      <p:bldP spid="64" grpId="3" animBg="1"/>
      <p:bldP spid="64" grpId="4" animBg="1"/>
      <p:bldP spid="64" grpId="5" animBg="1"/>
      <p:bldP spid="64" grpId="6" animBg="1"/>
      <p:bldP spid="64" grpId="7" animBg="1"/>
      <p:bldP spid="65" grpId="0" animBg="1"/>
      <p:bldP spid="65" grpId="1" animBg="1"/>
      <p:bldP spid="65" grpId="2" animBg="1"/>
      <p:bldP spid="65" grpId="3" animBg="1"/>
      <p:bldP spid="65" grpId="4" animBg="1"/>
      <p:bldP spid="65" grpId="5" animBg="1"/>
      <p:bldP spid="65" grpId="6" animBg="1"/>
      <p:bldP spid="65" grpId="7" animBg="1"/>
      <p:bldP spid="66" grpId="0"/>
      <p:bldP spid="67" grpId="0"/>
      <p:bldP spid="68" grpId="0"/>
      <p:bldP spid="69" grpId="0"/>
      <p:bldP spid="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788418"/>
            <a:ext cx="1932425" cy="1932425"/>
          </a:xfrm>
          <a:prstGeom prst="rect">
            <a:avLst/>
          </a:pr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387681" y="364940"/>
            <a:ext cx="7886700" cy="573728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750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Merge Sort 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ontent Placeholder 2"/>
              <p:cNvSpPr txBox="1">
                <a:spLocks/>
              </p:cNvSpPr>
              <p:nvPr/>
            </p:nvSpPr>
            <p:spPr>
              <a:xfrm>
                <a:off x="861938" y="1865069"/>
                <a:ext cx="7614397" cy="3273358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rmAutofit/>
              </a:bodyPr>
              <a:lstStyle>
                <a:lvl1pPr marL="0" indent="0" algn="ct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1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/>
                  <a:t>n = length(A)</a:t>
                </a:r>
              </a:p>
              <a:p>
                <a:pPr algn="l"/>
                <a:r>
                  <a:rPr lang="en-US" b="1" dirty="0"/>
                  <a:t>if</a:t>
                </a:r>
                <a:r>
                  <a:rPr lang="en-US" dirty="0"/>
                  <a:t> 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1:</a:t>
                </a:r>
              </a:p>
              <a:p>
                <a:pPr lvl="1" algn="l"/>
                <a:r>
                  <a:rPr lang="en-US" b="1" dirty="0"/>
                  <a:t>return</a:t>
                </a:r>
                <a:r>
                  <a:rPr lang="en-US" dirty="0"/>
                  <a:t> A</a:t>
                </a:r>
              </a:p>
              <a:p>
                <a:pPr algn="l"/>
                <a:r>
                  <a:rPr lang="en-US" dirty="0"/>
                  <a:t>L = </a:t>
                </a:r>
                <a:r>
                  <a:rPr lang="en-US" dirty="0">
                    <a:solidFill>
                      <a:srgbClr val="009999"/>
                    </a:solidFill>
                  </a:rPr>
                  <a:t>MERGESORT</a:t>
                </a:r>
                <a:r>
                  <a:rPr lang="en-US" dirty="0"/>
                  <a:t>(A[1 : n/2])</a:t>
                </a:r>
              </a:p>
              <a:p>
                <a:pPr algn="l"/>
                <a:r>
                  <a:rPr lang="en-US" dirty="0"/>
                  <a:t>R = </a:t>
                </a:r>
                <a:r>
                  <a:rPr lang="en-US" dirty="0">
                    <a:solidFill>
                      <a:srgbClr val="009999"/>
                    </a:solidFill>
                  </a:rPr>
                  <a:t>MERGESORT</a:t>
                </a:r>
                <a:r>
                  <a:rPr lang="en-US" dirty="0"/>
                  <a:t>(A[n/2+1 : n ])</a:t>
                </a:r>
              </a:p>
              <a:p>
                <a:pPr algn="l"/>
                <a:r>
                  <a:rPr lang="en-US" b="1" dirty="0"/>
                  <a:t>return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5"/>
                    </a:solidFill>
                  </a:rPr>
                  <a:t>MERGE</a:t>
                </a:r>
                <a:r>
                  <a:rPr lang="en-US" dirty="0"/>
                  <a:t>(L,R)</a:t>
                </a:r>
              </a:p>
            </p:txBody>
          </p:sp>
        </mc:Choice>
        <mc:Fallback xmlns="">
          <p:sp>
            <p:nvSpPr>
              <p:cNvPr id="7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38" y="1865069"/>
                <a:ext cx="7614397" cy="3273358"/>
              </a:xfrm>
              <a:prstGeom prst="rect">
                <a:avLst/>
              </a:prstGeom>
              <a:blipFill>
                <a:blip r:embed="rId4"/>
                <a:stretch>
                  <a:fillRect l="-1121" t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3"/>
          <p:cNvSpPr txBox="1"/>
          <p:nvPr/>
        </p:nvSpPr>
        <p:spPr>
          <a:xfrm>
            <a:off x="628650" y="1019720"/>
            <a:ext cx="2549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9999"/>
                </a:solidFill>
              </a:rPr>
              <a:t>MERGESORT</a:t>
            </a:r>
            <a:r>
              <a:rPr lang="en-US" sz="2800" dirty="0"/>
              <a:t>(A):</a:t>
            </a:r>
          </a:p>
        </p:txBody>
      </p:sp>
      <p:sp>
        <p:nvSpPr>
          <p:cNvPr id="74" name="Content Placeholder 2"/>
          <p:cNvSpPr txBox="1">
            <a:spLocks/>
          </p:cNvSpPr>
          <p:nvPr/>
        </p:nvSpPr>
        <p:spPr>
          <a:xfrm>
            <a:off x="861938" y="4904567"/>
            <a:ext cx="3391557" cy="1111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questions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Does this work?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Is it fast?</a:t>
            </a:r>
          </a:p>
        </p:txBody>
      </p:sp>
      <p:sp>
        <p:nvSpPr>
          <p:cNvPr id="75" name="TextBox 4"/>
          <p:cNvSpPr txBox="1"/>
          <p:nvPr/>
        </p:nvSpPr>
        <p:spPr>
          <a:xfrm>
            <a:off x="7632277" y="2126661"/>
            <a:ext cx="1992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</a:rPr>
              <a:t>If A has length 1,</a:t>
            </a:r>
          </a:p>
          <a:p>
            <a:pPr algn="l"/>
            <a:r>
              <a:rPr lang="en-US" dirty="0">
                <a:solidFill>
                  <a:schemeClr val="accent1"/>
                </a:solidFill>
              </a:rPr>
              <a:t>It is already sorted!</a:t>
            </a:r>
          </a:p>
        </p:txBody>
      </p:sp>
      <p:sp>
        <p:nvSpPr>
          <p:cNvPr id="76" name="TextBox 5"/>
          <p:cNvSpPr txBox="1"/>
          <p:nvPr/>
        </p:nvSpPr>
        <p:spPr>
          <a:xfrm>
            <a:off x="5573841" y="3617955"/>
            <a:ext cx="224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Sort the right half</a:t>
            </a:r>
          </a:p>
        </p:txBody>
      </p:sp>
      <p:sp>
        <p:nvSpPr>
          <p:cNvPr id="77" name="TextBox 6"/>
          <p:cNvSpPr txBox="1"/>
          <p:nvPr/>
        </p:nvSpPr>
        <p:spPr>
          <a:xfrm>
            <a:off x="5450059" y="3111160"/>
            <a:ext cx="224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Sort the left half</a:t>
            </a:r>
          </a:p>
        </p:txBody>
      </p:sp>
      <p:sp>
        <p:nvSpPr>
          <p:cNvPr id="78" name="TextBox 7"/>
          <p:cNvSpPr txBox="1"/>
          <p:nvPr/>
        </p:nvSpPr>
        <p:spPr>
          <a:xfrm>
            <a:off x="4595843" y="4053939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Merge the two halves</a:t>
            </a:r>
          </a:p>
        </p:txBody>
      </p:sp>
    </p:spTree>
    <p:extLst>
      <p:ext uri="{BB962C8B-B14F-4D97-AF65-F5344CB8AC3E}">
        <p14:creationId xmlns:p14="http://schemas.microsoft.com/office/powerpoint/2010/main" val="5785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  <p:bldP spid="75" grpId="0"/>
      <p:bldP spid="76" grpId="0"/>
      <p:bldP spid="77" grpId="0"/>
      <p:bldP spid="7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8017"/>
            <a:ext cx="1932425" cy="193242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-39174" y="45009"/>
            <a:ext cx="7886700" cy="847448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50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Schematic of recursive calls</a:t>
            </a:r>
          </a:p>
        </p:txBody>
      </p:sp>
      <p:grpSp>
        <p:nvGrpSpPr>
          <p:cNvPr id="15" name="Group 94"/>
          <p:cNvGrpSpPr/>
          <p:nvPr/>
        </p:nvGrpSpPr>
        <p:grpSpPr>
          <a:xfrm>
            <a:off x="1755224" y="4076075"/>
            <a:ext cx="7544910" cy="725081"/>
            <a:chOff x="779114" y="4076075"/>
            <a:chExt cx="7544910" cy="725081"/>
          </a:xfrm>
        </p:grpSpPr>
        <p:grpSp>
          <p:nvGrpSpPr>
            <p:cNvPr id="16" name="Group 21"/>
            <p:cNvGrpSpPr/>
            <p:nvPr/>
          </p:nvGrpSpPr>
          <p:grpSpPr>
            <a:xfrm>
              <a:off x="779114" y="4091783"/>
              <a:ext cx="1410402" cy="709373"/>
              <a:chOff x="779114" y="3893003"/>
              <a:chExt cx="1410402" cy="709373"/>
            </a:xfrm>
          </p:grpSpPr>
          <p:sp>
            <p:nvSpPr>
              <p:cNvPr id="26" name="Rectangle 4"/>
              <p:cNvSpPr/>
              <p:nvPr/>
            </p:nvSpPr>
            <p:spPr>
              <a:xfrm>
                <a:off x="1484315" y="3897175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6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13"/>
              <p:cNvSpPr/>
              <p:nvPr/>
            </p:nvSpPr>
            <p:spPr>
              <a:xfrm>
                <a:off x="779114" y="3893003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4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Group 22"/>
            <p:cNvGrpSpPr/>
            <p:nvPr/>
          </p:nvGrpSpPr>
          <p:grpSpPr>
            <a:xfrm>
              <a:off x="2621337" y="4076075"/>
              <a:ext cx="1410402" cy="705202"/>
              <a:chOff x="2621337" y="3877295"/>
              <a:chExt cx="1410402" cy="705202"/>
            </a:xfrm>
          </p:grpSpPr>
          <p:sp>
            <p:nvSpPr>
              <p:cNvPr id="24" name="Rectangle 14"/>
              <p:cNvSpPr/>
              <p:nvPr/>
            </p:nvSpPr>
            <p:spPr>
              <a:xfrm>
                <a:off x="2621337" y="3877296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3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16"/>
              <p:cNvSpPr/>
              <p:nvPr/>
            </p:nvSpPr>
            <p:spPr>
              <a:xfrm>
                <a:off x="3326538" y="3877295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8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Group 23"/>
            <p:cNvGrpSpPr/>
            <p:nvPr/>
          </p:nvGrpSpPr>
          <p:grpSpPr>
            <a:xfrm>
              <a:off x="4816160" y="4091783"/>
              <a:ext cx="1406102" cy="705201"/>
              <a:chOff x="4816160" y="3893003"/>
              <a:chExt cx="1406102" cy="705201"/>
            </a:xfrm>
          </p:grpSpPr>
          <p:sp>
            <p:nvSpPr>
              <p:cNvPr id="22" name="Rectangle 17"/>
              <p:cNvSpPr/>
              <p:nvPr/>
            </p:nvSpPr>
            <p:spPr>
              <a:xfrm>
                <a:off x="4816160" y="3893003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18"/>
              <p:cNvSpPr/>
              <p:nvPr/>
            </p:nvSpPr>
            <p:spPr>
              <a:xfrm>
                <a:off x="5517061" y="3893003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5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25"/>
            <p:cNvGrpSpPr/>
            <p:nvPr/>
          </p:nvGrpSpPr>
          <p:grpSpPr>
            <a:xfrm>
              <a:off x="6878419" y="4091783"/>
              <a:ext cx="1445605" cy="705201"/>
              <a:chOff x="6878419" y="3893003"/>
              <a:chExt cx="1445605" cy="705201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878419" y="3893003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7618823" y="3893003"/>
                <a:ext cx="705201" cy="705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7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Group 35"/>
          <p:cNvGrpSpPr/>
          <p:nvPr/>
        </p:nvGrpSpPr>
        <p:grpSpPr>
          <a:xfrm>
            <a:off x="6166021" y="2688756"/>
            <a:ext cx="2820074" cy="712577"/>
            <a:chOff x="5189911" y="2489976"/>
            <a:chExt cx="2820074" cy="712577"/>
          </a:xfrm>
        </p:grpSpPr>
        <p:sp>
          <p:nvSpPr>
            <p:cNvPr id="29" name="Rectangle 26"/>
            <p:cNvSpPr/>
            <p:nvPr/>
          </p:nvSpPr>
          <p:spPr>
            <a:xfrm>
              <a:off x="5189911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7"/>
            <p:cNvSpPr/>
            <p:nvPr/>
          </p:nvSpPr>
          <p:spPr>
            <a:xfrm>
              <a:off x="5905115" y="2489977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28"/>
            <p:cNvSpPr/>
            <p:nvPr/>
          </p:nvSpPr>
          <p:spPr>
            <a:xfrm>
              <a:off x="6599583" y="2489976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29"/>
            <p:cNvSpPr/>
            <p:nvPr/>
          </p:nvSpPr>
          <p:spPr>
            <a:xfrm>
              <a:off x="7304784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4"/>
          <p:cNvGrpSpPr/>
          <p:nvPr/>
        </p:nvGrpSpPr>
        <p:grpSpPr>
          <a:xfrm>
            <a:off x="2151907" y="2696132"/>
            <a:ext cx="2800196" cy="705201"/>
            <a:chOff x="1175797" y="2497352"/>
            <a:chExt cx="2800196" cy="705201"/>
          </a:xfrm>
        </p:grpSpPr>
        <p:sp>
          <p:nvSpPr>
            <p:cNvPr id="34" name="Rectangle 30"/>
            <p:cNvSpPr/>
            <p:nvPr/>
          </p:nvSpPr>
          <p:spPr>
            <a:xfrm>
              <a:off x="1175797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1"/>
            <p:cNvSpPr/>
            <p:nvPr/>
          </p:nvSpPr>
          <p:spPr>
            <a:xfrm>
              <a:off x="1893051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2"/>
            <p:cNvSpPr/>
            <p:nvPr/>
          </p:nvSpPr>
          <p:spPr>
            <a:xfrm>
              <a:off x="2575466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3"/>
            <p:cNvSpPr/>
            <p:nvPr/>
          </p:nvSpPr>
          <p:spPr>
            <a:xfrm>
              <a:off x="3270792" y="249735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Group 53"/>
          <p:cNvGrpSpPr/>
          <p:nvPr/>
        </p:nvGrpSpPr>
        <p:grpSpPr>
          <a:xfrm>
            <a:off x="2529822" y="1419768"/>
            <a:ext cx="5766649" cy="705201"/>
            <a:chOff x="1553712" y="1220988"/>
            <a:chExt cx="5766649" cy="705201"/>
          </a:xfrm>
        </p:grpSpPr>
        <p:grpSp>
          <p:nvGrpSpPr>
            <p:cNvPr id="39" name="Group 36"/>
            <p:cNvGrpSpPr/>
            <p:nvPr/>
          </p:nvGrpSpPr>
          <p:grpSpPr>
            <a:xfrm>
              <a:off x="1553712" y="1220988"/>
              <a:ext cx="5766649" cy="705201"/>
              <a:chOff x="1573619" y="3296093"/>
              <a:chExt cx="5766649" cy="70520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48" name="Rectangle 37"/>
              <p:cNvSpPr/>
              <p:nvPr/>
            </p:nvSpPr>
            <p:spPr>
              <a:xfrm>
                <a:off x="1573619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38"/>
              <p:cNvSpPr/>
              <p:nvPr/>
            </p:nvSpPr>
            <p:spPr>
              <a:xfrm>
                <a:off x="2303538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39"/>
              <p:cNvSpPr/>
              <p:nvPr/>
            </p:nvSpPr>
            <p:spPr>
              <a:xfrm>
                <a:off x="3012192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40"/>
              <p:cNvSpPr/>
              <p:nvPr/>
            </p:nvSpPr>
            <p:spPr>
              <a:xfrm>
                <a:off x="3738658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41"/>
              <p:cNvSpPr/>
              <p:nvPr/>
            </p:nvSpPr>
            <p:spPr>
              <a:xfrm>
                <a:off x="4470028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tangle 42"/>
              <p:cNvSpPr/>
              <p:nvPr/>
            </p:nvSpPr>
            <p:spPr>
              <a:xfrm>
                <a:off x="5178682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43"/>
              <p:cNvSpPr/>
              <p:nvPr/>
            </p:nvSpPr>
            <p:spPr>
              <a:xfrm>
                <a:off x="5908601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44"/>
              <p:cNvSpPr/>
              <p:nvPr/>
            </p:nvSpPr>
            <p:spPr>
              <a:xfrm>
                <a:off x="6635067" y="3296093"/>
                <a:ext cx="705201" cy="705201"/>
              </a:xfrm>
              <a:prstGeom prst="rect">
                <a:avLst/>
              </a:prstGeom>
              <a:grp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Rectangle 45"/>
            <p:cNvSpPr/>
            <p:nvPr/>
          </p:nvSpPr>
          <p:spPr>
            <a:xfrm>
              <a:off x="1554075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" name="Rectangle 46"/>
            <p:cNvSpPr/>
            <p:nvPr/>
          </p:nvSpPr>
          <p:spPr>
            <a:xfrm>
              <a:off x="2283631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>
                  <a:solidFill>
                    <a:schemeClr val="tx1"/>
                  </a:solidFill>
                </a:rPr>
                <a:t>2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7"/>
            <p:cNvSpPr/>
            <p:nvPr/>
          </p:nvSpPr>
          <p:spPr>
            <a:xfrm>
              <a:off x="2992285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3" name="Rectangle 48"/>
            <p:cNvSpPr/>
            <p:nvPr/>
          </p:nvSpPr>
          <p:spPr>
            <a:xfrm>
              <a:off x="3718751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4" name="Rectangle 49"/>
            <p:cNvSpPr/>
            <p:nvPr/>
          </p:nvSpPr>
          <p:spPr>
            <a:xfrm>
              <a:off x="4450121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" name="Rectangle 50"/>
            <p:cNvSpPr/>
            <p:nvPr/>
          </p:nvSpPr>
          <p:spPr>
            <a:xfrm>
              <a:off x="5158775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6" name="Rectangle 51"/>
            <p:cNvSpPr/>
            <p:nvPr/>
          </p:nvSpPr>
          <p:spPr>
            <a:xfrm>
              <a:off x="5888694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7" name="Rectangle 52"/>
            <p:cNvSpPr/>
            <p:nvPr/>
          </p:nvSpPr>
          <p:spPr>
            <a:xfrm>
              <a:off x="6615160" y="1220988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cxnSp>
        <p:nvCxnSpPr>
          <p:cNvPr id="56" name="Straight Arrow Connector 61"/>
          <p:cNvCxnSpPr>
            <a:endCxn id="31" idx="2"/>
          </p:cNvCxnSpPr>
          <p:nvPr/>
        </p:nvCxnSpPr>
        <p:spPr>
          <a:xfrm flipH="1" flipV="1">
            <a:off x="7928294" y="3393957"/>
            <a:ext cx="666639" cy="71415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62"/>
          <p:cNvCxnSpPr/>
          <p:nvPr/>
        </p:nvCxnSpPr>
        <p:spPr>
          <a:xfrm flipH="1" flipV="1">
            <a:off x="3928906" y="3369919"/>
            <a:ext cx="373742" cy="696591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63"/>
          <p:cNvCxnSpPr/>
          <p:nvPr/>
        </p:nvCxnSpPr>
        <p:spPr>
          <a:xfrm flipH="1" flipV="1">
            <a:off x="6166021" y="2140677"/>
            <a:ext cx="1073989" cy="497893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68"/>
          <p:cNvCxnSpPr/>
          <p:nvPr/>
        </p:nvCxnSpPr>
        <p:spPr>
          <a:xfrm flipV="1">
            <a:off x="3551576" y="2156386"/>
            <a:ext cx="1047926" cy="53018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71"/>
          <p:cNvCxnSpPr/>
          <p:nvPr/>
        </p:nvCxnSpPr>
        <p:spPr>
          <a:xfrm flipV="1">
            <a:off x="2460425" y="3401333"/>
            <a:ext cx="530432" cy="659034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81"/>
          <p:cNvCxnSpPr>
            <a:endCxn id="30" idx="2"/>
          </p:cNvCxnSpPr>
          <p:nvPr/>
        </p:nvCxnSpPr>
        <p:spPr>
          <a:xfrm flipV="1">
            <a:off x="6512508" y="3393958"/>
            <a:ext cx="721318" cy="705679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2" name="Group 93"/>
          <p:cNvGrpSpPr/>
          <p:nvPr/>
        </p:nvGrpSpPr>
        <p:grpSpPr>
          <a:xfrm>
            <a:off x="1698633" y="4827153"/>
            <a:ext cx="7533141" cy="744428"/>
            <a:chOff x="722523" y="4743006"/>
            <a:chExt cx="7533141" cy="744428"/>
          </a:xfrm>
        </p:grpSpPr>
        <p:cxnSp>
          <p:nvCxnSpPr>
            <p:cNvPr id="63" name="Straight Arrow Connector 55"/>
            <p:cNvCxnSpPr>
              <a:stCxn id="93" idx="0"/>
              <a:endCxn id="21" idx="2"/>
            </p:cNvCxnSpPr>
            <p:nvPr/>
          </p:nvCxnSpPr>
          <p:spPr>
            <a:xfrm flipH="1" flipV="1">
              <a:off x="7971424" y="4796984"/>
              <a:ext cx="284240" cy="6904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57"/>
            <p:cNvCxnSpPr/>
            <p:nvPr/>
          </p:nvCxnSpPr>
          <p:spPr>
            <a:xfrm flipH="1" flipV="1">
              <a:off x="5876291" y="4781276"/>
              <a:ext cx="284240" cy="6904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58"/>
            <p:cNvCxnSpPr/>
            <p:nvPr/>
          </p:nvCxnSpPr>
          <p:spPr>
            <a:xfrm flipH="1" flipV="1">
              <a:off x="3712397" y="4765568"/>
              <a:ext cx="284240" cy="6904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59"/>
            <p:cNvCxnSpPr/>
            <p:nvPr/>
          </p:nvCxnSpPr>
          <p:spPr>
            <a:xfrm flipH="1" flipV="1">
              <a:off x="1759454" y="4769372"/>
              <a:ext cx="197973" cy="65069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74"/>
            <p:cNvCxnSpPr/>
            <p:nvPr/>
          </p:nvCxnSpPr>
          <p:spPr>
            <a:xfrm flipV="1">
              <a:off x="779114" y="4744253"/>
              <a:ext cx="330031" cy="6904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76"/>
            <p:cNvCxnSpPr/>
            <p:nvPr/>
          </p:nvCxnSpPr>
          <p:spPr>
            <a:xfrm flipV="1">
              <a:off x="2920092" y="4789130"/>
              <a:ext cx="330031" cy="6904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77"/>
            <p:cNvCxnSpPr/>
            <p:nvPr/>
          </p:nvCxnSpPr>
          <p:spPr>
            <a:xfrm flipV="1">
              <a:off x="5107987" y="4743006"/>
              <a:ext cx="168459" cy="549796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79"/>
            <p:cNvCxnSpPr/>
            <p:nvPr/>
          </p:nvCxnSpPr>
          <p:spPr>
            <a:xfrm flipV="1">
              <a:off x="7210853" y="4813308"/>
              <a:ext cx="211504" cy="638783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83"/>
            <p:cNvSpPr txBox="1"/>
            <p:nvPr/>
          </p:nvSpPr>
          <p:spPr>
            <a:xfrm>
              <a:off x="7115246" y="4983720"/>
              <a:ext cx="1024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Merge!</a:t>
              </a:r>
            </a:p>
          </p:txBody>
        </p:sp>
        <p:sp>
          <p:nvSpPr>
            <p:cNvPr id="80" name="TextBox 84"/>
            <p:cNvSpPr txBox="1"/>
            <p:nvPr/>
          </p:nvSpPr>
          <p:spPr>
            <a:xfrm>
              <a:off x="4977092" y="4994651"/>
              <a:ext cx="1024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Merge!</a:t>
              </a:r>
            </a:p>
          </p:txBody>
        </p:sp>
        <p:sp>
          <p:nvSpPr>
            <p:cNvPr id="81" name="TextBox 85"/>
            <p:cNvSpPr txBox="1"/>
            <p:nvPr/>
          </p:nvSpPr>
          <p:spPr>
            <a:xfrm>
              <a:off x="2906388" y="5025405"/>
              <a:ext cx="1024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Merge!</a:t>
              </a:r>
            </a:p>
          </p:txBody>
        </p:sp>
        <p:sp>
          <p:nvSpPr>
            <p:cNvPr id="82" name="TextBox 86"/>
            <p:cNvSpPr txBox="1"/>
            <p:nvPr/>
          </p:nvSpPr>
          <p:spPr>
            <a:xfrm>
              <a:off x="722523" y="5010288"/>
              <a:ext cx="1075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Merge!</a:t>
              </a:r>
            </a:p>
          </p:txBody>
        </p:sp>
      </p:grpSp>
      <p:sp>
        <p:nvSpPr>
          <p:cNvPr id="83" name="TextBox 87"/>
          <p:cNvSpPr txBox="1"/>
          <p:nvPr/>
        </p:nvSpPr>
        <p:spPr>
          <a:xfrm>
            <a:off x="3031606" y="3565557"/>
            <a:ext cx="102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Merge!</a:t>
            </a:r>
          </a:p>
        </p:txBody>
      </p:sp>
      <p:sp>
        <p:nvSpPr>
          <p:cNvPr id="84" name="TextBox 88"/>
          <p:cNvSpPr txBox="1"/>
          <p:nvPr/>
        </p:nvSpPr>
        <p:spPr>
          <a:xfrm>
            <a:off x="7074104" y="3557964"/>
            <a:ext cx="102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Merge!</a:t>
            </a:r>
          </a:p>
        </p:txBody>
      </p:sp>
      <p:sp>
        <p:nvSpPr>
          <p:cNvPr id="85" name="TextBox 89"/>
          <p:cNvSpPr txBox="1"/>
          <p:nvPr/>
        </p:nvSpPr>
        <p:spPr>
          <a:xfrm>
            <a:off x="4929535" y="2200606"/>
            <a:ext cx="102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Merge!</a:t>
            </a:r>
          </a:p>
        </p:txBody>
      </p:sp>
      <p:grpSp>
        <p:nvGrpSpPr>
          <p:cNvPr id="86" name="Group 92"/>
          <p:cNvGrpSpPr/>
          <p:nvPr/>
        </p:nvGrpSpPr>
        <p:grpSpPr>
          <a:xfrm>
            <a:off x="1435782" y="5487434"/>
            <a:ext cx="8148592" cy="1185018"/>
            <a:chOff x="459672" y="5487434"/>
            <a:chExt cx="8148592" cy="1185018"/>
          </a:xfrm>
        </p:grpSpPr>
        <p:sp>
          <p:nvSpPr>
            <p:cNvPr id="87" name="Rectangle 5"/>
            <p:cNvSpPr/>
            <p:nvPr/>
          </p:nvSpPr>
          <p:spPr>
            <a:xfrm>
              <a:off x="1484315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6"/>
            <p:cNvSpPr/>
            <p:nvPr/>
          </p:nvSpPr>
          <p:spPr>
            <a:xfrm>
              <a:off x="2610413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7"/>
            <p:cNvSpPr/>
            <p:nvPr/>
          </p:nvSpPr>
          <p:spPr>
            <a:xfrm>
              <a:off x="3674812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"/>
            <p:cNvSpPr/>
            <p:nvPr/>
          </p:nvSpPr>
          <p:spPr>
            <a:xfrm>
              <a:off x="4783866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"/>
            <p:cNvSpPr/>
            <p:nvPr/>
          </p:nvSpPr>
          <p:spPr>
            <a:xfrm>
              <a:off x="5830446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10"/>
            <p:cNvSpPr/>
            <p:nvPr/>
          </p:nvSpPr>
          <p:spPr>
            <a:xfrm>
              <a:off x="6878420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11"/>
            <p:cNvSpPr/>
            <p:nvPr/>
          </p:nvSpPr>
          <p:spPr>
            <a:xfrm>
              <a:off x="7903063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12"/>
            <p:cNvSpPr/>
            <p:nvPr/>
          </p:nvSpPr>
          <p:spPr>
            <a:xfrm>
              <a:off x="459672" y="5487434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5" name="TextBox 90"/>
            <p:cNvSpPr txBox="1"/>
            <p:nvPr/>
          </p:nvSpPr>
          <p:spPr>
            <a:xfrm>
              <a:off x="3571845" y="6303120"/>
              <a:ext cx="1964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Original sequence</a:t>
              </a:r>
            </a:p>
          </p:txBody>
        </p:sp>
      </p:grpSp>
      <p:sp>
        <p:nvSpPr>
          <p:cNvPr id="96" name="TextBox 91"/>
          <p:cNvSpPr txBox="1"/>
          <p:nvPr/>
        </p:nvSpPr>
        <p:spPr>
          <a:xfrm>
            <a:off x="4522932" y="988313"/>
            <a:ext cx="1964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Sorted sequence!</a:t>
            </a:r>
          </a:p>
        </p:txBody>
      </p:sp>
    </p:spTree>
    <p:extLst>
      <p:ext uri="{BB962C8B-B14F-4D97-AF65-F5344CB8AC3E}">
        <p14:creationId xmlns:p14="http://schemas.microsoft.com/office/powerpoint/2010/main" val="220440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5" grpId="0"/>
      <p:bldP spid="9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8017"/>
            <a:ext cx="1932425" cy="1932425"/>
          </a:xfrm>
          <a:prstGeom prst="rect">
            <a:avLst/>
          </a:prstGeom>
        </p:spPr>
      </p:pic>
      <p:sp>
        <p:nvSpPr>
          <p:cNvPr id="104" name="Title 1"/>
          <p:cNvSpPr txBox="1">
            <a:spLocks/>
          </p:cNvSpPr>
          <p:nvPr/>
        </p:nvSpPr>
        <p:spPr>
          <a:xfrm>
            <a:off x="628650" y="106708"/>
            <a:ext cx="7886700" cy="907083"/>
          </a:xfrm>
          <a:prstGeom prst="rect">
            <a:avLst/>
          </a:prstGeom>
        </p:spPr>
        <p:txBody>
          <a:bodyPr vert="horz" lIns="91440" tIns="45720" rIns="91440" bIns="45720" rtlCol="1" anchor="b">
            <a:normAutofit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It works</a:t>
            </a:r>
          </a:p>
        </p:txBody>
      </p:sp>
      <p:sp>
        <p:nvSpPr>
          <p:cNvPr id="105" name="Content Placeholder 2"/>
          <p:cNvSpPr txBox="1">
            <a:spLocks/>
          </p:cNvSpPr>
          <p:nvPr/>
        </p:nvSpPr>
        <p:spPr>
          <a:xfrm>
            <a:off x="1021337" y="1235988"/>
            <a:ext cx="7886700" cy="1141534"/>
          </a:xfrm>
          <a:prstGeom prst="rect">
            <a:avLst/>
          </a:prstGeom>
        </p:spPr>
        <p:txBody>
          <a:bodyPr vert="horz" lIns="91440" tIns="45720" rIns="91440" bIns="45720" rtlCol="1">
            <a:normAutofit fontScale="85000" lnSpcReduction="2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Invariant: </a:t>
            </a:r>
          </a:p>
          <a:p>
            <a:pPr algn="l"/>
            <a:r>
              <a:rPr lang="en-US" sz="3000" dirty="0">
                <a:solidFill>
                  <a:schemeClr val="accent1"/>
                </a:solidFill>
              </a:rPr>
              <a:t>“In every recursive call, </a:t>
            </a:r>
          </a:p>
          <a:p>
            <a:pPr algn="l"/>
            <a:r>
              <a:rPr lang="en-US" sz="3000" dirty="0">
                <a:solidFill>
                  <a:schemeClr val="accent1"/>
                </a:solidFill>
              </a:rPr>
              <a:t>MERGESORT returns a sorted array.”</a:t>
            </a:r>
          </a:p>
          <a:p>
            <a:pPr algn="l"/>
            <a:endParaRPr lang="en-US" sz="18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ontent Placeholder 2"/>
              <p:cNvSpPr txBox="1">
                <a:spLocks/>
              </p:cNvSpPr>
              <p:nvPr/>
            </p:nvSpPr>
            <p:spPr>
              <a:xfrm>
                <a:off x="7341870" y="2259102"/>
                <a:ext cx="3566160" cy="2755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500" dirty="0"/>
              </a:p>
              <a:p>
                <a:r>
                  <a:rPr lang="en-US" sz="2000" dirty="0"/>
                  <a:t>n = length(A)</a:t>
                </a:r>
              </a:p>
              <a:p>
                <a:r>
                  <a:rPr lang="en-US" sz="2000" b="1" dirty="0"/>
                  <a:t>if</a:t>
                </a:r>
                <a:r>
                  <a:rPr lang="en-US" sz="2000" dirty="0"/>
                  <a:t> 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sz="2000" dirty="0"/>
                  <a:t> 1:</a:t>
                </a:r>
              </a:p>
              <a:p>
                <a:pPr lvl="1"/>
                <a:r>
                  <a:rPr lang="en-US" sz="1800" b="1" dirty="0"/>
                  <a:t>return</a:t>
                </a:r>
                <a:r>
                  <a:rPr lang="en-US" sz="1800" dirty="0"/>
                  <a:t> A</a:t>
                </a:r>
              </a:p>
              <a:p>
                <a:r>
                  <a:rPr lang="en-US" sz="2000" dirty="0"/>
                  <a:t>L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(A[1 : n/2])</a:t>
                </a:r>
              </a:p>
              <a:p>
                <a:r>
                  <a:rPr lang="en-US" sz="2000" dirty="0"/>
                  <a:t>R =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MERGESORT</a:t>
                </a:r>
                <a:r>
                  <a:rPr lang="en-US" sz="2000" dirty="0"/>
                  <a:t>(A[n/2+1 : n ])</a:t>
                </a:r>
              </a:p>
              <a:p>
                <a:r>
                  <a:rPr lang="en-US" sz="2000" b="1" dirty="0"/>
                  <a:t>return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MERGE</a:t>
                </a:r>
                <a:r>
                  <a:rPr lang="en-US" sz="2000" dirty="0"/>
                  <a:t>(L,R)</a:t>
                </a:r>
              </a:p>
            </p:txBody>
          </p:sp>
        </mc:Choice>
        <mc:Fallback xmlns="">
          <p:sp>
            <p:nvSpPr>
              <p:cNvPr id="10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870" y="2259102"/>
                <a:ext cx="3566160" cy="2755443"/>
              </a:xfrm>
              <a:prstGeom prst="rect">
                <a:avLst/>
              </a:prstGeom>
              <a:blipFill>
                <a:blip r:embed="rId4"/>
                <a:stretch>
                  <a:fillRect l="-1536" r="-1195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4"/>
          <p:cNvSpPr txBox="1"/>
          <p:nvPr/>
        </p:nvSpPr>
        <p:spPr>
          <a:xfrm>
            <a:off x="1217186" y="2573671"/>
            <a:ext cx="51424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l"/>
            <a:r>
              <a:rPr lang="en-US" sz="2400" dirty="0">
                <a:solidFill>
                  <a:schemeClr val="accent4"/>
                </a:solidFill>
              </a:rPr>
              <a:t>Base case (n=1): </a:t>
            </a:r>
            <a:r>
              <a:rPr lang="en-US" sz="2400" dirty="0"/>
              <a:t>a 1-element array is always sorted.</a:t>
            </a:r>
          </a:p>
          <a:p>
            <a:pPr lvl="1" algn="l"/>
            <a:r>
              <a:rPr lang="en-US" sz="2400" dirty="0">
                <a:solidFill>
                  <a:schemeClr val="accent4"/>
                </a:solidFill>
              </a:rPr>
              <a:t>Maintenance: </a:t>
            </a:r>
            <a:r>
              <a:rPr lang="en-US" sz="2400" dirty="0"/>
              <a:t>Suppose that L and R are sorted.  Then </a:t>
            </a:r>
            <a:r>
              <a:rPr lang="en-US" sz="2400" dirty="0">
                <a:solidFill>
                  <a:schemeClr val="accent5"/>
                </a:solidFill>
              </a:rPr>
              <a:t>MERGE</a:t>
            </a:r>
            <a:r>
              <a:rPr lang="en-US" sz="2400" dirty="0"/>
              <a:t>(L,R) is sorted.</a:t>
            </a:r>
          </a:p>
          <a:p>
            <a:pPr lvl="1" algn="l"/>
            <a:r>
              <a:rPr lang="en-US" sz="2400" dirty="0">
                <a:solidFill>
                  <a:schemeClr val="accent4"/>
                </a:solidFill>
              </a:rPr>
              <a:t>Termination: “</a:t>
            </a:r>
            <a:r>
              <a:rPr lang="en-US" sz="2400" dirty="0"/>
              <a:t>In the top recursive call, </a:t>
            </a:r>
            <a:r>
              <a:rPr lang="en-US" sz="2400" dirty="0">
                <a:solidFill>
                  <a:schemeClr val="accent1"/>
                </a:solidFill>
              </a:rPr>
              <a:t>MERGESORT</a:t>
            </a:r>
            <a:r>
              <a:rPr lang="en-US" sz="2400" dirty="0"/>
              <a:t> returns a sorted array.”</a:t>
            </a:r>
          </a:p>
        </p:txBody>
      </p:sp>
      <p:sp>
        <p:nvSpPr>
          <p:cNvPr id="108" name="TextBox 8"/>
          <p:cNvSpPr txBox="1"/>
          <p:nvPr/>
        </p:nvSpPr>
        <p:spPr>
          <a:xfrm>
            <a:off x="7504734" y="899672"/>
            <a:ext cx="3403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Not technically a “loop invariant,” but a ”recursion invariant,” that should hold at the beginning of every recursive call.</a:t>
            </a:r>
          </a:p>
        </p:txBody>
      </p:sp>
      <p:sp>
        <p:nvSpPr>
          <p:cNvPr id="110" name="Rectangle 1"/>
          <p:cNvSpPr>
            <a:spLocks noChangeArrowheads="1"/>
          </p:cNvSpPr>
          <p:nvPr/>
        </p:nvSpPr>
        <p:spPr bwMode="auto">
          <a:xfrm rot="10800000" flipV="1">
            <a:off x="3048541" y="5816808"/>
            <a:ext cx="673912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5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ystem-ui"/>
              </a:rPr>
              <a:t>Merge sort , on the other hand, runs in 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rgbClr val="D63384"/>
                </a:solidFill>
                <a:effectLst/>
                <a:latin typeface="var(--bs-font-monospace)"/>
              </a:rPr>
              <a:t>O(n*log n)</a:t>
            </a:r>
            <a:r>
              <a:rPr kumimoji="0" lang="en-US" altLang="ar-SA" b="0" i="0" u="none" strike="noStrike" cap="none" normalizeH="0" baseline="0" dirty="0">
                <a:ln>
                  <a:noFill/>
                </a:ln>
                <a:solidFill>
                  <a:srgbClr val="D63384"/>
                </a:solidFill>
                <a:effectLst/>
                <a:latin typeface="var(--bs-font-monospace)"/>
              </a:rPr>
              <a:t> </a:t>
            </a:r>
            <a:r>
              <a:rPr kumimoji="0" lang="ar-SA" altLang="ar-SA" sz="15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ystem-ui"/>
              </a:rPr>
              <a:t> time in all the cases</a:t>
            </a:r>
            <a:r>
              <a:rPr kumimoji="0" lang="ar-SA" altLang="ar-SA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07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uiExpand="1" build="p"/>
      <p:bldP spid="107" grpId="0" uiExpand="1" build="p"/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788414"/>
            <a:ext cx="1932425" cy="193242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14503" y="488"/>
            <a:ext cx="7886700" cy="1128073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n log(n) vs n</a:t>
            </a:r>
            <a:r>
              <a:rPr lang="en-US" baseline="30000">
                <a:solidFill>
                  <a:schemeClr val="accent5">
                    <a:lumMod val="75000"/>
                  </a:schemeClr>
                </a:solidFill>
              </a:rPr>
              <a:t>2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357928" y="1640501"/>
            <a:ext cx="7886700" cy="97721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accent4"/>
                </a:solidFill>
              </a:rPr>
              <a:t>log(n) </a:t>
            </a:r>
            <a:r>
              <a:rPr lang="en-US"/>
              <a:t>: how many times do you need to divide n by 2 in order to get down to 1?</a:t>
            </a:r>
            <a:endParaRPr 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1831365" y="2502191"/>
            <a:ext cx="1232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/>
              <a:t>32</a:t>
            </a:r>
          </a:p>
          <a:p>
            <a:pPr algn="l"/>
            <a:r>
              <a:rPr lang="en-US" sz="2800" dirty="0"/>
              <a:t>16</a:t>
            </a:r>
          </a:p>
          <a:p>
            <a:pPr algn="l"/>
            <a:r>
              <a:rPr lang="en-US" sz="2800" dirty="0"/>
              <a:t>8</a:t>
            </a:r>
          </a:p>
          <a:p>
            <a:pPr algn="l"/>
            <a:r>
              <a:rPr lang="en-US" sz="2800" dirty="0"/>
              <a:t>4</a:t>
            </a:r>
          </a:p>
          <a:p>
            <a:pPr algn="l"/>
            <a:r>
              <a:rPr lang="en-US" sz="2800" dirty="0"/>
              <a:t>2</a:t>
            </a:r>
          </a:p>
          <a:p>
            <a:pPr algn="l"/>
            <a:r>
              <a:rPr lang="en-US" sz="2800" dirty="0"/>
              <a:t>1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1354286" y="5741312"/>
            <a:ext cx="170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accent5"/>
                </a:solidFill>
              </a:rPr>
              <a:t>log(32) = 5</a:t>
            </a:r>
          </a:p>
        </p:txBody>
      </p:sp>
      <p:sp>
        <p:nvSpPr>
          <p:cNvPr id="12" name="TextBox 5"/>
          <p:cNvSpPr txBox="1"/>
          <p:nvPr/>
        </p:nvSpPr>
        <p:spPr>
          <a:xfrm rot="801974">
            <a:off x="7492722" y="497329"/>
            <a:ext cx="2159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accent4"/>
                </a:solidFill>
              </a:rPr>
              <a:t>All logarithms in this course are base 2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3911956" y="2502191"/>
            <a:ext cx="12324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/>
              <a:t>64</a:t>
            </a:r>
          </a:p>
          <a:p>
            <a:pPr algn="l"/>
            <a:r>
              <a:rPr lang="en-US" sz="2800" dirty="0"/>
              <a:t>32</a:t>
            </a:r>
          </a:p>
          <a:p>
            <a:pPr algn="l"/>
            <a:r>
              <a:rPr lang="en-US" sz="2800" dirty="0"/>
              <a:t>16</a:t>
            </a:r>
          </a:p>
          <a:p>
            <a:pPr algn="l"/>
            <a:r>
              <a:rPr lang="en-US" sz="2800" dirty="0"/>
              <a:t>8</a:t>
            </a:r>
          </a:p>
          <a:p>
            <a:pPr algn="l"/>
            <a:r>
              <a:rPr lang="en-US" sz="2800" dirty="0"/>
              <a:t>4</a:t>
            </a:r>
          </a:p>
          <a:p>
            <a:pPr algn="l"/>
            <a:r>
              <a:rPr lang="en-US" sz="2800" dirty="0"/>
              <a:t>2</a:t>
            </a:r>
          </a:p>
          <a:p>
            <a:pPr algn="l"/>
            <a:r>
              <a:rPr lang="en-US" sz="2800" dirty="0"/>
              <a:t>1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3519773" y="5741312"/>
            <a:ext cx="170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accent5"/>
                </a:solidFill>
              </a:rPr>
              <a:t>log(64) = 6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5917603" y="2632937"/>
            <a:ext cx="3534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accent5"/>
                </a:solidFill>
              </a:rPr>
              <a:t>log(128) = 7</a:t>
            </a:r>
          </a:p>
          <a:p>
            <a:pPr algn="l"/>
            <a:r>
              <a:rPr lang="en-US" sz="2400" dirty="0">
                <a:solidFill>
                  <a:schemeClr val="accent5"/>
                </a:solidFill>
              </a:rPr>
              <a:t>log(256) = 8 </a:t>
            </a:r>
          </a:p>
          <a:p>
            <a:pPr algn="l"/>
            <a:r>
              <a:rPr lang="en-US" sz="2400" dirty="0">
                <a:solidFill>
                  <a:schemeClr val="accent5"/>
                </a:solidFill>
              </a:rPr>
              <a:t>log(512) = 9</a:t>
            </a:r>
          </a:p>
          <a:p>
            <a:pPr algn="l"/>
            <a:r>
              <a:rPr lang="en-US" sz="2400" dirty="0">
                <a:solidFill>
                  <a:schemeClr val="accent5"/>
                </a:solidFill>
              </a:rPr>
              <a:t>.</a:t>
            </a:r>
          </a:p>
          <a:p>
            <a:pPr algn="l"/>
            <a:r>
              <a:rPr lang="en-US" sz="2400" dirty="0">
                <a:solidFill>
                  <a:schemeClr val="accent5"/>
                </a:solidFill>
              </a:rPr>
              <a:t>.</a:t>
            </a:r>
          </a:p>
          <a:p>
            <a:pPr algn="l"/>
            <a:r>
              <a:rPr lang="en-US" sz="2400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16" name="TextBox 9"/>
          <p:cNvSpPr txBox="1"/>
          <p:nvPr/>
        </p:nvSpPr>
        <p:spPr>
          <a:xfrm rot="992864">
            <a:off x="8169112" y="3556266"/>
            <a:ext cx="1952062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400" dirty="0" err="1">
                <a:solidFill>
                  <a:srgbClr val="FF0000"/>
                </a:solidFill>
              </a:rPr>
              <a:t>Note:log</a:t>
            </a:r>
            <a:r>
              <a:rPr lang="en-US" sz="2400" dirty="0">
                <a:solidFill>
                  <a:srgbClr val="FF0000"/>
                </a:solidFill>
              </a:rPr>
              <a:t>(n) grows very slowly with n.</a:t>
            </a:r>
          </a:p>
        </p:txBody>
      </p:sp>
    </p:spTree>
    <p:extLst>
      <p:ext uri="{BB962C8B-B14F-4D97-AF65-F5344CB8AC3E}">
        <p14:creationId xmlns:p14="http://schemas.microsoft.com/office/powerpoint/2010/main" val="4303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  <p:bldP spid="13" grpId="0"/>
      <p:bldP spid="14" grpId="0"/>
      <p:bldP spid="15" grpId="0" uiExpand="1" build="p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08012"/>
            <a:ext cx="1932425" cy="193242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525520" y="19594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b">
            <a:normAutofit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nlog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(n) </a:t>
            </a:r>
            <a:r>
              <a:rPr lang="en-US" dirty="0">
                <a:solidFill>
                  <a:srgbClr val="FF0000"/>
                </a:solidFill>
              </a:rPr>
              <a:t>vs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n</a:t>
            </a:r>
            <a:r>
              <a:rPr lang="en-US" baseline="30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3200" dirty="0">
                <a:solidFill>
                  <a:srgbClr val="009999"/>
                </a:solidFill>
              </a:rPr>
              <a:t>continued</a:t>
            </a:r>
            <a:endParaRPr lang="en-US" dirty="0">
              <a:solidFill>
                <a:srgbClr val="009999"/>
              </a:solidFill>
            </a:endParaRP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904462"/>
              </p:ext>
            </p:extLst>
          </p:nvPr>
        </p:nvGraphicFramePr>
        <p:xfrm>
          <a:off x="1546860" y="1662117"/>
          <a:ext cx="3385104" cy="3895101"/>
        </p:xfrm>
        <a:graphic>
          <a:graphicData uri="http://schemas.openxmlformats.org/drawingml/2006/table">
            <a:tbl>
              <a:tblPr firstRow="1" firstCol="1">
                <a:tableStyleId>{10A1B5D5-9B99-4C35-A422-299274C87663}</a:tableStyleId>
              </a:tblPr>
              <a:tblGrid>
                <a:gridCol w="112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n log(n)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n-US" b="1" baseline="30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is-IS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24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256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32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160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800" u="none" strike="noStrike">
                          <a:effectLst/>
                        </a:rPr>
                        <a:t>1024</a:t>
                      </a:r>
                      <a:endParaRPr lang="fi-FI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384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dirty="0">
                          <a:effectLst/>
                        </a:rPr>
                        <a:t>4096</a:t>
                      </a:r>
                      <a:endParaRPr lang="is-I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128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896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16384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256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2048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800" u="none" strike="noStrike" dirty="0">
                          <a:effectLst/>
                        </a:rPr>
                        <a:t>65536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512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4608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>
                          <a:effectLst/>
                        </a:rPr>
                        <a:t>262144</a:t>
                      </a:r>
                      <a:endParaRPr lang="is-IS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789">
                <a:tc>
                  <a:txBody>
                    <a:bodyPr/>
                    <a:lstStyle/>
                    <a:p>
                      <a:pPr algn="ctr" fontAlgn="b"/>
                      <a:r>
                        <a:rPr lang="fi-FI" sz="1800" u="none" strike="noStrike">
                          <a:effectLst/>
                        </a:rPr>
                        <a:t>1024</a:t>
                      </a:r>
                      <a:endParaRPr lang="fi-FI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800" u="none" strike="noStrike">
                          <a:effectLst/>
                        </a:rPr>
                        <a:t>10240</a:t>
                      </a:r>
                      <a:endParaRPr lang="fi-FI" sz="18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800" u="none" strike="noStrike" dirty="0">
                          <a:effectLst/>
                        </a:rPr>
                        <a:t>1048576</a:t>
                      </a:r>
                      <a:endParaRPr lang="is-I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6225661"/>
              </p:ext>
            </p:extLst>
          </p:nvPr>
        </p:nvGraphicFramePr>
        <p:xfrm>
          <a:off x="6361180" y="1609129"/>
          <a:ext cx="4023094" cy="4883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85105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4548"/>
            <a:ext cx="1932425" cy="193242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70279" y="298280"/>
            <a:ext cx="7886700" cy="797839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Merge Sort Analysis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89863" y="2261993"/>
            <a:ext cx="7172271" cy="488859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10000"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T(n) = T(n/2) + T(n/2) + T(MERGE)</a:t>
            </a:r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</p:txBody>
      </p:sp>
      <p:sp>
        <p:nvSpPr>
          <p:cNvPr id="9" name="TextBox 6"/>
          <p:cNvSpPr txBox="1"/>
          <p:nvPr/>
        </p:nvSpPr>
        <p:spPr>
          <a:xfrm>
            <a:off x="1145962" y="3194332"/>
            <a:ext cx="9265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/>
              <a:t>We will see later how to analyze </a:t>
            </a:r>
            <a:r>
              <a:rPr lang="en-US" sz="3600" dirty="0">
                <a:solidFill>
                  <a:schemeClr val="accent1"/>
                </a:solidFill>
              </a:rPr>
              <a:t>recurrence relations </a:t>
            </a:r>
            <a:r>
              <a:rPr lang="en-US" sz="3600" dirty="0"/>
              <a:t>like these automagically</a:t>
            </a:r>
            <a:r>
              <a:rPr lang="mr-IN" sz="3600" dirty="0"/>
              <a:t>…</a:t>
            </a:r>
            <a:r>
              <a:rPr lang="en-US" sz="3600" dirty="0"/>
              <a:t>but today we’ll do it from first principles.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1044986" y="1591227"/>
            <a:ext cx="8594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009999"/>
                </a:solidFill>
              </a:rPr>
              <a:t>T(n) = time to run  MERGESORT on a list of size n</a:t>
            </a:r>
          </a:p>
        </p:txBody>
      </p:sp>
    </p:spTree>
    <p:extLst>
      <p:ext uri="{BB962C8B-B14F-4D97-AF65-F5344CB8AC3E}">
        <p14:creationId xmlns:p14="http://schemas.microsoft.com/office/powerpoint/2010/main" val="294358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z="1600" smtClean="0">
                <a:solidFill>
                  <a:schemeClr val="tx1"/>
                </a:solidFill>
              </a:rPr>
              <a:t>19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788410"/>
            <a:ext cx="1932425" cy="1932425"/>
          </a:xfrm>
          <a:prstGeom prst="rect">
            <a:avLst/>
          </a:prstGeom>
        </p:spPr>
      </p:pic>
      <p:sp>
        <p:nvSpPr>
          <p:cNvPr id="7" name="TextBox 73"/>
          <p:cNvSpPr txBox="1"/>
          <p:nvPr/>
        </p:nvSpPr>
        <p:spPr>
          <a:xfrm>
            <a:off x="5228930" y="325186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7047" y="-68552"/>
            <a:ext cx="6185487" cy="700703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8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Analysis of Recursion tree of merge sort</a:t>
            </a:r>
          </a:p>
        </p:txBody>
      </p:sp>
      <p:sp>
        <p:nvSpPr>
          <p:cNvPr id="9" name="Oval 4"/>
          <p:cNvSpPr/>
          <p:nvPr/>
        </p:nvSpPr>
        <p:spPr>
          <a:xfrm>
            <a:off x="1846734" y="1035148"/>
            <a:ext cx="1590671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 n</a:t>
            </a:r>
          </a:p>
        </p:txBody>
      </p:sp>
      <p:sp>
        <p:nvSpPr>
          <p:cNvPr id="10" name="Oval 7"/>
          <p:cNvSpPr/>
          <p:nvPr/>
        </p:nvSpPr>
        <p:spPr>
          <a:xfrm>
            <a:off x="2836486" y="1956702"/>
            <a:ext cx="1249790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endParaRPr lang="en-US" dirty="0"/>
          </a:p>
        </p:txBody>
      </p:sp>
      <p:sp>
        <p:nvSpPr>
          <p:cNvPr id="12" name="Oval 8"/>
          <p:cNvSpPr/>
          <p:nvPr/>
        </p:nvSpPr>
        <p:spPr>
          <a:xfrm>
            <a:off x="1323176" y="1956702"/>
            <a:ext cx="1133899" cy="47808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</a:p>
        </p:txBody>
      </p:sp>
      <p:sp>
        <p:nvSpPr>
          <p:cNvPr id="13" name="Oval 10"/>
          <p:cNvSpPr/>
          <p:nvPr/>
        </p:nvSpPr>
        <p:spPr>
          <a:xfrm>
            <a:off x="3781475" y="2711465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14" name="Oval 16"/>
          <p:cNvSpPr/>
          <p:nvPr/>
        </p:nvSpPr>
        <p:spPr>
          <a:xfrm>
            <a:off x="4518481" y="583396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Oval 17"/>
          <p:cNvSpPr/>
          <p:nvPr/>
        </p:nvSpPr>
        <p:spPr>
          <a:xfrm>
            <a:off x="4109776" y="566792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6" name="Oval 18"/>
          <p:cNvSpPr/>
          <p:nvPr/>
        </p:nvSpPr>
        <p:spPr>
          <a:xfrm>
            <a:off x="3721841" y="587531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7" name="Oval 19"/>
          <p:cNvSpPr/>
          <p:nvPr/>
        </p:nvSpPr>
        <p:spPr>
          <a:xfrm>
            <a:off x="3383155" y="5667929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Oval 20"/>
          <p:cNvSpPr/>
          <p:nvPr/>
        </p:nvSpPr>
        <p:spPr>
          <a:xfrm>
            <a:off x="2974450" y="587531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Oval 21"/>
          <p:cNvSpPr/>
          <p:nvPr/>
        </p:nvSpPr>
        <p:spPr>
          <a:xfrm>
            <a:off x="2567911" y="569007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Oval 22"/>
          <p:cNvSpPr/>
          <p:nvPr/>
        </p:nvSpPr>
        <p:spPr>
          <a:xfrm>
            <a:off x="2152274" y="5875312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Oval 23"/>
          <p:cNvSpPr/>
          <p:nvPr/>
        </p:nvSpPr>
        <p:spPr>
          <a:xfrm>
            <a:off x="1736637" y="5690076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Oval 24"/>
          <p:cNvSpPr/>
          <p:nvPr/>
        </p:nvSpPr>
        <p:spPr>
          <a:xfrm>
            <a:off x="1323176" y="583396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Oval 25"/>
          <p:cNvSpPr/>
          <p:nvPr/>
        </p:nvSpPr>
        <p:spPr>
          <a:xfrm>
            <a:off x="936528" y="5640005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7"/>
          <p:cNvSpPr/>
          <p:nvPr/>
        </p:nvSpPr>
        <p:spPr>
          <a:xfrm>
            <a:off x="601010" y="5814543"/>
            <a:ext cx="304801" cy="248946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TextBox 31"/>
          <p:cNvSpPr txBox="1"/>
          <p:nvPr/>
        </p:nvSpPr>
        <p:spPr>
          <a:xfrm>
            <a:off x="703553" y="6082911"/>
            <a:ext cx="1075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(Size 1)</a:t>
            </a:r>
          </a:p>
        </p:txBody>
      </p:sp>
      <p:sp>
        <p:nvSpPr>
          <p:cNvPr id="26" name="TextBox 33"/>
          <p:cNvSpPr txBox="1"/>
          <p:nvPr/>
        </p:nvSpPr>
        <p:spPr>
          <a:xfrm>
            <a:off x="2516710" y="469849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27" name="Oval 34"/>
          <p:cNvSpPr/>
          <p:nvPr/>
        </p:nvSpPr>
        <p:spPr>
          <a:xfrm>
            <a:off x="2715762" y="2743940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8" name="Oval 35"/>
          <p:cNvSpPr/>
          <p:nvPr/>
        </p:nvSpPr>
        <p:spPr>
          <a:xfrm>
            <a:off x="1627977" y="2762964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29" name="Oval 36"/>
          <p:cNvSpPr/>
          <p:nvPr/>
        </p:nvSpPr>
        <p:spPr>
          <a:xfrm>
            <a:off x="601010" y="2762964"/>
            <a:ext cx="796640" cy="56575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n/4</a:t>
            </a:r>
            <a:endParaRPr lang="en-US" dirty="0"/>
          </a:p>
        </p:txBody>
      </p:sp>
      <p:sp>
        <p:nvSpPr>
          <p:cNvPr id="30" name="Oval 38"/>
          <p:cNvSpPr/>
          <p:nvPr/>
        </p:nvSpPr>
        <p:spPr>
          <a:xfrm>
            <a:off x="4103431" y="4236711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1" name="Oval 37"/>
          <p:cNvSpPr/>
          <p:nvPr/>
        </p:nvSpPr>
        <p:spPr>
          <a:xfrm>
            <a:off x="3319007" y="425392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2" name="Oval 39"/>
          <p:cNvSpPr/>
          <p:nvPr/>
        </p:nvSpPr>
        <p:spPr>
          <a:xfrm>
            <a:off x="2601285" y="4253923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3" name="Oval 40"/>
          <p:cNvSpPr/>
          <p:nvPr/>
        </p:nvSpPr>
        <p:spPr>
          <a:xfrm>
            <a:off x="1873978" y="4255902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4" name="Oval 41"/>
          <p:cNvSpPr/>
          <p:nvPr/>
        </p:nvSpPr>
        <p:spPr>
          <a:xfrm>
            <a:off x="1098541" y="4274857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5" name="Oval 42"/>
          <p:cNvSpPr/>
          <p:nvPr/>
        </p:nvSpPr>
        <p:spPr>
          <a:xfrm>
            <a:off x="393386" y="4302186"/>
            <a:ext cx="970753" cy="56575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n/2</a:t>
            </a:r>
            <a:r>
              <a:rPr lang="en-US" baseline="30000"/>
              <a:t>t</a:t>
            </a:r>
            <a:endParaRPr lang="en-US" dirty="0"/>
          </a:p>
        </p:txBody>
      </p:sp>
      <p:sp>
        <p:nvSpPr>
          <p:cNvPr id="36" name="TextBox 44"/>
          <p:cNvSpPr txBox="1"/>
          <p:nvPr/>
        </p:nvSpPr>
        <p:spPr>
          <a:xfrm>
            <a:off x="2370933" y="3121486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p:sp>
        <p:nvSpPr>
          <p:cNvPr id="37" name="TextBox 47"/>
          <p:cNvSpPr txBox="1"/>
          <p:nvPr/>
        </p:nvSpPr>
        <p:spPr>
          <a:xfrm>
            <a:off x="5037928" y="665816"/>
            <a:ext cx="719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Level</a:t>
            </a:r>
          </a:p>
        </p:txBody>
      </p:sp>
      <p:sp>
        <p:nvSpPr>
          <p:cNvPr id="38" name="TextBox 48"/>
          <p:cNvSpPr txBox="1"/>
          <p:nvPr/>
        </p:nvSpPr>
        <p:spPr>
          <a:xfrm>
            <a:off x="8011090" y="142596"/>
            <a:ext cx="1885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Amount of work </a:t>
            </a:r>
            <a:r>
              <a:rPr lang="en-US" dirty="0">
                <a:solidFill>
                  <a:sysClr val="windowText" lastClr="000000"/>
                </a:solidFill>
              </a:rPr>
              <a:t>at this level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(just </a:t>
            </a:r>
            <a:r>
              <a:rPr lang="en-US" dirty="0" err="1">
                <a:solidFill>
                  <a:schemeClr val="accent1"/>
                </a:solidFill>
              </a:rPr>
              <a:t>MERGE</a:t>
            </a:r>
            <a:r>
              <a:rPr lang="en-US" dirty="0" err="1">
                <a:solidFill>
                  <a:sysClr val="windowText" lastClr="000000"/>
                </a:solidFill>
              </a:rPr>
              <a:t>ing</a:t>
            </a:r>
            <a:r>
              <a:rPr lang="en-US" dirty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39" name="Straight Connector 52"/>
          <p:cNvCxnSpPr/>
          <p:nvPr/>
        </p:nvCxnSpPr>
        <p:spPr>
          <a:xfrm>
            <a:off x="4474211" y="1065926"/>
            <a:ext cx="53093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4"/>
          <p:cNvCxnSpPr/>
          <p:nvPr/>
        </p:nvCxnSpPr>
        <p:spPr>
          <a:xfrm>
            <a:off x="6940949" y="51172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5"/>
          <p:cNvSpPr txBox="1"/>
          <p:nvPr/>
        </p:nvSpPr>
        <p:spPr>
          <a:xfrm>
            <a:off x="5412914" y="12205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0</a:t>
            </a:r>
          </a:p>
        </p:txBody>
      </p:sp>
      <p:sp>
        <p:nvSpPr>
          <p:cNvPr id="42" name="TextBox 56"/>
          <p:cNvSpPr txBox="1"/>
          <p:nvPr/>
        </p:nvSpPr>
        <p:spPr>
          <a:xfrm>
            <a:off x="5924905" y="419595"/>
            <a:ext cx="1069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# </a:t>
            </a:r>
          </a:p>
          <a:p>
            <a:pPr algn="ctr"/>
            <a:r>
              <a:rPr lang="en-US" dirty="0"/>
              <a:t>problems</a:t>
            </a:r>
          </a:p>
        </p:txBody>
      </p:sp>
      <p:cxnSp>
        <p:nvCxnSpPr>
          <p:cNvPr id="43" name="Straight Connector 58"/>
          <p:cNvCxnSpPr/>
          <p:nvPr/>
        </p:nvCxnSpPr>
        <p:spPr>
          <a:xfrm>
            <a:off x="5936772" y="602014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59"/>
          <p:cNvSpPr txBox="1"/>
          <p:nvPr/>
        </p:nvSpPr>
        <p:spPr>
          <a:xfrm>
            <a:off x="5393922" y="206940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45" name="TextBox 60"/>
          <p:cNvSpPr txBox="1"/>
          <p:nvPr/>
        </p:nvSpPr>
        <p:spPr>
          <a:xfrm>
            <a:off x="5406794" y="2749930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46" name="TextBox 61"/>
          <p:cNvSpPr txBox="1"/>
          <p:nvPr/>
        </p:nvSpPr>
        <p:spPr>
          <a:xfrm>
            <a:off x="5404400" y="4340764"/>
            <a:ext cx="389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</a:t>
            </a:r>
          </a:p>
        </p:txBody>
      </p:sp>
      <p:sp>
        <p:nvSpPr>
          <p:cNvPr id="47" name="TextBox 62"/>
          <p:cNvSpPr txBox="1"/>
          <p:nvPr/>
        </p:nvSpPr>
        <p:spPr>
          <a:xfrm>
            <a:off x="4976457" y="5652696"/>
            <a:ext cx="111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log(n)</a:t>
            </a:r>
          </a:p>
        </p:txBody>
      </p:sp>
      <p:sp>
        <p:nvSpPr>
          <p:cNvPr id="48" name="TextBox 63"/>
          <p:cNvSpPr txBox="1"/>
          <p:nvPr/>
        </p:nvSpPr>
        <p:spPr>
          <a:xfrm>
            <a:off x="6207610" y="1220558"/>
            <a:ext cx="7333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  <a:p>
            <a:endParaRPr lang="en-US" sz="2800" dirty="0"/>
          </a:p>
          <a:p>
            <a:r>
              <a:rPr lang="en-US" sz="2800" dirty="0"/>
              <a:t>2</a:t>
            </a:r>
          </a:p>
          <a:p>
            <a:endParaRPr lang="en-US" sz="1600" dirty="0"/>
          </a:p>
          <a:p>
            <a:r>
              <a:rPr lang="en-US" sz="2800" dirty="0"/>
              <a:t>4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2</a:t>
            </a:r>
            <a:r>
              <a:rPr lang="en-US" sz="2800" baseline="30000" dirty="0"/>
              <a:t>t</a:t>
            </a:r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r>
              <a:rPr lang="en-US" sz="2800" dirty="0"/>
              <a:t>n</a:t>
            </a:r>
          </a:p>
        </p:txBody>
      </p:sp>
      <p:sp>
        <p:nvSpPr>
          <p:cNvPr id="49" name="TextBox 64"/>
          <p:cNvSpPr txBox="1"/>
          <p:nvPr/>
        </p:nvSpPr>
        <p:spPr>
          <a:xfrm>
            <a:off x="7012901" y="169793"/>
            <a:ext cx="1016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Size of each</a:t>
            </a:r>
          </a:p>
          <a:p>
            <a:pPr algn="ctr"/>
            <a:r>
              <a:rPr lang="en-US" dirty="0"/>
              <a:t>problem</a:t>
            </a:r>
          </a:p>
        </p:txBody>
      </p:sp>
      <p:sp>
        <p:nvSpPr>
          <p:cNvPr id="50" name="TextBox 66"/>
          <p:cNvSpPr txBox="1"/>
          <p:nvPr/>
        </p:nvSpPr>
        <p:spPr>
          <a:xfrm>
            <a:off x="7237251" y="1207582"/>
            <a:ext cx="92717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</a:t>
            </a:r>
          </a:p>
          <a:p>
            <a:endParaRPr lang="en-US" sz="2800" dirty="0"/>
          </a:p>
          <a:p>
            <a:r>
              <a:rPr lang="en-US" sz="2800" dirty="0"/>
              <a:t>n/2</a:t>
            </a:r>
          </a:p>
          <a:p>
            <a:endParaRPr lang="en-US" sz="1600" dirty="0"/>
          </a:p>
          <a:p>
            <a:r>
              <a:rPr lang="en-US" sz="2800" dirty="0"/>
              <a:t>n/4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n/2</a:t>
            </a:r>
            <a:r>
              <a:rPr lang="en-US" sz="2800" baseline="30000" dirty="0"/>
              <a:t>t</a:t>
            </a:r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r>
              <a:rPr lang="en-US" sz="2800" dirty="0"/>
              <a:t>1</a:t>
            </a:r>
          </a:p>
        </p:txBody>
      </p:sp>
      <p:cxnSp>
        <p:nvCxnSpPr>
          <p:cNvPr id="51" name="Straight Connector 67"/>
          <p:cNvCxnSpPr/>
          <p:nvPr/>
        </p:nvCxnSpPr>
        <p:spPr>
          <a:xfrm>
            <a:off x="8118046" y="537682"/>
            <a:ext cx="0" cy="6079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68"/>
          <p:cNvSpPr txBox="1"/>
          <p:nvPr/>
        </p:nvSpPr>
        <p:spPr>
          <a:xfrm>
            <a:off x="8419984" y="1199462"/>
            <a:ext cx="92717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6n</a:t>
            </a:r>
          </a:p>
          <a:p>
            <a:endParaRPr lang="en-US" sz="2800" dirty="0"/>
          </a:p>
          <a:p>
            <a:r>
              <a:rPr lang="en-US" sz="2800" dirty="0"/>
              <a:t>6n</a:t>
            </a:r>
          </a:p>
          <a:p>
            <a:endParaRPr lang="en-US" sz="1600" dirty="0"/>
          </a:p>
          <a:p>
            <a:r>
              <a:rPr lang="en-US" sz="2800" dirty="0"/>
              <a:t>6n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400" dirty="0"/>
          </a:p>
          <a:p>
            <a:r>
              <a:rPr lang="en-US" sz="2800" dirty="0"/>
              <a:t>6n</a:t>
            </a:r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endParaRPr lang="en-US" sz="2800" baseline="30000" dirty="0"/>
          </a:p>
          <a:p>
            <a:r>
              <a:rPr lang="en-US" sz="2800" dirty="0"/>
              <a:t>6n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Snip Diagonal Corner Rectangle 70"/>
              <p:cNvSpPr/>
              <p:nvPr/>
            </p:nvSpPr>
            <p:spPr>
              <a:xfrm>
                <a:off x="5007482" y="3277222"/>
                <a:ext cx="4740313" cy="1066546"/>
              </a:xfrm>
              <a:prstGeom prst="snip2DiagRect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762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Amount of work at a level: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(number of problems 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6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(size of problem)</a:t>
                </a:r>
              </a:p>
            </p:txBody>
          </p:sp>
        </mc:Choice>
        <mc:Fallback xmlns="">
          <p:sp>
            <p:nvSpPr>
              <p:cNvPr id="53" name="Snip Diagonal Corner 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82" y="3277222"/>
                <a:ext cx="4740313" cy="1066546"/>
              </a:xfrm>
              <a:prstGeom prst="snip2Diag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762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72"/>
          <p:cNvSpPr txBox="1"/>
          <p:nvPr/>
        </p:nvSpPr>
        <p:spPr>
          <a:xfrm>
            <a:off x="5252832" y="4793405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7435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1" grpId="0"/>
      <p:bldP spid="42" grpId="0"/>
      <p:bldP spid="44" grpId="0"/>
      <p:bldP spid="45" grpId="0"/>
      <p:bldP spid="46" grpId="0"/>
      <p:bldP spid="47" grpId="0"/>
      <p:bldP spid="48" grpId="0" uiExpand="1" build="p"/>
      <p:bldP spid="49" grpId="0"/>
      <p:bldP spid="50" grpId="0" uiExpand="1" build="p"/>
      <p:bldP spid="52" grpId="0" uiExpand="1" build="p"/>
      <p:bldP spid="53" grpId="0" animBg="1"/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4548"/>
            <a:ext cx="1932425" cy="193242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70279" y="298280"/>
            <a:ext cx="7886700" cy="797839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92500" lnSpcReduction="1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Quick Sort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463461" y="1897283"/>
            <a:ext cx="9265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/>
              <a:t>- What is the main Idea in quick sort algorithm ?</a:t>
            </a:r>
          </a:p>
          <a:p>
            <a:pPr algn="l"/>
            <a:r>
              <a:rPr lang="en-US" sz="3600" dirty="0"/>
              <a:t>- What is the difference between quicksort and merge sort.</a:t>
            </a:r>
          </a:p>
        </p:txBody>
      </p:sp>
    </p:spTree>
    <p:extLst>
      <p:ext uri="{BB962C8B-B14F-4D97-AF65-F5344CB8AC3E}">
        <p14:creationId xmlns:p14="http://schemas.microsoft.com/office/powerpoint/2010/main" val="70380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0" y="779768"/>
            <a:ext cx="10058400" cy="5271167"/>
          </a:xfrm>
          <a:prstGeom prst="rect">
            <a:avLst/>
          </a:prstGeom>
        </p:spPr>
      </p:pic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4548"/>
            <a:ext cx="1932425" cy="19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>
          <a:xfrm>
            <a:off x="9364980" y="6492875"/>
            <a:ext cx="2743200" cy="365125"/>
          </a:xfrm>
        </p:spPr>
        <p:txBody>
          <a:bodyPr/>
          <a:lstStyle/>
          <a:p>
            <a:fld id="{A67E4C29-5F75-4D5F-AFDB-091D1B9C0AE3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مستطيل 3"/>
          <p:cNvSpPr/>
          <p:nvPr/>
        </p:nvSpPr>
        <p:spPr>
          <a:xfrm>
            <a:off x="9707880" y="49004"/>
            <a:ext cx="2400300" cy="552976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-510540" y="6492875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CS315 Algorithms Analysis and Design</a:t>
            </a: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040" y="4818985"/>
            <a:ext cx="1932425" cy="1932425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52483" y="4446910"/>
            <a:ext cx="11646913" cy="68580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The End ..</a:t>
            </a:r>
          </a:p>
          <a:p>
            <a:endParaRPr lang="en-US" alt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This lecture was from</a:t>
            </a:r>
          </a:p>
          <a:p>
            <a:endParaRPr lang="en-US" alt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ar-SA" sz="2800" b="1" dirty="0">
                <a:solidFill>
                  <a:srgbClr val="009999"/>
                </a:solidFill>
              </a:rPr>
              <a:t>Algorithm Design: Foundations, Analysis, and Internet Examples</a:t>
            </a:r>
          </a:p>
          <a:p>
            <a:r>
              <a:rPr lang="en-US" altLang="ar-SA" sz="2800" dirty="0">
                <a:solidFill>
                  <a:srgbClr val="009999"/>
                </a:solidFill>
              </a:rPr>
              <a:t>By Michael T. Goodrich, Roberto </a:t>
            </a:r>
            <a:r>
              <a:rPr lang="en-US" altLang="ar-SA" sz="2800" dirty="0" err="1">
                <a:solidFill>
                  <a:srgbClr val="009999"/>
                </a:solidFill>
              </a:rPr>
              <a:t>Tamassia</a:t>
            </a:r>
            <a:endParaRPr lang="en-US" altLang="ar-SA" sz="2800" dirty="0">
              <a:solidFill>
                <a:srgbClr val="009999"/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 chapter 5.2</a:t>
            </a:r>
          </a:p>
          <a:p>
            <a:r>
              <a:rPr lang="ar-SA" altLang="ar-SA" sz="2800" b="1">
                <a:solidFill>
                  <a:srgbClr val="009999"/>
                </a:solidFill>
              </a:rPr>
              <a:t> </a:t>
            </a:r>
            <a:endParaRPr lang="ar-SA" altLang="ar-SA" sz="2800" b="1" dirty="0">
              <a:solidFill>
                <a:srgbClr val="009999"/>
              </a:solidFill>
            </a:endParaRPr>
          </a:p>
          <a:p>
            <a:r>
              <a:rPr lang="en-US" sz="2800" b="1" dirty="0">
                <a:solidFill>
                  <a:srgbClr val="009999"/>
                </a:solidFill>
              </a:rPr>
              <a:t>Introduction to Algorithms, fourth edition Hardcover – 5 April 2022</a:t>
            </a:r>
          </a:p>
          <a:p>
            <a:r>
              <a:rPr lang="en-US" sz="2800" b="1" dirty="0">
                <a:solidFill>
                  <a:srgbClr val="009999"/>
                </a:solidFill>
              </a:rPr>
              <a:t>by </a:t>
            </a:r>
            <a:r>
              <a:rPr lang="en-US" sz="2800" b="1" dirty="0">
                <a:solidFill>
                  <a:srgbClr val="009999"/>
                </a:solidFill>
                <a:hlinkClick r:id="rId4"/>
              </a:rPr>
              <a:t>Thomas H. </a:t>
            </a:r>
            <a:r>
              <a:rPr lang="en-US" sz="2800" b="1" dirty="0" err="1">
                <a:solidFill>
                  <a:srgbClr val="009999"/>
                </a:solidFill>
                <a:hlinkClick r:id="rId4"/>
              </a:rPr>
              <a:t>Cormen</a:t>
            </a:r>
            <a:endParaRPr lang="en-US" sz="2800" b="1" dirty="0">
              <a:solidFill>
                <a:srgbClr val="009999"/>
              </a:solidFill>
            </a:endParaRPr>
          </a:p>
          <a:p>
            <a:endParaRPr lang="en-US" altLang="ar-SA" sz="2800" b="1" dirty="0">
              <a:solidFill>
                <a:srgbClr val="009999"/>
              </a:solidFill>
            </a:endParaRPr>
          </a:p>
          <a:p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chapter 4</a:t>
            </a:r>
          </a:p>
          <a:p>
            <a:endParaRPr lang="en-US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1437132" y="5216734"/>
            <a:ext cx="92994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hlinkClick r:id="rId5"/>
              </a:rPr>
              <a:t>https://www.youtube.com/watch?v=Kg4bqzAqRBM</a:t>
            </a:r>
            <a:endParaRPr lang="en-US" sz="1400" dirty="0"/>
          </a:p>
          <a:p>
            <a:pPr algn="l"/>
            <a:endParaRPr lang="en-US" sz="1400" dirty="0"/>
          </a:p>
          <a:p>
            <a:pPr algn="l"/>
            <a:r>
              <a:rPr lang="en-US" sz="1400" dirty="0">
                <a:hlinkClick r:id="rId6"/>
              </a:rPr>
              <a:t>https://www.interviewkickstart.com/learn/quicksort-vs-merge-sort#:~:</a:t>
            </a:r>
            <a:r>
              <a:rPr lang="en-US" sz="1400">
                <a:hlinkClick r:id="rId6"/>
              </a:rPr>
              <a:t>text=Merge%20sort%20generally%20performs%20fewer,in%20common%20real%2Dlife%20settings</a:t>
            </a:r>
            <a:r>
              <a:rPr lang="en-US" sz="1400"/>
              <a:t>.</a:t>
            </a:r>
          </a:p>
          <a:p>
            <a:pPr algn="l"/>
            <a:endParaRPr lang="ar-SA" sz="1400" dirty="0"/>
          </a:p>
        </p:txBody>
      </p:sp>
    </p:spTree>
    <p:extLst>
      <p:ext uri="{BB962C8B-B14F-4D97-AF65-F5344CB8AC3E}">
        <p14:creationId xmlns:p14="http://schemas.microsoft.com/office/powerpoint/2010/main" val="316203889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1501</Words>
  <Application>Microsoft Office PowerPoint</Application>
  <PresentationFormat>Widescreen</PresentationFormat>
  <Paragraphs>448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Britannic Bold</vt:lpstr>
      <vt:lpstr>Calibri</vt:lpstr>
      <vt:lpstr>Calibri Light</vt:lpstr>
      <vt:lpstr>Cambria Math</vt:lpstr>
      <vt:lpstr>Georgia</vt:lpstr>
      <vt:lpstr>Mangal</vt:lpstr>
      <vt:lpstr>system-ui</vt:lpstr>
      <vt:lpstr>Times New Roman</vt:lpstr>
      <vt:lpstr>var(--bs-font-monospace)</vt:lpstr>
      <vt:lpstr>Wingdings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Athar Al-wabel</dc:creator>
  <cp:lastModifiedBy>محمد عبدالله حسن الهاجرى</cp:lastModifiedBy>
  <cp:revision>52</cp:revision>
  <dcterms:created xsi:type="dcterms:W3CDTF">2023-03-18T08:26:15Z</dcterms:created>
  <dcterms:modified xsi:type="dcterms:W3CDTF">2024-09-04T07:25:41Z</dcterms:modified>
</cp:coreProperties>
</file>