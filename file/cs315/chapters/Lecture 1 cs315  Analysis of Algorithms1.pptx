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نواف محمد سويلم الحربى" userId="b2ba430b-8ecc-46ae-96b8-62406c39670f" providerId="ADAL" clId="{AA4ABF1A-8F6D-4439-B45A-56CB8D9FA53E}"/>
    <pc:docChg chg="custSel modSld">
      <pc:chgData name="نواف محمد سويلم الحربى" userId="b2ba430b-8ecc-46ae-96b8-62406c39670f" providerId="ADAL" clId="{AA4ABF1A-8F6D-4439-B45A-56CB8D9FA53E}" dt="2026-01-24T19:18:50.706" v="121" actId="20577"/>
      <pc:docMkLst>
        <pc:docMk/>
      </pc:docMkLst>
      <pc:sldChg chg="modSp mod">
        <pc:chgData name="نواف محمد سويلم الحربى" userId="b2ba430b-8ecc-46ae-96b8-62406c39670f" providerId="ADAL" clId="{AA4ABF1A-8F6D-4439-B45A-56CB8D9FA53E}" dt="2026-01-24T19:18:50.706" v="121" actId="20577"/>
        <pc:sldMkLst>
          <pc:docMk/>
          <pc:sldMk cId="3916549329" sldId="257"/>
        </pc:sldMkLst>
        <pc:spChg chg="mod">
          <ac:chgData name="نواف محمد سويلم الحربى" userId="b2ba430b-8ecc-46ae-96b8-62406c39670f" providerId="ADAL" clId="{AA4ABF1A-8F6D-4439-B45A-56CB8D9FA53E}" dt="2026-01-24T19:18:50.706" v="121" actId="20577"/>
          <ac:spMkLst>
            <pc:docMk/>
            <pc:sldMk cId="3916549329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الثانوي الرئيسي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7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2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4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8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0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8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0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0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2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2DDF0-FB72-40F5-A770-CD670E0892B0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/>
          <p:cNvSpPr txBox="1"/>
          <p:nvPr/>
        </p:nvSpPr>
        <p:spPr>
          <a:xfrm>
            <a:off x="887104" y="1254432"/>
            <a:ext cx="1000380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000" b="1" i="1" spc="-5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Semester 472  -  2026, 1447 </a:t>
            </a:r>
            <a:b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b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b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en-US" sz="2800" b="1" dirty="0">
                <a:solidFill>
                  <a:srgbClr val="006666"/>
                </a:solidFill>
                <a:latin typeface="Georgia" panose="02040502050405020303" pitchFamily="18" charset="0"/>
              </a:rPr>
              <a:t>Course CS315 Algorithms Analysis and Design</a:t>
            </a:r>
          </a:p>
          <a:p>
            <a:pPr algn="ctr" rtl="0"/>
            <a:endParaRPr lang="en-US" sz="2800" b="1" dirty="0">
              <a:solidFill>
                <a:srgbClr val="006666"/>
              </a:solidFill>
              <a:latin typeface="Georgia" panose="02040502050405020303" pitchFamily="18" charset="0"/>
              <a:cs typeface="Times New Roman"/>
            </a:endParaRPr>
          </a:p>
          <a:p>
            <a:pPr algn="ctr" rtl="0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Analysis of Algorithms</a:t>
            </a:r>
            <a:b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</a:br>
            <a:endParaRPr lang="en-US" sz="2000" b="1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-132145" y="5020112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Supervisordr@yahoo.com</a:t>
            </a:r>
          </a:p>
        </p:txBody>
      </p:sp>
      <p:sp>
        <p:nvSpPr>
          <p:cNvPr id="8" name="مربع نص 7"/>
          <p:cNvSpPr txBox="1"/>
          <p:nvPr/>
        </p:nvSpPr>
        <p:spPr>
          <a:xfrm>
            <a:off x="3141406" y="3747422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spc="-5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Lecture 1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4077297" y="29432"/>
            <a:ext cx="4099560" cy="68816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430" y="4925575"/>
            <a:ext cx="1932425" cy="1932425"/>
          </a:xfrm>
          <a:prstGeom prst="rect">
            <a:avLst/>
          </a:prstGeom>
        </p:spPr>
      </p:pic>
      <p:sp>
        <p:nvSpPr>
          <p:cNvPr id="2" name="مستطيل 1"/>
          <p:cNvSpPr/>
          <p:nvPr/>
        </p:nvSpPr>
        <p:spPr>
          <a:xfrm>
            <a:off x="1317176" y="4483277"/>
            <a:ext cx="3072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Prof. </a:t>
            </a:r>
            <a:r>
              <a:rPr lang="en-US" altLang="ar-SA" dirty="0" err="1">
                <a:solidFill>
                  <a:schemeClr val="accent5">
                    <a:lumMod val="75000"/>
                  </a:schemeClr>
                </a:solidFill>
              </a:rPr>
              <a:t>Dr</a:t>
            </a:r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 Mohammed Al-</a:t>
            </a:r>
            <a:r>
              <a:rPr lang="en-US" altLang="ar-SA" dirty="0" err="1">
                <a:solidFill>
                  <a:schemeClr val="accent5">
                    <a:lumMod val="75000"/>
                  </a:schemeClr>
                </a:solidFill>
              </a:rPr>
              <a:t>Hagery</a:t>
            </a:r>
            <a:endParaRPr lang="ar-SA" altLang="ar-S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مستطيل 12"/>
          <p:cNvSpPr/>
          <p:nvPr/>
        </p:nvSpPr>
        <p:spPr>
          <a:xfrm>
            <a:off x="7883869" y="4483277"/>
            <a:ext cx="1481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Athar alwabel</a:t>
            </a:r>
            <a:endParaRPr lang="ar-SA" altLang="ar-S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5791153" y="5084093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aa.alwabel@qu.edu.sa</a:t>
            </a:r>
          </a:p>
        </p:txBody>
      </p:sp>
    </p:spTree>
    <p:extLst>
      <p:ext uri="{BB962C8B-B14F-4D97-AF65-F5344CB8AC3E}">
        <p14:creationId xmlns:p14="http://schemas.microsoft.com/office/powerpoint/2010/main" val="391654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9" name="object 3"/>
          <p:cNvSpPr txBox="1">
            <a:spLocks/>
          </p:cNvSpPr>
          <p:nvPr/>
        </p:nvSpPr>
        <p:spPr>
          <a:xfrm>
            <a:off x="276543" y="599953"/>
            <a:ext cx="6824662" cy="498598"/>
          </a:xfrm>
          <a:prstGeom prst="rect">
            <a:avLst/>
          </a:prstGeom>
        </p:spPr>
        <p:txBody>
          <a:bodyPr vert="horz" lIns="0" tIns="0" rIns="0" bIns="0" rtlCol="1" anchor="b">
            <a:sp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US" altLang="ar-SA" sz="3600" dirty="0">
                <a:solidFill>
                  <a:schemeClr val="accent1">
                    <a:lumMod val="50000"/>
                  </a:schemeClr>
                </a:solidFill>
              </a:rPr>
              <a:t>Analysis of Algorithms</a:t>
            </a:r>
            <a:endParaRPr lang="ar-SA" altLang="ar-SA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59"/>
          <p:cNvSpPr txBox="1">
            <a:spLocks noChangeArrowheads="1"/>
          </p:cNvSpPr>
          <p:nvPr/>
        </p:nvSpPr>
        <p:spPr bwMode="auto">
          <a:xfrm>
            <a:off x="2741009" y="4601456"/>
            <a:ext cx="71098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An </a:t>
            </a:r>
            <a:r>
              <a:rPr lang="en-US" altLang="en-US" sz="2400" b="1" dirty="0"/>
              <a:t>algorithm</a:t>
            </a:r>
            <a:r>
              <a:rPr lang="en-US" altLang="en-US" sz="2400" dirty="0"/>
              <a:t> is a step-by-step procedure for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solving a problem in a finite amount of time</a:t>
            </a: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151" y="1346321"/>
            <a:ext cx="7679519" cy="30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4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15451" y="-16424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kern="0" dirty="0"/>
              <a:t>Running Time </a:t>
            </a:r>
            <a:r>
              <a:rPr lang="en-US" altLang="en-US" kern="0" dirty="0">
                <a:latin typeface="Aril"/>
              </a:rPr>
              <a:t>(</a:t>
            </a:r>
            <a:r>
              <a:rPr lang="en-US" altLang="en-US" kern="0" dirty="0">
                <a:latin typeface="Aril"/>
                <a:cs typeface="Tahoma" panose="020B0604030504040204" pitchFamily="34" charset="0"/>
              </a:rPr>
              <a:t>§</a:t>
            </a:r>
            <a:r>
              <a:rPr lang="en-US" altLang="en-US" kern="0" dirty="0">
                <a:latin typeface="Aril"/>
              </a:rPr>
              <a:t>1.1</a:t>
            </a:r>
            <a:r>
              <a:rPr lang="en-US" altLang="en-US" kern="0" dirty="0"/>
              <a:t>) 	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99339" y="1409425"/>
            <a:ext cx="6469988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kern="0" dirty="0"/>
              <a:t>Most algorithms transform input objects into output objects.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kern="0" dirty="0"/>
              <a:t>The running time of an algorithm typically grows with the input size.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kern="0" dirty="0"/>
              <a:t>Average case time is often difficult to determine.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kern="0" dirty="0"/>
              <a:t>We focus on the worst case running time.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kern="0" dirty="0"/>
              <a:t>Easier to analyze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kern="0" dirty="0"/>
              <a:t>Crucial to applications such as games, finance and robotics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964003"/>
              </p:ext>
            </p:extLst>
          </p:nvPr>
        </p:nvGraphicFramePr>
        <p:xfrm>
          <a:off x="7433902" y="957620"/>
          <a:ext cx="3943350" cy="4641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943731" imgH="4200957" progId="MSGraph.Chart.8">
                  <p:embed followColorScheme="full"/>
                </p:oleObj>
              </mc:Choice>
              <mc:Fallback>
                <p:oleObj name="Chart" r:id="rId5" imgW="3943731" imgH="4200957" progId="MSGraph.Chart.8">
                  <p:embed followColorScheme="full"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3902" y="957620"/>
                        <a:ext cx="3943350" cy="4641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17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407647" y="258856"/>
            <a:ext cx="1047529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r>
              <a:rPr lang="en-US" altLang="ar-SA" sz="3600" kern="0" dirty="0"/>
              <a:t>Worst Case Analysis (Mostly used)</a:t>
            </a:r>
          </a:p>
        </p:txBody>
      </p:sp>
      <p:sp>
        <p:nvSpPr>
          <p:cNvPr id="13" name="Text Placeholder 2" descr="Rectangle: Click to edit Master text styles&#10;Second level&#10;Third level&#10;Fourth level&#10;Fifth level"/>
          <p:cNvSpPr txBox="1">
            <a:spLocks/>
          </p:cNvSpPr>
          <p:nvPr/>
        </p:nvSpPr>
        <p:spPr bwMode="auto">
          <a:xfrm>
            <a:off x="860788" y="1319787"/>
            <a:ext cx="975640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1800" kern="0" dirty="0"/>
              <a:t>In the worst-case analysis, </a:t>
            </a:r>
            <a:r>
              <a:rPr lang="en-US" sz="1800" b="1" kern="0" dirty="0"/>
              <a:t>we calculate the upper bound on the running time of an algorithm</a:t>
            </a:r>
            <a:r>
              <a:rPr lang="en-US" sz="1800" kern="0" dirty="0"/>
              <a:t>. </a:t>
            </a:r>
          </a:p>
          <a:p>
            <a:pPr>
              <a:defRPr/>
            </a:pPr>
            <a:endParaRPr lang="en-US" sz="1200" kern="0" dirty="0"/>
          </a:p>
          <a:p>
            <a:pPr>
              <a:defRPr/>
            </a:pPr>
            <a:r>
              <a:rPr lang="en-US" sz="1800" kern="0" dirty="0"/>
              <a:t>We must know the case that causes a maximum number of operations to be executed. </a:t>
            </a:r>
          </a:p>
          <a:p>
            <a:pPr>
              <a:defRPr/>
            </a:pPr>
            <a:endParaRPr lang="en-US" sz="1200" kern="0" dirty="0"/>
          </a:p>
          <a:p>
            <a:pPr>
              <a:defRPr/>
            </a:pPr>
            <a:r>
              <a:rPr lang="en-US" sz="1800" kern="0" dirty="0"/>
              <a:t>For Linear Search, the worst case happens when the element to be searched (x) is not present in the array.</a:t>
            </a:r>
          </a:p>
          <a:p>
            <a:pPr marL="0" indent="0">
              <a:buNone/>
              <a:defRPr/>
            </a:pPr>
            <a:endParaRPr lang="ar-SA" sz="1800" kern="0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r>
              <a:rPr lang="en-US" sz="2000" b="1" kern="0" dirty="0"/>
              <a:t>Example:</a:t>
            </a:r>
            <a:r>
              <a:rPr lang="en-US" sz="2000" kern="0" dirty="0"/>
              <a:t> </a:t>
            </a:r>
          </a:p>
          <a:p>
            <a:pPr marL="617538" lvl="2" indent="-169863">
              <a:buFontTx/>
              <a:buChar char="-"/>
              <a:defRPr/>
            </a:pPr>
            <a:r>
              <a:rPr lang="en-US" sz="1800" kern="0" dirty="0"/>
              <a:t>Consider performing insertion sort on N numbers on a random access machine. The best-case for the algorithm is when the numbers are already sorted, which takes O(n) steps to perform the task. </a:t>
            </a:r>
          </a:p>
          <a:p>
            <a:pPr marL="617538" lvl="2" indent="-169863">
              <a:buFontTx/>
              <a:buChar char="-"/>
              <a:defRPr/>
            </a:pPr>
            <a:endParaRPr lang="en-US" sz="1800" kern="0" dirty="0"/>
          </a:p>
          <a:p>
            <a:pPr marL="617538" lvl="2" indent="-169863">
              <a:buFont typeface="Wingdings" panose="05000000000000000000" pitchFamily="2" charset="2"/>
              <a:buNone/>
              <a:defRPr/>
            </a:pPr>
            <a:r>
              <a:rPr lang="en-US" sz="1800" kern="0" dirty="0"/>
              <a:t>- However, the input in the worst-case for the algorithm is when the numbers are reverse sorted and it takes O(n</a:t>
            </a:r>
            <a:r>
              <a:rPr lang="en-US" sz="1800" kern="0" baseline="30000" dirty="0"/>
              <a:t>2</a:t>
            </a:r>
            <a:r>
              <a:rPr lang="en-US" sz="1800" kern="0" dirty="0"/>
              <a:t>) steps to sort them; therefore the worst-case time-complexity of insertion sort is of O(</a:t>
            </a:r>
            <a:r>
              <a:rPr lang="en-US" kern="0" dirty="0"/>
              <a:t>n</a:t>
            </a:r>
            <a:r>
              <a:rPr lang="en-US" kern="0" baseline="30000" dirty="0"/>
              <a:t>2</a:t>
            </a:r>
            <a:r>
              <a:rPr lang="en-US" sz="1800" kern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189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77367" y="37399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50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Experimental Studies (§ 1.6)</a:t>
            </a: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685799" y="1905000"/>
            <a:ext cx="7163968" cy="2756757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- Write a program implementing the algorithm.</a:t>
            </a:r>
          </a:p>
          <a:p>
            <a:pPr algn="l"/>
            <a:r>
              <a:rPr lang="en-US" altLang="en-US" sz="2800" dirty="0"/>
              <a:t>- Run the program with inputs of varying size and composition.</a:t>
            </a:r>
          </a:p>
          <a:p>
            <a:pPr algn="l"/>
            <a:r>
              <a:rPr lang="en-US" altLang="en-US" sz="2800" dirty="0"/>
              <a:t>- Use a method like </a:t>
            </a:r>
            <a:r>
              <a:rPr lang="en-US" altLang="en-US" sz="2800" dirty="0" err="1">
                <a:solidFill>
                  <a:schemeClr val="accent2"/>
                </a:solidFill>
                <a:latin typeface="Arial Narrow" panose="020B0606020202030204" pitchFamily="34" charset="0"/>
              </a:rPr>
              <a:t>System.currentTimeMillis</a:t>
            </a:r>
            <a:r>
              <a:rPr lang="en-US" altLang="en-US" sz="2800" dirty="0">
                <a:solidFill>
                  <a:schemeClr val="accent2"/>
                </a:solidFill>
                <a:latin typeface="Arial Narrow" panose="020B0606020202030204" pitchFamily="34" charset="0"/>
              </a:rPr>
              <a:t>()</a:t>
            </a:r>
            <a:r>
              <a:rPr lang="en-US" altLang="en-US" sz="2800" dirty="0"/>
              <a:t> to get an accurate measure of the actual running time.</a:t>
            </a:r>
          </a:p>
          <a:p>
            <a:pPr algn="l"/>
            <a:r>
              <a:rPr lang="en-US" altLang="en-US" sz="2800" dirty="0"/>
              <a:t>- Plot the results.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75506"/>
              </p:ext>
            </p:extLst>
          </p:nvPr>
        </p:nvGraphicFramePr>
        <p:xfrm>
          <a:off x="7832937" y="1264549"/>
          <a:ext cx="383381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4429506" imgH="4648810" progId="MSGraph.Chart.8">
                  <p:embed followColorScheme="full"/>
                </p:oleObj>
              </mc:Choice>
              <mc:Fallback>
                <p:oleObj name="Chart" r:id="rId4" imgW="4429506" imgH="4648810" progId="MSGraph.Chart.8">
                  <p:embed followColorScheme="full"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937" y="1264549"/>
                        <a:ext cx="383381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036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56182" y="49004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Limitations of Experiments</a:t>
            </a:r>
          </a:p>
        </p:txBody>
      </p:sp>
      <p:sp>
        <p:nvSpPr>
          <p:cNvPr id="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298750" y="1776987"/>
            <a:ext cx="1012899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- It is necessary to implement the algorithm, which may be difficult.</a:t>
            </a:r>
          </a:p>
          <a:p>
            <a:pPr algn="l"/>
            <a:endParaRPr lang="en-US" altLang="en-US" sz="2800" dirty="0"/>
          </a:p>
          <a:p>
            <a:pPr algn="l"/>
            <a:r>
              <a:rPr lang="en-US" altLang="en-US" sz="2800" dirty="0"/>
              <a:t>- Results may not be indicative of the running time on other inputs not included in the experiment. </a:t>
            </a:r>
          </a:p>
          <a:p>
            <a:pPr algn="l"/>
            <a:endParaRPr lang="en-US" altLang="en-US" sz="2800" dirty="0"/>
          </a:p>
          <a:p>
            <a:pPr algn="l"/>
            <a:r>
              <a:rPr lang="en-US" altLang="en-US" sz="2800" dirty="0"/>
              <a:t>- In order to compare two algorithms, the same hardware and software environments must be used and the same inputs.</a:t>
            </a:r>
          </a:p>
        </p:txBody>
      </p:sp>
    </p:spTree>
    <p:extLst>
      <p:ext uri="{BB962C8B-B14F-4D97-AF65-F5344CB8AC3E}">
        <p14:creationId xmlns:p14="http://schemas.microsoft.com/office/powerpoint/2010/main" val="56096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-405776" y="276751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Theoretical Analysis</a:t>
            </a: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189492" y="984825"/>
            <a:ext cx="10744784" cy="47244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- Algorithms uses a high-level description of the algorithm instead of an implementation</a:t>
            </a:r>
          </a:p>
          <a:p>
            <a:pPr algn="l"/>
            <a:r>
              <a:rPr lang="en-US" altLang="en-US" sz="2800" dirty="0"/>
              <a:t>- Characterizes running time as a function of the input size, </a:t>
            </a:r>
            <a:r>
              <a:rPr lang="en-US" altLang="en-US" sz="2800" i="1" dirty="0"/>
              <a:t>n</a:t>
            </a:r>
            <a:r>
              <a:rPr lang="en-US" altLang="en-US" sz="2800" dirty="0"/>
              <a:t>.</a:t>
            </a:r>
          </a:p>
          <a:p>
            <a:pPr algn="l"/>
            <a:r>
              <a:rPr lang="en-US" altLang="en-US" sz="2800" dirty="0"/>
              <a:t>- Takes into account all possible inputs.</a:t>
            </a:r>
          </a:p>
          <a:p>
            <a:pPr algn="l"/>
            <a:r>
              <a:rPr lang="en-US" altLang="en-US" sz="2800" dirty="0"/>
              <a:t>- Theoretical analysis allows us to evaluate the speed of an algorithm independent of the hardware/software environment.</a:t>
            </a:r>
          </a:p>
        </p:txBody>
      </p:sp>
    </p:spTree>
    <p:extLst>
      <p:ext uri="{BB962C8B-B14F-4D97-AF65-F5344CB8AC3E}">
        <p14:creationId xmlns:p14="http://schemas.microsoft.com/office/powerpoint/2010/main" val="845339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55274" y="73819"/>
            <a:ext cx="7106585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5400" dirty="0">
                <a:solidFill>
                  <a:schemeClr val="accent5">
                    <a:lumMod val="75000"/>
                  </a:schemeClr>
                </a:solidFill>
              </a:rPr>
              <a:t>Pseudocode (</a:t>
            </a:r>
            <a:r>
              <a:rPr lang="en-US" altLang="en-US" sz="5400" dirty="0">
                <a:solidFill>
                  <a:schemeClr val="accent5">
                    <a:lumMod val="75000"/>
                  </a:schemeClr>
                </a:solidFill>
                <a:cs typeface="Tahoma" panose="020B0604030504040204" pitchFamily="34" charset="0"/>
              </a:rPr>
              <a:t>§</a:t>
            </a:r>
            <a:r>
              <a:rPr lang="en-US" altLang="en-US" sz="5400" dirty="0">
                <a:solidFill>
                  <a:schemeClr val="accent5">
                    <a:lumMod val="75000"/>
                  </a:schemeClr>
                </a:solidFill>
              </a:rPr>
              <a:t>1.1)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823131" y="1365522"/>
            <a:ext cx="6043253" cy="39624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- High-level description of an algorithm</a:t>
            </a:r>
          </a:p>
          <a:p>
            <a:pPr algn="l"/>
            <a:r>
              <a:rPr lang="en-US" altLang="en-US" dirty="0"/>
              <a:t>- More structured than English prose</a:t>
            </a:r>
          </a:p>
          <a:p>
            <a:pPr algn="l"/>
            <a:r>
              <a:rPr lang="en-US" altLang="en-US" dirty="0"/>
              <a:t>- Less detailed than a program.</a:t>
            </a:r>
          </a:p>
          <a:p>
            <a:pPr algn="l"/>
            <a:r>
              <a:rPr lang="en-US" altLang="en-US" dirty="0"/>
              <a:t>- Preferred notation for describing algorithms</a:t>
            </a:r>
          </a:p>
          <a:p>
            <a:pPr algn="l"/>
            <a:r>
              <a:rPr lang="en-US" altLang="en-US" dirty="0"/>
              <a:t>- Hides program design issues.</a:t>
            </a:r>
          </a:p>
        </p:txBody>
      </p: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6976167" y="1704429"/>
            <a:ext cx="4495800" cy="3608387"/>
            <a:chOff x="2783" y="1069"/>
            <a:chExt cx="2832" cy="2273"/>
          </a:xfrm>
        </p:grpSpPr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2783" y="1323"/>
              <a:ext cx="2832" cy="2019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2286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defTabSz="2286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defTabSz="2286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defTabSz="2286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defTabSz="2286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Algorithm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 dirty="0" err="1">
                  <a:solidFill>
                    <a:schemeClr val="tx2"/>
                  </a:solidFill>
                  <a:latin typeface="Times New Roman" panose="02020603050405020304" pitchFamily="18" charset="0"/>
                </a:rPr>
                <a:t>arrayMax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en-US" sz="24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	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Input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array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 of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 integers</a:t>
              </a: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	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Output</a:t>
              </a:r>
              <a:r>
                <a:rPr lang="en-US" altLang="en-US" sz="2400" dirty="0">
                  <a:latin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maximum element of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	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</a:rPr>
                <a:t>currentMax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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[0]</a:t>
              </a:r>
              <a:endParaRPr lang="en-US" altLang="en-US" sz="2400" dirty="0">
                <a:solidFill>
                  <a:srgbClr val="009999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	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for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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to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 1 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do</a:t>
              </a: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if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i="1" dirty="0" err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]  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currentMax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then</a:t>
              </a: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			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currentMax</a:t>
              </a:r>
              <a:r>
                <a:rPr lang="en-US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</a:t>
              </a:r>
              <a:r>
                <a:rPr lang="en-US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i="1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	</a:t>
              </a:r>
              <a:r>
                <a:rPr lang="en-US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return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b="1" i="1" dirty="0" err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currentMax</a:t>
              </a:r>
              <a:r>
                <a:rPr lang="en-US" altLang="en-US" sz="2400" dirty="0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en-US" sz="2400" dirty="0">
                <a:solidFill>
                  <a:srgbClr val="0099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846" y="1069"/>
              <a:ext cx="26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Example: find max element of an array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379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609599" y="304800"/>
            <a:ext cx="11922185" cy="73072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>
                <a:solidFill>
                  <a:schemeClr val="accent5">
                    <a:lumMod val="75000"/>
                  </a:schemeClr>
                </a:solidFill>
              </a:rPr>
              <a:t>Pseudocode Details</a:t>
            </a:r>
          </a:p>
        </p:txBody>
      </p:sp>
      <p:sp>
        <p:nvSpPr>
          <p:cNvPr id="17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62784" y="1414382"/>
            <a:ext cx="4558785" cy="429484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- Control flow</a:t>
            </a:r>
          </a:p>
          <a:p>
            <a:pPr lvl="1" algn="l">
              <a:tabLst>
                <a:tab pos="60071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[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…]</a:t>
            </a:r>
          </a:p>
          <a:p>
            <a:pPr lvl="1" algn="l">
              <a:tabLst>
                <a:tab pos="60071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</a:p>
          <a:p>
            <a:pPr lvl="1" algn="l">
              <a:tabLst>
                <a:tab pos="60071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repeat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until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</a:p>
          <a:p>
            <a:pPr lvl="1" algn="l">
              <a:tabLst>
                <a:tab pos="60071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</a:p>
          <a:p>
            <a:pPr lvl="1" algn="l">
              <a:tabLst>
                <a:tab pos="6007100" algn="l"/>
              </a:tabLst>
            </a:pPr>
            <a:r>
              <a:rPr lang="en-US" altLang="en-US" dirty="0"/>
              <a:t>Indentation replaces braces </a:t>
            </a:r>
          </a:p>
          <a:p>
            <a:pPr algn="l">
              <a:tabLst>
                <a:tab pos="6007100" algn="l"/>
              </a:tabLst>
            </a:pPr>
            <a:r>
              <a:rPr lang="en-US" altLang="en-US" dirty="0"/>
              <a:t>- Method declaration</a:t>
            </a:r>
          </a:p>
          <a:p>
            <a:pPr lvl="1" algn="l"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method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[,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…])</a:t>
            </a:r>
          </a:p>
          <a:p>
            <a:pPr lvl="1" algn="l"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en-US" altLang="en-US" dirty="0"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</a:p>
          <a:p>
            <a:pPr lvl="1" algn="l"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en-US" altLang="en-US" dirty="0"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18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6344236" y="1291316"/>
            <a:ext cx="5424092" cy="421530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en-US" sz="2400" dirty="0"/>
              <a:t>- Method call</a:t>
            </a:r>
          </a:p>
          <a:p>
            <a:pPr marL="457200" lvl="1" indent="0" algn="l">
              <a:buNone/>
            </a:pP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var.method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[, 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…])</a:t>
            </a:r>
          </a:p>
          <a:p>
            <a:pPr marL="0" indent="0" algn="l">
              <a:buNone/>
            </a:pPr>
            <a:r>
              <a:rPr lang="en-US" altLang="en-US" sz="2400" dirty="0"/>
              <a:t>- Return value</a:t>
            </a:r>
          </a:p>
          <a:p>
            <a:pPr marL="457200" lvl="1" indent="0" algn="l"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return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expression</a:t>
            </a:r>
          </a:p>
          <a:p>
            <a:pPr marL="0" indent="0" algn="l">
              <a:buNone/>
            </a:pPr>
            <a:r>
              <a:rPr lang="en-US" altLang="en-US" sz="2400" dirty="0"/>
              <a:t>- Expressions</a:t>
            </a:r>
          </a:p>
          <a:p>
            <a:pPr marL="457200" lvl="1" indent="0" algn="l">
              <a:buClr>
                <a:srgbClr val="000000"/>
              </a:buClr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Assignment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(like </a:t>
            </a:r>
            <a:r>
              <a:rPr lang="en-US" altLang="en-US" sz="2000" dirty="0">
                <a:cs typeface="Tahoma" panose="020B0604030504040204" pitchFamily="34" charset="0"/>
                <a:sym typeface="Symbol" panose="05050102010706020507" pitchFamily="18" charset="2"/>
              </a:rPr>
              <a:t> </a:t>
            </a:r>
            <a:r>
              <a:rPr lang="en-US" altLang="en-US" sz="2000" dirty="0">
                <a:sym typeface="Symbol" panose="05050102010706020507" pitchFamily="18" charset="2"/>
              </a:rPr>
              <a:t>in Java)</a:t>
            </a:r>
          </a:p>
          <a:p>
            <a:pPr marL="457200" lvl="1" indent="0" algn="l">
              <a:buClr>
                <a:srgbClr val="000000"/>
              </a:buClr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Equality testing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(like </a:t>
            </a:r>
            <a:r>
              <a:rPr lang="en-US" altLang="en-US" sz="2000" dirty="0">
                <a:cs typeface="Tahoma" panose="020B0604030504040204" pitchFamily="34" charset="0"/>
                <a:sym typeface="Symbol" panose="05050102010706020507" pitchFamily="18" charset="2"/>
              </a:rPr>
              <a:t> in Java)</a:t>
            </a:r>
          </a:p>
          <a:p>
            <a:pPr marL="457200" lvl="1" indent="0" algn="l">
              <a:buClr>
                <a:srgbClr val="000000"/>
              </a:buClr>
              <a:buNone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anose="05050102010706020507" pitchFamily="18" charset="2"/>
              </a:rPr>
              <a:t>2	    </a:t>
            </a:r>
            <a:r>
              <a:rPr lang="en-US" altLang="en-US" sz="2000" dirty="0">
                <a:cs typeface="Tahoma" panose="020B0604030504040204" pitchFamily="34" charset="0"/>
                <a:sym typeface="Symbol" panose="05050102010706020507" pitchFamily="18" charset="2"/>
              </a:rPr>
              <a:t>Superscripts and other mathematical formatting allowed</a:t>
            </a:r>
            <a:endParaRPr lang="en-US" altLang="en-US" sz="2000" baseline="30000" dirty="0">
              <a:cs typeface="Tahoma" panose="020B0604030504040204" pitchFamily="34" charset="0"/>
              <a:sym typeface="Symbol" panose="05050102010706020507" pitchFamily="18" charset="2"/>
            </a:endParaRPr>
          </a:p>
          <a:p>
            <a:pPr marL="0" indent="0" algn="l"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5479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780" y="4807766"/>
            <a:ext cx="1932425" cy="1932425"/>
          </a:xfrm>
          <a:prstGeom prst="rect">
            <a:avLst/>
          </a:prstGeom>
        </p:spPr>
      </p:pic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-28517" y="-12541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The Random Access Machine (RAM) Model</a:t>
            </a:r>
          </a:p>
        </p:txBody>
      </p:sp>
      <p:sp>
        <p:nvSpPr>
          <p:cNvPr id="10" name="Rectangle 2051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414781" y="1497792"/>
            <a:ext cx="4800600" cy="3352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009999"/>
                </a:solidFill>
              </a:rPr>
              <a:t>CPU</a:t>
            </a:r>
          </a:p>
          <a:p>
            <a:endParaRPr lang="en-US" altLang="en-US" sz="2800" dirty="0"/>
          </a:p>
          <a:p>
            <a:pPr algn="l"/>
            <a:r>
              <a:rPr lang="en-US" altLang="en-US" dirty="0"/>
              <a:t>A potentially unbounded bank of </a:t>
            </a:r>
            <a:r>
              <a:rPr lang="en-US" altLang="en-US" b="1" dirty="0">
                <a:solidFill>
                  <a:srgbClr val="009999"/>
                </a:solidFill>
              </a:rPr>
              <a:t>memory</a:t>
            </a:r>
            <a:r>
              <a:rPr lang="en-US" altLang="en-US" dirty="0"/>
              <a:t> cells, each of which can hold an arbitrary number or character</a:t>
            </a:r>
          </a:p>
        </p:txBody>
      </p:sp>
      <p:grpSp>
        <p:nvGrpSpPr>
          <p:cNvPr id="12" name="Group 2052"/>
          <p:cNvGrpSpPr>
            <a:grpSpLocks/>
          </p:cNvGrpSpPr>
          <p:nvPr/>
        </p:nvGrpSpPr>
        <p:grpSpPr bwMode="auto">
          <a:xfrm>
            <a:off x="7764780" y="1451540"/>
            <a:ext cx="3886200" cy="2914650"/>
            <a:chOff x="3024" y="960"/>
            <a:chExt cx="2448" cy="1836"/>
          </a:xfrm>
        </p:grpSpPr>
        <p:grpSp>
          <p:nvGrpSpPr>
            <p:cNvPr id="13" name="Group 2053"/>
            <p:cNvGrpSpPr>
              <a:grpSpLocks/>
            </p:cNvGrpSpPr>
            <p:nvPr/>
          </p:nvGrpSpPr>
          <p:grpSpPr bwMode="auto">
            <a:xfrm>
              <a:off x="3024" y="960"/>
              <a:ext cx="898" cy="516"/>
              <a:chOff x="3166" y="1602"/>
              <a:chExt cx="898" cy="516"/>
            </a:xfrm>
          </p:grpSpPr>
          <p:grpSp>
            <p:nvGrpSpPr>
              <p:cNvPr id="26" name="Group 2054"/>
              <p:cNvGrpSpPr>
                <a:grpSpLocks/>
              </p:cNvGrpSpPr>
              <p:nvPr/>
            </p:nvGrpSpPr>
            <p:grpSpPr bwMode="auto">
              <a:xfrm>
                <a:off x="3166" y="1969"/>
                <a:ext cx="898" cy="149"/>
                <a:chOff x="3166" y="1969"/>
                <a:chExt cx="898" cy="149"/>
              </a:xfrm>
            </p:grpSpPr>
            <p:grpSp>
              <p:nvGrpSpPr>
                <p:cNvPr id="103" name="Group 2055"/>
                <p:cNvGrpSpPr>
                  <a:grpSpLocks/>
                </p:cNvGrpSpPr>
                <p:nvPr/>
              </p:nvGrpSpPr>
              <p:grpSpPr bwMode="auto">
                <a:xfrm>
                  <a:off x="3166" y="1969"/>
                  <a:ext cx="367" cy="89"/>
                  <a:chOff x="3166" y="1969"/>
                  <a:chExt cx="367" cy="89"/>
                </a:xfrm>
              </p:grpSpPr>
              <p:sp>
                <p:nvSpPr>
                  <p:cNvPr id="105" name="Freeform 2056"/>
                  <p:cNvSpPr>
                    <a:spLocks/>
                  </p:cNvSpPr>
                  <p:nvPr/>
                </p:nvSpPr>
                <p:spPr bwMode="auto">
                  <a:xfrm>
                    <a:off x="3192" y="1969"/>
                    <a:ext cx="252" cy="70"/>
                  </a:xfrm>
                  <a:custGeom>
                    <a:avLst/>
                    <a:gdLst>
                      <a:gd name="T0" fmla="*/ 0 w 252"/>
                      <a:gd name="T1" fmla="*/ 38 h 70"/>
                      <a:gd name="T2" fmla="*/ 109 w 252"/>
                      <a:gd name="T3" fmla="*/ 32 h 70"/>
                      <a:gd name="T4" fmla="*/ 252 w 252"/>
                      <a:gd name="T5" fmla="*/ 0 h 70"/>
                      <a:gd name="T6" fmla="*/ 252 w 252"/>
                      <a:gd name="T7" fmla="*/ 47 h 70"/>
                      <a:gd name="T8" fmla="*/ 103 w 252"/>
                      <a:gd name="T9" fmla="*/ 67 h 70"/>
                      <a:gd name="T10" fmla="*/ 0 w 252"/>
                      <a:gd name="T11" fmla="*/ 70 h 70"/>
                      <a:gd name="T12" fmla="*/ 0 w 252"/>
                      <a:gd name="T13" fmla="*/ 38 h 7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52" h="70">
                        <a:moveTo>
                          <a:pt x="0" y="38"/>
                        </a:moveTo>
                        <a:lnTo>
                          <a:pt x="109" y="32"/>
                        </a:lnTo>
                        <a:lnTo>
                          <a:pt x="252" y="0"/>
                        </a:lnTo>
                        <a:lnTo>
                          <a:pt x="252" y="47"/>
                        </a:lnTo>
                        <a:lnTo>
                          <a:pt x="103" y="67"/>
                        </a:lnTo>
                        <a:lnTo>
                          <a:pt x="0" y="70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06" name="Group 2057"/>
                  <p:cNvGrpSpPr>
                    <a:grpSpLocks/>
                  </p:cNvGrpSpPr>
                  <p:nvPr/>
                </p:nvGrpSpPr>
                <p:grpSpPr bwMode="auto">
                  <a:xfrm>
                    <a:off x="3166" y="1974"/>
                    <a:ext cx="367" cy="84"/>
                    <a:chOff x="3166" y="1974"/>
                    <a:chExt cx="367" cy="84"/>
                  </a:xfrm>
                </p:grpSpPr>
                <p:sp>
                  <p:nvSpPr>
                    <p:cNvPr id="107" name="Rectangle 20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97" y="2022"/>
                      <a:ext cx="18" cy="3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4"/>
                        </a:buBlip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/>
                    </a:p>
                  </p:txBody>
                </p:sp>
                <p:grpSp>
                  <p:nvGrpSpPr>
                    <p:cNvPr id="108" name="Group 20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66" y="1974"/>
                      <a:ext cx="367" cy="84"/>
                      <a:chOff x="3166" y="1974"/>
                      <a:chExt cx="367" cy="84"/>
                    </a:xfrm>
                  </p:grpSpPr>
                  <p:sp>
                    <p:nvSpPr>
                      <p:cNvPr id="109" name="Freeform 206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6" y="1974"/>
                        <a:ext cx="367" cy="84"/>
                      </a:xfrm>
                      <a:custGeom>
                        <a:avLst/>
                        <a:gdLst>
                          <a:gd name="T0" fmla="*/ 367 w 367"/>
                          <a:gd name="T1" fmla="*/ 0 h 84"/>
                          <a:gd name="T2" fmla="*/ 137 w 367"/>
                          <a:gd name="T3" fmla="*/ 48 h 84"/>
                          <a:gd name="T4" fmla="*/ 0 w 367"/>
                          <a:gd name="T5" fmla="*/ 56 h 84"/>
                          <a:gd name="T6" fmla="*/ 0 w 367"/>
                          <a:gd name="T7" fmla="*/ 84 h 84"/>
                          <a:gd name="T8" fmla="*/ 141 w 367"/>
                          <a:gd name="T9" fmla="*/ 77 h 84"/>
                          <a:gd name="T10" fmla="*/ 367 w 367"/>
                          <a:gd name="T11" fmla="*/ 54 h 84"/>
                          <a:gd name="T12" fmla="*/ 367 w 367"/>
                          <a:gd name="T13" fmla="*/ 0 h 84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0" t="0" r="r" b="b"/>
                        <a:pathLst>
                          <a:path w="367" h="84">
                            <a:moveTo>
                              <a:pt x="367" y="0"/>
                            </a:moveTo>
                            <a:lnTo>
                              <a:pt x="137" y="48"/>
                            </a:lnTo>
                            <a:lnTo>
                              <a:pt x="0" y="56"/>
                            </a:lnTo>
                            <a:lnTo>
                              <a:pt x="0" y="84"/>
                            </a:lnTo>
                            <a:lnTo>
                              <a:pt x="141" y="77"/>
                            </a:lnTo>
                            <a:lnTo>
                              <a:pt x="367" y="54"/>
                            </a:lnTo>
                            <a:lnTo>
                              <a:pt x="367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0" name="Freeform 206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3" y="1990"/>
                        <a:ext cx="338" cy="52"/>
                      </a:xfrm>
                      <a:custGeom>
                        <a:avLst/>
                        <a:gdLst>
                          <a:gd name="T0" fmla="*/ 0 w 338"/>
                          <a:gd name="T1" fmla="*/ 52 h 52"/>
                          <a:gd name="T2" fmla="*/ 126 w 338"/>
                          <a:gd name="T3" fmla="*/ 44 h 52"/>
                          <a:gd name="T4" fmla="*/ 338 w 338"/>
                          <a:gd name="T5" fmla="*/ 0 h 52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338" h="52">
                            <a:moveTo>
                              <a:pt x="0" y="52"/>
                            </a:moveTo>
                            <a:lnTo>
                              <a:pt x="126" y="44"/>
                            </a:lnTo>
                            <a:lnTo>
                              <a:pt x="338" y="0"/>
                            </a:lnTo>
                          </a:path>
                        </a:pathLst>
                      </a:custGeom>
                      <a:noFill/>
                      <a:ln w="1270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104" name="Freeform 2062"/>
                <p:cNvSpPr>
                  <a:spLocks/>
                </p:cNvSpPr>
                <p:nvPr/>
              </p:nvSpPr>
              <p:spPr bwMode="auto">
                <a:xfrm>
                  <a:off x="3504" y="2023"/>
                  <a:ext cx="560" cy="95"/>
                </a:xfrm>
                <a:custGeom>
                  <a:avLst/>
                  <a:gdLst>
                    <a:gd name="T0" fmla="*/ 0 w 560"/>
                    <a:gd name="T1" fmla="*/ 36 h 95"/>
                    <a:gd name="T2" fmla="*/ 6 w 560"/>
                    <a:gd name="T3" fmla="*/ 59 h 95"/>
                    <a:gd name="T4" fmla="*/ 15 w 560"/>
                    <a:gd name="T5" fmla="*/ 72 h 95"/>
                    <a:gd name="T6" fmla="*/ 30 w 560"/>
                    <a:gd name="T7" fmla="*/ 84 h 95"/>
                    <a:gd name="T8" fmla="*/ 46 w 560"/>
                    <a:gd name="T9" fmla="*/ 90 h 95"/>
                    <a:gd name="T10" fmla="*/ 66 w 560"/>
                    <a:gd name="T11" fmla="*/ 92 h 95"/>
                    <a:gd name="T12" fmla="*/ 82 w 560"/>
                    <a:gd name="T13" fmla="*/ 86 h 95"/>
                    <a:gd name="T14" fmla="*/ 105 w 560"/>
                    <a:gd name="T15" fmla="*/ 78 h 95"/>
                    <a:gd name="T16" fmla="*/ 133 w 560"/>
                    <a:gd name="T17" fmla="*/ 71 h 95"/>
                    <a:gd name="T18" fmla="*/ 165 w 560"/>
                    <a:gd name="T19" fmla="*/ 68 h 95"/>
                    <a:gd name="T20" fmla="*/ 205 w 560"/>
                    <a:gd name="T21" fmla="*/ 72 h 95"/>
                    <a:gd name="T22" fmla="*/ 240 w 560"/>
                    <a:gd name="T23" fmla="*/ 80 h 95"/>
                    <a:gd name="T24" fmla="*/ 276 w 560"/>
                    <a:gd name="T25" fmla="*/ 90 h 95"/>
                    <a:gd name="T26" fmla="*/ 310 w 560"/>
                    <a:gd name="T27" fmla="*/ 95 h 95"/>
                    <a:gd name="T28" fmla="*/ 334 w 560"/>
                    <a:gd name="T29" fmla="*/ 92 h 95"/>
                    <a:gd name="T30" fmla="*/ 373 w 560"/>
                    <a:gd name="T31" fmla="*/ 86 h 95"/>
                    <a:gd name="T32" fmla="*/ 416 w 560"/>
                    <a:gd name="T33" fmla="*/ 80 h 95"/>
                    <a:gd name="T34" fmla="*/ 458 w 560"/>
                    <a:gd name="T35" fmla="*/ 72 h 95"/>
                    <a:gd name="T36" fmla="*/ 503 w 560"/>
                    <a:gd name="T37" fmla="*/ 63 h 95"/>
                    <a:gd name="T38" fmla="*/ 530 w 560"/>
                    <a:gd name="T39" fmla="*/ 56 h 95"/>
                    <a:gd name="T40" fmla="*/ 543 w 560"/>
                    <a:gd name="T41" fmla="*/ 51 h 95"/>
                    <a:gd name="T42" fmla="*/ 554 w 560"/>
                    <a:gd name="T43" fmla="*/ 44 h 95"/>
                    <a:gd name="T44" fmla="*/ 560 w 560"/>
                    <a:gd name="T45" fmla="*/ 33 h 95"/>
                    <a:gd name="T46" fmla="*/ 555 w 560"/>
                    <a:gd name="T47" fmla="*/ 17 h 95"/>
                    <a:gd name="T48" fmla="*/ 546 w 560"/>
                    <a:gd name="T49" fmla="*/ 8 h 95"/>
                    <a:gd name="T50" fmla="*/ 530 w 560"/>
                    <a:gd name="T51" fmla="*/ 0 h 95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560" h="95">
                      <a:moveTo>
                        <a:pt x="0" y="36"/>
                      </a:moveTo>
                      <a:lnTo>
                        <a:pt x="6" y="59"/>
                      </a:lnTo>
                      <a:lnTo>
                        <a:pt x="15" y="72"/>
                      </a:lnTo>
                      <a:lnTo>
                        <a:pt x="30" y="84"/>
                      </a:lnTo>
                      <a:lnTo>
                        <a:pt x="46" y="90"/>
                      </a:lnTo>
                      <a:lnTo>
                        <a:pt x="66" y="92"/>
                      </a:lnTo>
                      <a:lnTo>
                        <a:pt x="82" y="86"/>
                      </a:lnTo>
                      <a:lnTo>
                        <a:pt x="105" y="78"/>
                      </a:lnTo>
                      <a:lnTo>
                        <a:pt x="133" y="71"/>
                      </a:lnTo>
                      <a:lnTo>
                        <a:pt x="165" y="68"/>
                      </a:lnTo>
                      <a:lnTo>
                        <a:pt x="205" y="72"/>
                      </a:lnTo>
                      <a:lnTo>
                        <a:pt x="240" y="80"/>
                      </a:lnTo>
                      <a:lnTo>
                        <a:pt x="276" y="90"/>
                      </a:lnTo>
                      <a:lnTo>
                        <a:pt x="310" y="95"/>
                      </a:lnTo>
                      <a:lnTo>
                        <a:pt x="334" y="92"/>
                      </a:lnTo>
                      <a:lnTo>
                        <a:pt x="373" y="86"/>
                      </a:lnTo>
                      <a:lnTo>
                        <a:pt x="416" y="80"/>
                      </a:lnTo>
                      <a:lnTo>
                        <a:pt x="458" y="72"/>
                      </a:lnTo>
                      <a:lnTo>
                        <a:pt x="503" y="63"/>
                      </a:lnTo>
                      <a:lnTo>
                        <a:pt x="530" y="56"/>
                      </a:lnTo>
                      <a:lnTo>
                        <a:pt x="543" y="51"/>
                      </a:lnTo>
                      <a:lnTo>
                        <a:pt x="554" y="44"/>
                      </a:lnTo>
                      <a:lnTo>
                        <a:pt x="560" y="33"/>
                      </a:lnTo>
                      <a:lnTo>
                        <a:pt x="555" y="17"/>
                      </a:lnTo>
                      <a:lnTo>
                        <a:pt x="546" y="8"/>
                      </a:lnTo>
                      <a:lnTo>
                        <a:pt x="53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2063"/>
              <p:cNvGrpSpPr>
                <a:grpSpLocks/>
              </p:cNvGrpSpPr>
              <p:nvPr/>
            </p:nvGrpSpPr>
            <p:grpSpPr bwMode="auto">
              <a:xfrm>
                <a:off x="3542" y="1602"/>
                <a:ext cx="484" cy="465"/>
                <a:chOff x="3542" y="1602"/>
                <a:chExt cx="484" cy="465"/>
              </a:xfrm>
            </p:grpSpPr>
            <p:grpSp>
              <p:nvGrpSpPr>
                <p:cNvPr id="28" name="Group 2064"/>
                <p:cNvGrpSpPr>
                  <a:grpSpLocks/>
                </p:cNvGrpSpPr>
                <p:nvPr/>
              </p:nvGrpSpPr>
              <p:grpSpPr bwMode="auto">
                <a:xfrm>
                  <a:off x="3558" y="1855"/>
                  <a:ext cx="468" cy="212"/>
                  <a:chOff x="3558" y="1855"/>
                  <a:chExt cx="468" cy="212"/>
                </a:xfrm>
              </p:grpSpPr>
              <p:grpSp>
                <p:nvGrpSpPr>
                  <p:cNvPr id="57" name="Group 2065"/>
                  <p:cNvGrpSpPr>
                    <a:grpSpLocks/>
                  </p:cNvGrpSpPr>
                  <p:nvPr/>
                </p:nvGrpSpPr>
                <p:grpSpPr bwMode="auto">
                  <a:xfrm>
                    <a:off x="3558" y="1873"/>
                    <a:ext cx="468" cy="194"/>
                    <a:chOff x="3558" y="1873"/>
                    <a:chExt cx="468" cy="194"/>
                  </a:xfrm>
                </p:grpSpPr>
                <p:sp>
                  <p:nvSpPr>
                    <p:cNvPr id="59" name="Rectangle 20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8" y="1873"/>
                      <a:ext cx="468" cy="18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4"/>
                        </a:buBlip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/>
                    </a:p>
                  </p:txBody>
                </p:sp>
                <p:grpSp>
                  <p:nvGrpSpPr>
                    <p:cNvPr id="60" name="Group 20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80" y="1890"/>
                      <a:ext cx="434" cy="177"/>
                      <a:chOff x="3580" y="1890"/>
                      <a:chExt cx="434" cy="177"/>
                    </a:xfrm>
                  </p:grpSpPr>
                  <p:grpSp>
                    <p:nvGrpSpPr>
                      <p:cNvPr id="61" name="Group 20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0" y="1890"/>
                        <a:ext cx="434" cy="100"/>
                        <a:chOff x="3580" y="1890"/>
                        <a:chExt cx="434" cy="100"/>
                      </a:xfrm>
                    </p:grpSpPr>
                    <p:grpSp>
                      <p:nvGrpSpPr>
                        <p:cNvPr id="95" name="Group 206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80" y="1890"/>
                          <a:ext cx="433" cy="37"/>
                          <a:chOff x="3580" y="1890"/>
                          <a:chExt cx="433" cy="37"/>
                        </a:xfrm>
                      </p:grpSpPr>
                      <p:sp>
                        <p:nvSpPr>
                          <p:cNvPr id="100" name="Line 207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1" y="1890"/>
                            <a:ext cx="432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01" name="Line 207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0" y="1908"/>
                            <a:ext cx="433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02" name="Line 207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1" y="1926"/>
                            <a:ext cx="432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96" name="Group 207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81" y="1953"/>
                          <a:ext cx="433" cy="37"/>
                          <a:chOff x="3581" y="1953"/>
                          <a:chExt cx="433" cy="37"/>
                        </a:xfrm>
                      </p:grpSpPr>
                      <p:sp>
                        <p:nvSpPr>
                          <p:cNvPr id="97" name="Line 207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2" y="1953"/>
                            <a:ext cx="432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98" name="Line 207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1" y="1971"/>
                            <a:ext cx="433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99" name="Line 207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82" y="1989"/>
                            <a:ext cx="432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62" name="Group 207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1" y="2017"/>
                        <a:ext cx="412" cy="50"/>
                        <a:chOff x="3581" y="2017"/>
                        <a:chExt cx="412" cy="50"/>
                      </a:xfrm>
                    </p:grpSpPr>
                    <p:grpSp>
                      <p:nvGrpSpPr>
                        <p:cNvPr id="63" name="Group 207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81" y="2017"/>
                          <a:ext cx="153" cy="49"/>
                          <a:chOff x="3581" y="2017"/>
                          <a:chExt cx="153" cy="49"/>
                        </a:xfrm>
                      </p:grpSpPr>
                      <p:grpSp>
                        <p:nvGrpSpPr>
                          <p:cNvPr id="83" name="Group 2079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81" y="2018"/>
                            <a:ext cx="65" cy="48"/>
                            <a:chOff x="3581" y="2018"/>
                            <a:chExt cx="65" cy="48"/>
                          </a:xfrm>
                        </p:grpSpPr>
                        <p:grpSp>
                          <p:nvGrpSpPr>
                            <p:cNvPr id="90" name="Group 2080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581" y="2018"/>
                              <a:ext cx="21" cy="48"/>
                              <a:chOff x="3581" y="2018"/>
                              <a:chExt cx="21" cy="48"/>
                            </a:xfrm>
                          </p:grpSpPr>
                          <p:sp>
                            <p:nvSpPr>
                              <p:cNvPr id="93" name="Line 208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581" y="2018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94" name="Line 2082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601" y="2019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91" name="Line 208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625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92" name="Line 208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645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84" name="Group 208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69" y="2017"/>
                            <a:ext cx="65" cy="48"/>
                            <a:chOff x="3669" y="2017"/>
                            <a:chExt cx="65" cy="48"/>
                          </a:xfrm>
                        </p:grpSpPr>
                        <p:grpSp>
                          <p:nvGrpSpPr>
                            <p:cNvPr id="85" name="Group 2086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69" y="2017"/>
                              <a:ext cx="21" cy="48"/>
                              <a:chOff x="3669" y="2017"/>
                              <a:chExt cx="21" cy="48"/>
                            </a:xfrm>
                          </p:grpSpPr>
                          <p:sp>
                            <p:nvSpPr>
                              <p:cNvPr id="88" name="Line 2087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669" y="2017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89" name="Line 2088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689" y="2018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86" name="Line 208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13" y="2017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87" name="Line 2090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33" y="2017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64" name="Group 209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755" y="2018"/>
                          <a:ext cx="153" cy="49"/>
                          <a:chOff x="3755" y="2018"/>
                          <a:chExt cx="153" cy="49"/>
                        </a:xfrm>
                      </p:grpSpPr>
                      <p:grpSp>
                        <p:nvGrpSpPr>
                          <p:cNvPr id="71" name="Group 209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5" y="2019"/>
                            <a:ext cx="65" cy="48"/>
                            <a:chOff x="3755" y="2019"/>
                            <a:chExt cx="65" cy="48"/>
                          </a:xfrm>
                        </p:grpSpPr>
                        <p:grpSp>
                          <p:nvGrpSpPr>
                            <p:cNvPr id="78" name="Group 2093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755" y="2019"/>
                              <a:ext cx="21" cy="48"/>
                              <a:chOff x="3755" y="2019"/>
                              <a:chExt cx="21" cy="48"/>
                            </a:xfrm>
                          </p:grpSpPr>
                          <p:sp>
                            <p:nvSpPr>
                              <p:cNvPr id="81" name="Line 2094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755" y="2019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82" name="Line 2095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775" y="2020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79" name="Line 209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99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80" name="Line 209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19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grpSp>
                        <p:nvGrpSpPr>
                          <p:cNvPr id="72" name="Group 209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843" y="2018"/>
                            <a:ext cx="65" cy="48"/>
                            <a:chOff x="3843" y="2018"/>
                            <a:chExt cx="65" cy="48"/>
                          </a:xfrm>
                        </p:grpSpPr>
                        <p:grpSp>
                          <p:nvGrpSpPr>
                            <p:cNvPr id="73" name="Group 2099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843" y="2018"/>
                              <a:ext cx="21" cy="48"/>
                              <a:chOff x="3843" y="2018"/>
                              <a:chExt cx="21" cy="48"/>
                            </a:xfrm>
                          </p:grpSpPr>
                          <p:sp>
                            <p:nvSpPr>
                              <p:cNvPr id="76" name="Line 2100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843" y="2018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77" name="Line 2101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3863" y="2019"/>
                                <a:ext cx="1" cy="47"/>
                              </a:xfrm>
                              <a:prstGeom prst="line">
                                <a:avLst/>
                              </a:prstGeom>
                              <a:noFill/>
                              <a:ln w="12700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74" name="Line 210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87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75" name="Line 210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907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65" name="Group 21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928" y="2018"/>
                          <a:ext cx="65" cy="48"/>
                          <a:chOff x="3928" y="2018"/>
                          <a:chExt cx="65" cy="48"/>
                        </a:xfrm>
                      </p:grpSpPr>
                      <p:grpSp>
                        <p:nvGrpSpPr>
                          <p:cNvPr id="66" name="Group 210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928" y="2018"/>
                            <a:ext cx="21" cy="48"/>
                            <a:chOff x="3928" y="2018"/>
                            <a:chExt cx="21" cy="48"/>
                          </a:xfrm>
                        </p:grpSpPr>
                        <p:sp>
                          <p:nvSpPr>
                            <p:cNvPr id="69" name="Line 210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928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70" name="Line 210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948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67" name="Line 210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972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68" name="Line 210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992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58" name="Freeform 2110"/>
                  <p:cNvSpPr>
                    <a:spLocks/>
                  </p:cNvSpPr>
                  <p:nvPr/>
                </p:nvSpPr>
                <p:spPr bwMode="auto">
                  <a:xfrm>
                    <a:off x="3574" y="1855"/>
                    <a:ext cx="373" cy="12"/>
                  </a:xfrm>
                  <a:custGeom>
                    <a:avLst/>
                    <a:gdLst>
                      <a:gd name="T0" fmla="*/ 373 w 373"/>
                      <a:gd name="T1" fmla="*/ 12 h 12"/>
                      <a:gd name="T2" fmla="*/ 0 w 373"/>
                      <a:gd name="T3" fmla="*/ 12 h 12"/>
                      <a:gd name="T4" fmla="*/ 0 w 373"/>
                      <a:gd name="T5" fmla="*/ 0 h 12"/>
                      <a:gd name="T6" fmla="*/ 372 w 373"/>
                      <a:gd name="T7" fmla="*/ 0 h 12"/>
                      <a:gd name="T8" fmla="*/ 373 w 373"/>
                      <a:gd name="T9" fmla="*/ 12 h 1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73" h="12">
                        <a:moveTo>
                          <a:pt x="373" y="12"/>
                        </a:moveTo>
                        <a:lnTo>
                          <a:pt x="0" y="12"/>
                        </a:lnTo>
                        <a:lnTo>
                          <a:pt x="0" y="0"/>
                        </a:lnTo>
                        <a:lnTo>
                          <a:pt x="372" y="0"/>
                        </a:lnTo>
                        <a:lnTo>
                          <a:pt x="373" y="12"/>
                        </a:lnTo>
                        <a:close/>
                      </a:path>
                    </a:pathLst>
                  </a:custGeom>
                  <a:solidFill>
                    <a:srgbClr val="3F3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2111"/>
                <p:cNvGrpSpPr>
                  <a:grpSpLocks/>
                </p:cNvGrpSpPr>
                <p:nvPr/>
              </p:nvGrpSpPr>
              <p:grpSpPr bwMode="auto">
                <a:xfrm>
                  <a:off x="3542" y="1602"/>
                  <a:ext cx="428" cy="260"/>
                  <a:chOff x="3542" y="1602"/>
                  <a:chExt cx="428" cy="260"/>
                </a:xfrm>
              </p:grpSpPr>
              <p:grpSp>
                <p:nvGrpSpPr>
                  <p:cNvPr id="30" name="Group 2112"/>
                  <p:cNvGrpSpPr>
                    <a:grpSpLocks/>
                  </p:cNvGrpSpPr>
                  <p:nvPr/>
                </p:nvGrpSpPr>
                <p:grpSpPr bwMode="auto">
                  <a:xfrm>
                    <a:off x="3679" y="1627"/>
                    <a:ext cx="291" cy="226"/>
                    <a:chOff x="3679" y="1627"/>
                    <a:chExt cx="291" cy="226"/>
                  </a:xfrm>
                </p:grpSpPr>
                <p:sp>
                  <p:nvSpPr>
                    <p:cNvPr id="34" name="Freeform 2113"/>
                    <p:cNvSpPr>
                      <a:spLocks/>
                    </p:cNvSpPr>
                    <p:nvPr/>
                  </p:nvSpPr>
                  <p:spPr bwMode="auto">
                    <a:xfrm>
                      <a:off x="3679" y="1627"/>
                      <a:ext cx="291" cy="226"/>
                    </a:xfrm>
                    <a:custGeom>
                      <a:avLst/>
                      <a:gdLst>
                        <a:gd name="T0" fmla="*/ 0 w 291"/>
                        <a:gd name="T1" fmla="*/ 226 h 226"/>
                        <a:gd name="T2" fmla="*/ 279 w 291"/>
                        <a:gd name="T3" fmla="*/ 226 h 226"/>
                        <a:gd name="T4" fmla="*/ 287 w 291"/>
                        <a:gd name="T5" fmla="*/ 220 h 226"/>
                        <a:gd name="T6" fmla="*/ 291 w 291"/>
                        <a:gd name="T7" fmla="*/ 206 h 226"/>
                        <a:gd name="T8" fmla="*/ 291 w 291"/>
                        <a:gd name="T9" fmla="*/ 21 h 226"/>
                        <a:gd name="T10" fmla="*/ 289 w 291"/>
                        <a:gd name="T11" fmla="*/ 6 h 226"/>
                        <a:gd name="T12" fmla="*/ 281 w 291"/>
                        <a:gd name="T13" fmla="*/ 0 h 226"/>
                        <a:gd name="T14" fmla="*/ 0 w 291"/>
                        <a:gd name="T15" fmla="*/ 0 h 226"/>
                        <a:gd name="T16" fmla="*/ 0 w 291"/>
                        <a:gd name="T17" fmla="*/ 226 h 22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291" h="226">
                          <a:moveTo>
                            <a:pt x="0" y="226"/>
                          </a:moveTo>
                          <a:lnTo>
                            <a:pt x="279" y="226"/>
                          </a:lnTo>
                          <a:lnTo>
                            <a:pt x="287" y="220"/>
                          </a:lnTo>
                          <a:lnTo>
                            <a:pt x="291" y="206"/>
                          </a:lnTo>
                          <a:lnTo>
                            <a:pt x="291" y="21"/>
                          </a:lnTo>
                          <a:lnTo>
                            <a:pt x="289" y="6"/>
                          </a:lnTo>
                          <a:lnTo>
                            <a:pt x="281" y="0"/>
                          </a:lnTo>
                          <a:lnTo>
                            <a:pt x="0" y="0"/>
                          </a:lnTo>
                          <a:lnTo>
                            <a:pt x="0" y="22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5" name="Group 21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4" y="1646"/>
                      <a:ext cx="268" cy="165"/>
                      <a:chOff x="3694" y="1646"/>
                      <a:chExt cx="268" cy="165"/>
                    </a:xfrm>
                  </p:grpSpPr>
                  <p:grpSp>
                    <p:nvGrpSpPr>
                      <p:cNvPr id="36" name="Group 211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646"/>
                        <a:ext cx="267" cy="44"/>
                        <a:chOff x="3694" y="1646"/>
                        <a:chExt cx="267" cy="44"/>
                      </a:xfrm>
                    </p:grpSpPr>
                    <p:grpSp>
                      <p:nvGrpSpPr>
                        <p:cNvPr id="51" name="Group 211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4" y="1646"/>
                          <a:ext cx="267" cy="15"/>
                          <a:chOff x="3694" y="1646"/>
                          <a:chExt cx="267" cy="15"/>
                        </a:xfrm>
                      </p:grpSpPr>
                      <p:sp>
                        <p:nvSpPr>
                          <p:cNvPr id="55" name="Line 211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4" y="1646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56" name="Line 211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4" y="1659"/>
                            <a:ext cx="267" cy="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52" name="Group 211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4" y="1676"/>
                          <a:ext cx="267" cy="14"/>
                          <a:chOff x="3694" y="1676"/>
                          <a:chExt cx="267" cy="14"/>
                        </a:xfrm>
                      </p:grpSpPr>
                      <p:sp>
                        <p:nvSpPr>
                          <p:cNvPr id="53" name="Line 212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4" y="1676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54" name="Line 212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4" y="1689"/>
                            <a:ext cx="267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37" name="Group 212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5" y="1706"/>
                        <a:ext cx="267" cy="45"/>
                        <a:chOff x="3695" y="1706"/>
                        <a:chExt cx="267" cy="45"/>
                      </a:xfrm>
                    </p:grpSpPr>
                    <p:grpSp>
                      <p:nvGrpSpPr>
                        <p:cNvPr id="45" name="Group 212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5" y="1706"/>
                          <a:ext cx="267" cy="14"/>
                          <a:chOff x="3695" y="1706"/>
                          <a:chExt cx="267" cy="14"/>
                        </a:xfrm>
                      </p:grpSpPr>
                      <p:sp>
                        <p:nvSpPr>
                          <p:cNvPr id="49" name="Line 212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5" y="1706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50" name="Line 212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5" y="1719"/>
                            <a:ext cx="267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46" name="Group 212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5" y="1736"/>
                          <a:ext cx="267" cy="15"/>
                          <a:chOff x="3695" y="1736"/>
                          <a:chExt cx="267" cy="15"/>
                        </a:xfrm>
                      </p:grpSpPr>
                      <p:sp>
                        <p:nvSpPr>
                          <p:cNvPr id="47" name="Line 212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5" y="1736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8" name="Line 212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5" y="1749"/>
                            <a:ext cx="267" cy="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38" name="Group 212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766"/>
                        <a:ext cx="267" cy="45"/>
                        <a:chOff x="3694" y="1766"/>
                        <a:chExt cx="267" cy="45"/>
                      </a:xfrm>
                    </p:grpSpPr>
                    <p:grpSp>
                      <p:nvGrpSpPr>
                        <p:cNvPr id="39" name="Group 213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4" y="1766"/>
                          <a:ext cx="267" cy="15"/>
                          <a:chOff x="3694" y="1766"/>
                          <a:chExt cx="267" cy="15"/>
                        </a:xfrm>
                      </p:grpSpPr>
                      <p:sp>
                        <p:nvSpPr>
                          <p:cNvPr id="43" name="Line 213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4" y="1766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" name="Line 213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4" y="1779"/>
                            <a:ext cx="267" cy="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40" name="Group 213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4" y="1797"/>
                          <a:ext cx="267" cy="14"/>
                          <a:chOff x="3694" y="1797"/>
                          <a:chExt cx="267" cy="14"/>
                        </a:xfrm>
                      </p:grpSpPr>
                      <p:sp>
                        <p:nvSpPr>
                          <p:cNvPr id="41" name="Line 2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94" y="1797"/>
                            <a:ext cx="266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2" name="Line 213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694" y="1810"/>
                            <a:ext cx="267" cy="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31" name="Group 2136"/>
                  <p:cNvGrpSpPr>
                    <a:grpSpLocks/>
                  </p:cNvGrpSpPr>
                  <p:nvPr/>
                </p:nvGrpSpPr>
                <p:grpSpPr bwMode="auto">
                  <a:xfrm>
                    <a:off x="3542" y="1602"/>
                    <a:ext cx="135" cy="260"/>
                    <a:chOff x="3542" y="1602"/>
                    <a:chExt cx="135" cy="260"/>
                  </a:xfrm>
                </p:grpSpPr>
                <p:sp>
                  <p:nvSpPr>
                    <p:cNvPr id="32" name="Freeform 2137"/>
                    <p:cNvSpPr>
                      <a:spLocks/>
                    </p:cNvSpPr>
                    <p:nvPr/>
                  </p:nvSpPr>
                  <p:spPr bwMode="auto">
                    <a:xfrm>
                      <a:off x="3542" y="1602"/>
                      <a:ext cx="135" cy="250"/>
                    </a:xfrm>
                    <a:custGeom>
                      <a:avLst/>
                      <a:gdLst>
                        <a:gd name="T0" fmla="*/ 135 w 135"/>
                        <a:gd name="T1" fmla="*/ 0 h 250"/>
                        <a:gd name="T2" fmla="*/ 135 w 135"/>
                        <a:gd name="T3" fmla="*/ 250 h 250"/>
                        <a:gd name="T4" fmla="*/ 9 w 135"/>
                        <a:gd name="T5" fmla="*/ 250 h 250"/>
                        <a:gd name="T6" fmla="*/ 4 w 135"/>
                        <a:gd name="T7" fmla="*/ 248 h 250"/>
                        <a:gd name="T8" fmla="*/ 1 w 135"/>
                        <a:gd name="T9" fmla="*/ 241 h 250"/>
                        <a:gd name="T10" fmla="*/ 0 w 135"/>
                        <a:gd name="T11" fmla="*/ 234 h 250"/>
                        <a:gd name="T12" fmla="*/ 0 w 135"/>
                        <a:gd name="T13" fmla="*/ 14 h 250"/>
                        <a:gd name="T14" fmla="*/ 2 w 135"/>
                        <a:gd name="T15" fmla="*/ 7 h 250"/>
                        <a:gd name="T16" fmla="*/ 6 w 135"/>
                        <a:gd name="T17" fmla="*/ 1 h 250"/>
                        <a:gd name="T18" fmla="*/ 12 w 135"/>
                        <a:gd name="T19" fmla="*/ 0 h 250"/>
                        <a:gd name="T20" fmla="*/ 135 w 135"/>
                        <a:gd name="T21" fmla="*/ 0 h 250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0" t="0" r="r" b="b"/>
                      <a:pathLst>
                        <a:path w="135" h="250">
                          <a:moveTo>
                            <a:pt x="135" y="0"/>
                          </a:moveTo>
                          <a:lnTo>
                            <a:pt x="135" y="250"/>
                          </a:lnTo>
                          <a:lnTo>
                            <a:pt x="9" y="250"/>
                          </a:lnTo>
                          <a:lnTo>
                            <a:pt x="4" y="248"/>
                          </a:lnTo>
                          <a:lnTo>
                            <a:pt x="1" y="241"/>
                          </a:lnTo>
                          <a:lnTo>
                            <a:pt x="0" y="234"/>
                          </a:lnTo>
                          <a:lnTo>
                            <a:pt x="0" y="14"/>
                          </a:lnTo>
                          <a:lnTo>
                            <a:pt x="2" y="7"/>
                          </a:lnTo>
                          <a:lnTo>
                            <a:pt x="6" y="1"/>
                          </a:lnTo>
                          <a:lnTo>
                            <a:pt x="12" y="0"/>
                          </a:lnTo>
                          <a:lnTo>
                            <a:pt x="135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" name="Line 21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57" y="1604"/>
                      <a:ext cx="1" cy="25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4" name="AutoShape 2139"/>
            <p:cNvSpPr>
              <a:spLocks noChangeArrowheads="1"/>
            </p:cNvSpPr>
            <p:nvPr/>
          </p:nvSpPr>
          <p:spPr bwMode="auto">
            <a:xfrm>
              <a:off x="4512" y="1836"/>
              <a:ext cx="960" cy="768"/>
            </a:xfrm>
            <a:prstGeom prst="flowChartMulti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AutoShape 2140"/>
            <p:cNvSpPr>
              <a:spLocks noChangeArrowheads="1"/>
            </p:cNvSpPr>
            <p:nvPr/>
          </p:nvSpPr>
          <p:spPr bwMode="auto">
            <a:xfrm>
              <a:off x="4320" y="2028"/>
              <a:ext cx="960" cy="768"/>
            </a:xfrm>
            <a:prstGeom prst="flowChartMulti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" name="Text Box 2141"/>
            <p:cNvSpPr txBox="1">
              <a:spLocks noChangeArrowheads="1"/>
            </p:cNvSpPr>
            <p:nvPr/>
          </p:nvSpPr>
          <p:spPr bwMode="auto">
            <a:xfrm>
              <a:off x="4108" y="20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" name="Text Box 2142"/>
            <p:cNvSpPr txBox="1">
              <a:spLocks noChangeArrowheads="1"/>
            </p:cNvSpPr>
            <p:nvPr/>
          </p:nvSpPr>
          <p:spPr bwMode="auto">
            <a:xfrm>
              <a:off x="4204" y="18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Text Box 2143"/>
            <p:cNvSpPr txBox="1">
              <a:spLocks noChangeArrowheads="1"/>
            </p:cNvSpPr>
            <p:nvPr/>
          </p:nvSpPr>
          <p:spPr bwMode="auto">
            <a:xfrm>
              <a:off x="4300" y="17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" name="Oval 2144"/>
            <p:cNvSpPr>
              <a:spLocks noChangeArrowheads="1"/>
            </p:cNvSpPr>
            <p:nvPr/>
          </p:nvSpPr>
          <p:spPr bwMode="auto">
            <a:xfrm>
              <a:off x="4512" y="1740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3" name="Oval 2145"/>
            <p:cNvSpPr>
              <a:spLocks noChangeArrowheads="1"/>
            </p:cNvSpPr>
            <p:nvPr/>
          </p:nvSpPr>
          <p:spPr bwMode="auto">
            <a:xfrm>
              <a:off x="4608" y="1644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4" name="Oval 2146"/>
            <p:cNvSpPr>
              <a:spLocks noChangeArrowheads="1"/>
            </p:cNvSpPr>
            <p:nvPr/>
          </p:nvSpPr>
          <p:spPr bwMode="auto">
            <a:xfrm>
              <a:off x="4704" y="154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5" name="AutoShape 2147"/>
            <p:cNvSpPr>
              <a:spLocks noChangeArrowheads="1"/>
            </p:cNvSpPr>
            <p:nvPr/>
          </p:nvSpPr>
          <p:spPr bwMode="auto">
            <a:xfrm flipV="1">
              <a:off x="4032" y="1056"/>
              <a:ext cx="672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1" name="Rectangle 2148"/>
          <p:cNvSpPr>
            <a:spLocks noChangeArrowheads="1"/>
          </p:cNvSpPr>
          <p:nvPr/>
        </p:nvSpPr>
        <p:spPr bwMode="auto">
          <a:xfrm>
            <a:off x="1443355" y="4678119"/>
            <a:ext cx="7315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None/>
            </a:pPr>
            <a:r>
              <a:rPr lang="en-US" altLang="en-US" sz="2400" dirty="0"/>
              <a:t>Memory cells are numbered and accessing any cell in memory takes unit time.</a:t>
            </a:r>
          </a:p>
        </p:txBody>
      </p:sp>
    </p:spTree>
    <p:extLst>
      <p:ext uri="{BB962C8B-B14F-4D97-AF65-F5344CB8AC3E}">
        <p14:creationId xmlns:p14="http://schemas.microsoft.com/office/powerpoint/2010/main" val="385639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7765"/>
            <a:ext cx="1932425" cy="1932425"/>
          </a:xfrm>
          <a:prstGeom prst="rect">
            <a:avLst/>
          </a:prstGeom>
        </p:spPr>
      </p:pic>
      <p:sp>
        <p:nvSpPr>
          <p:cNvPr id="112" name="Rectangle 2"/>
          <p:cNvSpPr txBox="1">
            <a:spLocks noChangeArrowheads="1"/>
          </p:cNvSpPr>
          <p:nvPr/>
        </p:nvSpPr>
        <p:spPr>
          <a:xfrm>
            <a:off x="250166" y="181154"/>
            <a:ext cx="7240294" cy="961845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5400" dirty="0">
                <a:solidFill>
                  <a:schemeClr val="accent5">
                    <a:lumMod val="75000"/>
                  </a:schemeClr>
                </a:solidFill>
              </a:rPr>
              <a:t>Primitive Operations</a:t>
            </a:r>
          </a:p>
        </p:txBody>
      </p:sp>
      <p:sp>
        <p:nvSpPr>
          <p:cNvPr id="1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061657" y="1365824"/>
            <a:ext cx="9939192" cy="4888671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- Basic computations performed by an algorithm</a:t>
            </a:r>
          </a:p>
          <a:p>
            <a:pPr algn="l"/>
            <a:r>
              <a:rPr lang="en-US" altLang="en-US" sz="2800" dirty="0"/>
              <a:t>- Identifiable in </a:t>
            </a:r>
            <a:r>
              <a:rPr lang="en-US" altLang="en-US" sz="2800" dirty="0">
                <a:solidFill>
                  <a:srgbClr val="FF9900"/>
                </a:solidFill>
              </a:rPr>
              <a:t>pseudocode.</a:t>
            </a:r>
          </a:p>
          <a:p>
            <a:pPr algn="l"/>
            <a:r>
              <a:rPr lang="en-US" altLang="en-US" sz="2800" dirty="0"/>
              <a:t>- Largely independent from the programming language.</a:t>
            </a:r>
          </a:p>
          <a:p>
            <a:pPr algn="l"/>
            <a:r>
              <a:rPr lang="en-US" altLang="en-US" sz="2800" dirty="0"/>
              <a:t>- Exact definition not important (</a:t>
            </a:r>
            <a:r>
              <a:rPr lang="en-US" altLang="en-US" sz="2800" dirty="0">
                <a:solidFill>
                  <a:srgbClr val="009999"/>
                </a:solidFill>
              </a:rPr>
              <a:t>we will see why? later</a:t>
            </a:r>
            <a:r>
              <a:rPr lang="en-US" altLang="en-US" sz="2800" dirty="0"/>
              <a:t>)</a:t>
            </a:r>
          </a:p>
          <a:p>
            <a:pPr algn="l"/>
            <a:r>
              <a:rPr lang="en-US" altLang="en-US" sz="2800" dirty="0"/>
              <a:t>- Assumed to take a constant amount of time in the RAM model.</a:t>
            </a:r>
            <a:endParaRPr lang="en-US" altLang="en-US" sz="3200" dirty="0"/>
          </a:p>
        </p:txBody>
      </p:sp>
      <p:sp>
        <p:nvSpPr>
          <p:cNvPr id="114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202786" y="4014895"/>
            <a:ext cx="5287674" cy="2369075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en-US" sz="2400" dirty="0">
                <a:solidFill>
                  <a:srgbClr val="009999"/>
                </a:solidFill>
              </a:rPr>
              <a:t>Examples:</a:t>
            </a:r>
          </a:p>
          <a:p>
            <a:pPr marL="457200" lvl="1" indent="0" algn="l">
              <a:buNone/>
            </a:pPr>
            <a:r>
              <a:rPr lang="en-US" altLang="en-US" sz="2000" dirty="0"/>
              <a:t>        - </a:t>
            </a:r>
            <a:r>
              <a:rPr lang="en-US" altLang="en-US" sz="2200" dirty="0"/>
              <a:t>Evaluating an expression</a:t>
            </a:r>
          </a:p>
          <a:p>
            <a:pPr marL="457200" lvl="1" indent="0" algn="l">
              <a:buNone/>
            </a:pPr>
            <a:r>
              <a:rPr lang="en-US" altLang="en-US" sz="2200" dirty="0"/>
              <a:t>       - Assigning a value to a variable</a:t>
            </a:r>
          </a:p>
          <a:p>
            <a:pPr marL="457200" lvl="1" indent="0" algn="l">
              <a:buNone/>
            </a:pPr>
            <a:r>
              <a:rPr lang="en-US" altLang="en-US" sz="2200" dirty="0"/>
              <a:t>       - Indexing into an array.</a:t>
            </a:r>
          </a:p>
          <a:p>
            <a:pPr marL="457200" lvl="1" indent="0" algn="l">
              <a:buNone/>
            </a:pPr>
            <a:r>
              <a:rPr lang="en-US" altLang="en-US" sz="2200" dirty="0"/>
              <a:t>       - Calling a method</a:t>
            </a:r>
          </a:p>
          <a:p>
            <a:pPr marL="457200" lvl="1" indent="0" algn="l">
              <a:buNone/>
            </a:pPr>
            <a:r>
              <a:rPr lang="en-US" altLang="en-US" sz="2200" dirty="0"/>
              <a:t>       - Returning from a method.</a:t>
            </a:r>
          </a:p>
        </p:txBody>
      </p:sp>
    </p:spTree>
    <p:extLst>
      <p:ext uri="{BB962C8B-B14F-4D97-AF65-F5344CB8AC3E}">
        <p14:creationId xmlns:p14="http://schemas.microsoft.com/office/powerpoint/2010/main" val="255414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796550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58792" y="259080"/>
            <a:ext cx="8199408" cy="6858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</a:rPr>
              <a:t>Counting Primitive Operations (</a:t>
            </a:r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  <a:cs typeface="Tahoma" panose="020B0604030504040204" pitchFamily="34" charset="0"/>
              </a:rPr>
              <a:t>§</a:t>
            </a:r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</a:rPr>
              <a:t>1.1)</a:t>
            </a: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685800" y="1371600"/>
            <a:ext cx="10045778" cy="11430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altLang="en-US" dirty="0"/>
              <a:t>By checking or inspecting the pseudocode, we can determine the maximum number of primitive operations executed by an algorithm, as a function of the input size.                                                      </a:t>
            </a:r>
            <a:r>
              <a:rPr lang="en-US" altLang="en-US" sz="1800" dirty="0">
                <a:solidFill>
                  <a:srgbClr val="C00000"/>
                </a:solidFill>
              </a:rPr>
              <a:t>See the 1</a:t>
            </a:r>
            <a:r>
              <a:rPr lang="en-US" altLang="en-US" sz="1800" baseline="30000" dirty="0">
                <a:solidFill>
                  <a:srgbClr val="C00000"/>
                </a:solidFill>
              </a:rPr>
              <a:t>st</a:t>
            </a:r>
            <a:r>
              <a:rPr lang="en-US" altLang="en-US" sz="1800" dirty="0">
                <a:solidFill>
                  <a:srgbClr val="C00000"/>
                </a:solidFill>
              </a:rPr>
              <a:t> text book page 10</a:t>
            </a:r>
          </a:p>
        </p:txBody>
      </p:sp>
      <p:sp>
        <p:nvSpPr>
          <p:cNvPr id="12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917388" y="2778729"/>
            <a:ext cx="5145370" cy="30480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2400" dirty="0"/>
          </a:p>
          <a:p>
            <a:pPr algn="l">
              <a:spcBef>
                <a:spcPts val="600"/>
              </a:spcBef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[0]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1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	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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	</a:t>
            </a:r>
            <a:endParaRPr lang="en-US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	</a:t>
            </a:r>
          </a:p>
          <a:p>
            <a:pPr algn="l"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{ increment counter </a:t>
            </a:r>
            <a:r>
              <a:rPr lang="en-US" altLang="en-US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} 		</a:t>
            </a: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return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			</a:t>
            </a:r>
          </a:p>
        </p:txBody>
      </p:sp>
      <p:sp>
        <p:nvSpPr>
          <p:cNvPr id="16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7062758" y="3094809"/>
            <a:ext cx="4906329" cy="3259646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400" dirty="0"/>
              <a:t># operations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    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LID8192" altLang="en-US" sz="16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//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i:=1, loop n-1, </a:t>
            </a:r>
            <a:r>
              <a:rPr lang="en-US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cond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if </a:t>
            </a:r>
            <a:r>
              <a:rPr lang="en-US" altLang="en-US" sz="16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=n-1  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LID8192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1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 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  <a:endParaRPr lang="en-US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	2(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     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Total =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428543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210" y="4813375"/>
            <a:ext cx="1932425" cy="193242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0" y="211455"/>
            <a:ext cx="8458200" cy="78105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</a:rPr>
              <a:t>The 3 scenarios of algorithms behavior </a:t>
            </a:r>
            <a:endParaRPr lang="ar-SA" alt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4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1280478"/>
            <a:ext cx="682942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45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89840" y="49004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</a:rPr>
              <a:t>Estimating Running Time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546859" y="1320644"/>
            <a:ext cx="8982765" cy="46482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Algorithm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dirty="0"/>
              <a:t> executes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 </a:t>
            </a:r>
            <a:r>
              <a:rPr lang="en-US" altLang="en-US" dirty="0"/>
              <a:t>primitive operations in the worst case.  </a:t>
            </a:r>
            <a:endParaRPr lang="ar-SA" altLang="en-US" dirty="0"/>
          </a:p>
          <a:p>
            <a:pPr algn="l"/>
            <a:r>
              <a:rPr lang="en-US" altLang="en-US" dirty="0"/>
              <a:t>If we Define:</a:t>
            </a:r>
          </a:p>
          <a:p>
            <a:pPr algn="l"/>
            <a:endParaRPr lang="en-US" altLang="en-US" dirty="0"/>
          </a:p>
          <a:p>
            <a:pPr lvl="1" algn="l">
              <a:buFont typeface="Times New Roman" panose="02020603050405020304" pitchFamily="18" charset="0"/>
              <a:buNone/>
            </a:pPr>
            <a:r>
              <a:rPr lang="en-US" altLang="en-US" dirty="0"/>
              <a:t>		      a = Time taken by the fastest primitive operation</a:t>
            </a:r>
          </a:p>
          <a:p>
            <a:pPr lvl="1" algn="l">
              <a:buFont typeface="Wingdings" panose="05000000000000000000" pitchFamily="2" charset="2"/>
              <a:buNone/>
            </a:pPr>
            <a:r>
              <a:rPr lang="en-US" altLang="en-US" dirty="0"/>
              <a:t>	      b = Time taken by the slowest primitive operation</a:t>
            </a:r>
          </a:p>
          <a:p>
            <a:pPr algn="l"/>
            <a:endParaRPr lang="en-US" altLang="en-US" dirty="0"/>
          </a:p>
          <a:p>
            <a:pPr algn="l"/>
            <a:r>
              <a:rPr lang="en-US" altLang="en-US" dirty="0"/>
              <a:t>Let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be worst-case time of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b="1" i="1" dirty="0">
                <a:latin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</a:rPr>
              <a:t> </a:t>
            </a:r>
            <a:r>
              <a:rPr lang="en-US" altLang="en-US" dirty="0"/>
              <a:t>Then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(7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2)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(7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2)</a:t>
            </a:r>
          </a:p>
          <a:p>
            <a:pPr algn="l"/>
            <a:r>
              <a:rPr lang="en-US" altLang="en-US" dirty="0"/>
              <a:t>Hence, the running time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is bounded by two linear functions.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2491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72034" y="220980"/>
            <a:ext cx="7772400" cy="762000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77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Growth Rate of Running Time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145790" y="1692275"/>
            <a:ext cx="9850192" cy="44196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200" dirty="0"/>
              <a:t>Changing the hardware/ software environment </a:t>
            </a:r>
          </a:p>
          <a:p>
            <a:pPr lvl="1" algn="l"/>
            <a:r>
              <a:rPr lang="en-US" altLang="en-US" sz="2400" dirty="0"/>
              <a:t>		        - Affects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dirty="0"/>
              <a:t> by a constant factor, but</a:t>
            </a:r>
          </a:p>
          <a:p>
            <a:pPr lvl="1" algn="l"/>
            <a:r>
              <a:rPr lang="en-US" altLang="en-US" sz="2400" dirty="0"/>
              <a:t>        - Does not alter/change the growth rate of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algn="l"/>
            <a:endParaRPr lang="en-US" altLang="en-US" sz="2400" dirty="0"/>
          </a:p>
          <a:p>
            <a:pPr algn="l"/>
            <a:r>
              <a:rPr lang="en-US" altLang="en-US" sz="3200" dirty="0"/>
              <a:t>The linear growth rate of the running time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3200" dirty="0"/>
              <a:t> is an essential property of algorithm </a:t>
            </a:r>
            <a:r>
              <a:rPr lang="en-US" altLang="en-US" sz="3200" b="1" i="1" dirty="0" err="1">
                <a:latin typeface="Times New Roman" panose="02020603050405020304" pitchFamily="18" charset="0"/>
              </a:rPr>
              <a:t>arrayMax</a:t>
            </a: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980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-1077533" y="42157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Growth Rates</a:t>
            </a:r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482957" y="1670397"/>
            <a:ext cx="5132231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3200" dirty="0"/>
              <a:t>Growth rates of functions:</a:t>
            </a:r>
          </a:p>
          <a:p>
            <a:pPr lvl="1">
              <a:defRPr/>
            </a:pPr>
            <a:r>
              <a:rPr lang="en-US" altLang="en-US" sz="2800" dirty="0"/>
              <a:t>Linear </a:t>
            </a:r>
            <a:r>
              <a:rPr lang="en-US" altLang="en-US" sz="2800" dirty="0">
                <a:sym typeface="Symbol" pitchFamily="18" charset="2"/>
              </a:rPr>
              <a:t> </a:t>
            </a:r>
            <a:r>
              <a:rPr lang="en-US" altLang="en-US" sz="2800" b="1" i="1" dirty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>
              <a:defRPr/>
            </a:pPr>
            <a:r>
              <a:rPr lang="en-US" altLang="en-US" sz="2800" dirty="0"/>
              <a:t>Quadratic </a:t>
            </a:r>
            <a:r>
              <a:rPr lang="en-US" altLang="en-US" sz="2800" dirty="0">
                <a:sym typeface="Symbol" pitchFamily="18" charset="2"/>
              </a:rPr>
              <a:t> </a:t>
            </a:r>
            <a:r>
              <a:rPr lang="en-US" altLang="en-US" sz="2800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en-US" sz="2800" baseline="30000" dirty="0">
                <a:latin typeface="Times New Roman" pitchFamily="18" charset="0"/>
                <a:sym typeface="Symbol" pitchFamily="18" charset="2"/>
              </a:rPr>
              <a:t>2</a:t>
            </a:r>
          </a:p>
          <a:p>
            <a:pPr lvl="1">
              <a:defRPr/>
            </a:pPr>
            <a:r>
              <a:rPr lang="en-US" altLang="en-US" sz="2800" dirty="0"/>
              <a:t>Cubic </a:t>
            </a:r>
            <a:r>
              <a:rPr lang="en-US" altLang="en-US" sz="2800" dirty="0">
                <a:sym typeface="Symbol" pitchFamily="18" charset="2"/>
              </a:rPr>
              <a:t> </a:t>
            </a:r>
            <a:r>
              <a:rPr lang="en-US" altLang="en-US" sz="2800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en-US" sz="2800" baseline="30000" dirty="0">
                <a:latin typeface="Times New Roman" pitchFamily="18" charset="0"/>
                <a:sym typeface="Symbol" pitchFamily="18" charset="2"/>
              </a:rPr>
              <a:t>3</a:t>
            </a:r>
          </a:p>
          <a:p>
            <a:pPr lvl="1">
              <a:defRPr/>
            </a:pPr>
            <a:endParaRPr lang="en-US" altLang="en-US" sz="2800" b="1" baseline="30000" dirty="0">
              <a:latin typeface="Times New Roman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Does the growth depend on the HW?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It depends on What?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294477"/>
              </p:ext>
            </p:extLst>
          </p:nvPr>
        </p:nvGraphicFramePr>
        <p:xfrm>
          <a:off x="6371474" y="501609"/>
          <a:ext cx="51339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8277606" imgH="7315606" progId="Excel.Chart.8">
                  <p:embed followColorScheme="full"/>
                </p:oleObj>
              </mc:Choice>
              <mc:Fallback>
                <p:oleObj name="Chart" r:id="rId4" imgW="8277606" imgH="7315606" progId="Excel.Chart.8">
                  <p:embed followColorScheme="full"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1474" y="501609"/>
                        <a:ext cx="5133975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967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-609600" y="49004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Constant Factors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85770" y="1505805"/>
            <a:ext cx="554609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1600" dirty="0">
                <a:solidFill>
                  <a:srgbClr val="FF0000"/>
                </a:solidFill>
                <a:sym typeface="Wingdings 2" panose="05020102010507070707" pitchFamily="18" charset="2"/>
              </a:rPr>
              <a:t> </a:t>
            </a:r>
            <a:r>
              <a:rPr lang="en-US" altLang="en-US" sz="2800" dirty="0"/>
              <a:t>The growth rate is not affected by</a:t>
            </a:r>
          </a:p>
          <a:p>
            <a:pPr lvl="1" algn="l"/>
            <a:r>
              <a:rPr lang="en-US" altLang="en-US" sz="2400" dirty="0"/>
              <a:t>constant factors or </a:t>
            </a:r>
          </a:p>
          <a:p>
            <a:pPr lvl="1" algn="l"/>
            <a:r>
              <a:rPr lang="en-US" altLang="en-US" sz="2400" dirty="0"/>
              <a:t>lower-order terms</a:t>
            </a:r>
          </a:p>
          <a:p>
            <a:pPr lvl="1" algn="l"/>
            <a:endParaRPr lang="en-US" altLang="en-US" sz="2400" dirty="0"/>
          </a:p>
          <a:p>
            <a:pPr algn="l"/>
            <a:r>
              <a:rPr lang="en-US" altLang="en-US" sz="1600" dirty="0">
                <a:solidFill>
                  <a:srgbClr val="FF0000"/>
                </a:solidFill>
                <a:sym typeface="Wingdings 2" panose="05020102010507070707" pitchFamily="18" charset="2"/>
              </a:rPr>
              <a:t></a:t>
            </a:r>
            <a:r>
              <a:rPr lang="en-US" altLang="en-US" sz="2800" dirty="0">
                <a:solidFill>
                  <a:srgbClr val="FF0000"/>
                </a:solidFill>
                <a:sym typeface="Wingdings 2" panose="05020102010507070707" pitchFamily="18" charset="2"/>
              </a:rPr>
              <a:t> </a:t>
            </a:r>
            <a:r>
              <a:rPr lang="en-US" altLang="en-US" sz="2800" dirty="0"/>
              <a:t>Examples</a:t>
            </a:r>
          </a:p>
          <a:p>
            <a:pPr lvl="1" algn="l"/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10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is a linear function</a:t>
            </a:r>
          </a:p>
          <a:p>
            <a:pPr lvl="1" algn="l"/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10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10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is a quadratic function</a:t>
            </a:r>
          </a:p>
          <a:p>
            <a:pPr algn="l"/>
            <a:endParaRPr lang="en-US" altLang="en-US" sz="2800" dirty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85760"/>
              </p:ext>
            </p:extLst>
          </p:nvPr>
        </p:nvGraphicFramePr>
        <p:xfrm>
          <a:off x="6851650" y="627519"/>
          <a:ext cx="47720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7915656" imgH="6677558" progId="Excel.Chart.8">
                  <p:embed followColorScheme="full"/>
                </p:oleObj>
              </mc:Choice>
              <mc:Fallback>
                <p:oleObj name="Chart" r:id="rId4" imgW="7915656" imgH="6677558" progId="Excel.Chart.8">
                  <p:embed followColorScheme="full"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627519"/>
                        <a:ext cx="477202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7233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Big-Oh Notation </a:t>
            </a:r>
            <a:r>
              <a:rPr lang="en-US" altLang="en-US" sz="48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US" altLang="en-US" sz="4800" dirty="0">
                <a:solidFill>
                  <a:schemeClr val="accent5">
                    <a:lumMod val="75000"/>
                  </a:schemeClr>
                </a:solidFill>
                <a:cs typeface="Tahoma" panose="020B0604030504040204" pitchFamily="34" charset="0"/>
              </a:rPr>
              <a:t>§</a:t>
            </a:r>
            <a:r>
              <a:rPr lang="en-US" altLang="en-US" sz="4800" dirty="0">
                <a:solidFill>
                  <a:schemeClr val="accent5">
                    <a:lumMod val="75000"/>
                  </a:schemeClr>
                </a:solidFill>
              </a:rPr>
              <a:t>1.2)</a:t>
            </a:r>
          </a:p>
        </p:txBody>
      </p:sp>
      <p:sp>
        <p:nvSpPr>
          <p:cNvPr id="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480912" y="2978810"/>
            <a:ext cx="7093596" cy="3997973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Given functions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dirty="0"/>
              <a:t>and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dirty="0"/>
              <a:t>we say that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dirty="0"/>
              <a:t>is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if there are positive constants </a:t>
            </a:r>
            <a:br>
              <a:rPr lang="en-US" altLang="en-US" dirty="0"/>
            </a:b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dirty="0"/>
              <a:t> and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dirty="0"/>
              <a:t> such that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en-US" altLang="en-US" dirty="0"/>
              <a:t>for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</a:t>
            </a:r>
            <a:r>
              <a:rPr lang="en-US" altLang="en-US" dirty="0"/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  <a:p>
            <a:pPr algn="l"/>
            <a:r>
              <a:rPr lang="en-US" altLang="en-US" dirty="0"/>
              <a:t>Example: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algn="l"/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cn</a:t>
            </a:r>
            <a:endParaRPr lang="en-US" altLang="en-US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algn="l"/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2)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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</a:p>
          <a:p>
            <a:pPr lvl="1" algn="l"/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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/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2)</a:t>
            </a:r>
          </a:p>
          <a:p>
            <a:pPr lvl="1" algn="l"/>
            <a:r>
              <a:rPr lang="en-US" altLang="en-US" dirty="0"/>
              <a:t>Pick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dirty="0"/>
              <a:t>and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endParaRPr lang="en-US" altLang="en-US" dirty="0"/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344314"/>
              </p:ext>
            </p:extLst>
          </p:nvPr>
        </p:nvGraphicFramePr>
        <p:xfrm>
          <a:off x="7857190" y="661222"/>
          <a:ext cx="448627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9182481" imgH="7392010" progId="Excel.Chart.8">
                  <p:embed followColorScheme="full"/>
                </p:oleObj>
              </mc:Choice>
              <mc:Fallback>
                <p:oleObj name="Chart" r:id="rId4" imgW="9182481" imgH="7392010" progId="Excel.Chart.8">
                  <p:embed followColorScheme="full"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190" y="661222"/>
                        <a:ext cx="4486275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80912" y="1131720"/>
            <a:ext cx="75741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Definition: </a:t>
            </a:r>
            <a:r>
              <a:rPr lang="en-US" sz="2400" dirty="0"/>
              <a:t>Big O Notation (O): Describes an upper bound on the time or space complexity. It represents the worst-case scenario and is used to express the maximum amount of time or space an algorithm will require.</a:t>
            </a:r>
          </a:p>
        </p:txBody>
      </p:sp>
    </p:spTree>
    <p:extLst>
      <p:ext uri="{BB962C8B-B14F-4D97-AF65-F5344CB8AC3E}">
        <p14:creationId xmlns:p14="http://schemas.microsoft.com/office/powerpoint/2010/main" val="657717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-920750" y="0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Big-Oh Example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27100" y="1517650"/>
            <a:ext cx="4489450" cy="3657600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3200" dirty="0"/>
              <a:t>Example: the function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ym typeface="Symbol" panose="05050102010706020507" pitchFamily="18" charset="2"/>
              </a:rPr>
              <a:t>is not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>
              <a:defRPr/>
            </a:pP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cn</a:t>
            </a:r>
            <a:endParaRPr lang="en-US" altLang="en-US" sz="28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defRPr/>
            </a:pP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endParaRPr lang="en-US" altLang="en-US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defRPr/>
            </a:pPr>
            <a:r>
              <a:rPr lang="en-US" altLang="en-US" sz="2800" dirty="0"/>
              <a:t>The above inequality cannot be satisfied because 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2800" dirty="0"/>
              <a:t> must be a constant 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</a:rPr>
              <a:t>Refers back to text book</a:t>
            </a:r>
          </a:p>
          <a:p>
            <a:pPr>
              <a:defRPr/>
            </a:pPr>
            <a:endParaRPr lang="en-US" altLang="en-US" sz="3200" dirty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960965"/>
              </p:ext>
            </p:extLst>
          </p:nvPr>
        </p:nvGraphicFramePr>
        <p:xfrm>
          <a:off x="5583555" y="1598930"/>
          <a:ext cx="5153025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8449056" imgH="7572858" progId="Excel.Chart.8">
                  <p:embed followColorScheme="full"/>
                </p:oleObj>
              </mc:Choice>
              <mc:Fallback>
                <p:oleObj name="Chart" r:id="rId4" imgW="8449056" imgH="7572858" progId="Excel.Chart.8">
                  <p:embed followColorScheme="full"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555" y="1598930"/>
                        <a:ext cx="5153025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794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9" name="Rectangle 1026"/>
          <p:cNvSpPr>
            <a:spLocks noChangeArrowheads="1"/>
          </p:cNvSpPr>
          <p:nvPr/>
        </p:nvSpPr>
        <p:spPr bwMode="auto">
          <a:xfrm>
            <a:off x="190500" y="266700"/>
            <a:ext cx="6248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4400" dirty="0">
                <a:solidFill>
                  <a:schemeClr val="tx2"/>
                </a:solidFill>
              </a:rPr>
              <a:t>More Big-Oh Examples</a:t>
            </a:r>
          </a:p>
        </p:txBody>
      </p:sp>
      <p:sp>
        <p:nvSpPr>
          <p:cNvPr id="13" name="Rectangle 1027"/>
          <p:cNvSpPr>
            <a:spLocks noChangeArrowheads="1"/>
          </p:cNvSpPr>
          <p:nvPr/>
        </p:nvSpPr>
        <p:spPr bwMode="auto">
          <a:xfrm>
            <a:off x="1022350" y="1143000"/>
            <a:ext cx="781843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800" b="1" dirty="0"/>
              <a:t>7n-2</a:t>
            </a:r>
          </a:p>
          <a:p>
            <a:pPr marL="0" indent="0" algn="l" eaLnBrk="1" hangingPunct="1">
              <a:buNone/>
            </a:pPr>
            <a:endParaRPr lang="en-US" altLang="en-US" sz="2800" dirty="0"/>
          </a:p>
        </p:txBody>
      </p:sp>
      <p:sp>
        <p:nvSpPr>
          <p:cNvPr id="15" name="Rectangle 1028"/>
          <p:cNvSpPr>
            <a:spLocks noChangeArrowheads="1"/>
          </p:cNvSpPr>
          <p:nvPr/>
        </p:nvSpPr>
        <p:spPr bwMode="auto">
          <a:xfrm>
            <a:off x="1668463" y="1670050"/>
            <a:ext cx="78184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62865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71550" indent="-17145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1714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17145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180975" lvl="1" indent="0" algn="l">
              <a:buClr>
                <a:schemeClr val="accent2"/>
              </a:buClr>
              <a:buSzPct val="75000"/>
              <a:buNone/>
              <a:defRPr/>
            </a:pPr>
            <a:r>
              <a:rPr lang="en-US" altLang="en-US" sz="2000" dirty="0"/>
              <a:t>7n-2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 dirty="0"/>
              <a:t>is O(n),</a:t>
            </a:r>
          </a:p>
          <a:p>
            <a:pPr marL="400050" lvl="1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dirty="0"/>
              <a:t>need c &gt; 0 and n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 1 such that</a:t>
            </a:r>
            <a:r>
              <a:rPr lang="en-US" altLang="en-US" sz="2000" dirty="0"/>
              <a:t> 7n-2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dirty="0" err="1">
                <a:sym typeface="Symbol" panose="05050102010706020507" pitchFamily="18" charset="2"/>
              </a:rPr>
              <a:t>c</a:t>
            </a:r>
            <a:r>
              <a:rPr lang="en-US" altLang="en-US" sz="2000" dirty="0" err="1">
                <a:cs typeface="Arial" panose="020B0604020202020204" pitchFamily="34" charset="0"/>
                <a:sym typeface="Symbol" panose="05050102010706020507" pitchFamily="18" charset="2"/>
              </a:rPr>
              <a:t>•n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 for n </a:t>
            </a:r>
            <a:r>
              <a:rPr lang="en-US" altLang="en-US" sz="2000" dirty="0">
                <a:sym typeface="Symbol" panose="05050102010706020507" pitchFamily="18" charset="2"/>
              </a:rPr>
              <a:t> n</a:t>
            </a:r>
            <a:r>
              <a:rPr lang="en-US" altLang="en-US" sz="2000" baseline="-25000" dirty="0">
                <a:sym typeface="Symbol" panose="05050102010706020507" pitchFamily="18" charset="2"/>
              </a:rPr>
              <a:t>0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marL="400050" lvl="1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this is true for c = 7 and </a:t>
            </a:r>
            <a:r>
              <a:rPr lang="en-US" altLang="en-US" sz="2000" dirty="0"/>
              <a:t>n</a:t>
            </a:r>
            <a:r>
              <a:rPr lang="en-US" altLang="en-US" sz="2000" baseline="-25000" dirty="0"/>
              <a:t>0</a:t>
            </a:r>
            <a:r>
              <a:rPr lang="en-US" altLang="en-US" sz="2000" dirty="0">
                <a:sym typeface="Symbol" panose="05050102010706020507" pitchFamily="18" charset="2"/>
              </a:rPr>
              <a:t> = 1</a:t>
            </a:r>
            <a:endParaRPr lang="en-US" altLang="en-US" sz="2000" baseline="-25000" dirty="0"/>
          </a:p>
          <a:p>
            <a:pPr marL="0" indent="0" algn="l" eaLnBrk="1" hangingPunct="1">
              <a:buClr>
                <a:schemeClr val="accent2"/>
              </a:buClr>
              <a:buSzPct val="75000"/>
              <a:buNone/>
            </a:pPr>
            <a:endParaRPr lang="en-US" altLang="en-US" sz="2000" dirty="0"/>
          </a:p>
        </p:txBody>
      </p:sp>
      <p:sp>
        <p:nvSpPr>
          <p:cNvPr id="16" name="Rectangle 1029"/>
          <p:cNvSpPr>
            <a:spLocks noChangeArrowheads="1"/>
          </p:cNvSpPr>
          <p:nvPr/>
        </p:nvSpPr>
        <p:spPr bwMode="auto">
          <a:xfrm>
            <a:off x="1022350" y="2819400"/>
            <a:ext cx="781843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62865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71550" indent="-17145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1714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17145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800" b="1" dirty="0"/>
              <a:t>3n</a:t>
            </a:r>
            <a:r>
              <a:rPr lang="en-US" altLang="en-US" sz="2800" b="1" baseline="30000" dirty="0"/>
              <a:t>3</a:t>
            </a:r>
            <a:r>
              <a:rPr lang="en-US" altLang="en-US" sz="2800" b="1" dirty="0"/>
              <a:t> + 20n</a:t>
            </a:r>
            <a:r>
              <a:rPr lang="en-US" altLang="en-US" sz="2800" b="1" baseline="30000" dirty="0"/>
              <a:t>2</a:t>
            </a:r>
            <a:r>
              <a:rPr lang="en-US" altLang="en-US" sz="2800" b="1" dirty="0"/>
              <a:t> + 5</a:t>
            </a:r>
          </a:p>
          <a:p>
            <a:pPr marL="0" indent="0" algn="l" eaLnBrk="1" hangingPunct="1">
              <a:buClr>
                <a:schemeClr val="accent2"/>
              </a:buClr>
              <a:buSzPct val="75000"/>
              <a:buNone/>
            </a:pPr>
            <a:endParaRPr lang="en-US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" name="Rectangle 1030"/>
          <p:cNvSpPr>
            <a:spLocks noChangeArrowheads="1"/>
          </p:cNvSpPr>
          <p:nvPr/>
        </p:nvSpPr>
        <p:spPr bwMode="auto">
          <a:xfrm>
            <a:off x="1638300" y="332105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62865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71550" indent="-17145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1714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17145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180975" lvl="1" indent="0" algn="l">
              <a:buClr>
                <a:schemeClr val="accent2"/>
              </a:buClr>
              <a:buSzPct val="75000"/>
              <a:buNone/>
              <a:defRPr/>
            </a:pPr>
            <a:r>
              <a:rPr lang="en-US" altLang="en-US" sz="2000" b="1" dirty="0"/>
              <a:t>3n</a:t>
            </a:r>
            <a:r>
              <a:rPr lang="en-US" altLang="en-US" sz="2000" b="1" baseline="30000" dirty="0"/>
              <a:t>3</a:t>
            </a:r>
            <a:r>
              <a:rPr lang="en-US" altLang="en-US" sz="2000" dirty="0"/>
              <a:t> + </a:t>
            </a:r>
            <a:r>
              <a:rPr lang="en-US" altLang="en-US" sz="2000" b="1" dirty="0"/>
              <a:t>20n</a:t>
            </a:r>
            <a:r>
              <a:rPr lang="en-US" altLang="en-US" sz="2000" b="1" baseline="30000" dirty="0"/>
              <a:t>2</a:t>
            </a:r>
            <a:r>
              <a:rPr lang="en-US" altLang="en-US" sz="2000" dirty="0"/>
              <a:t> + 5   is O(</a:t>
            </a:r>
            <a:r>
              <a:rPr lang="en-US" altLang="en-US" sz="2000" b="1" dirty="0"/>
              <a:t>n</a:t>
            </a:r>
            <a:r>
              <a:rPr lang="en-US" altLang="en-US" sz="2000" b="1" baseline="30000" dirty="0"/>
              <a:t>3</a:t>
            </a:r>
            <a:r>
              <a:rPr lang="en-US" altLang="en-US" sz="2000" dirty="0"/>
              <a:t>)</a:t>
            </a:r>
          </a:p>
          <a:p>
            <a:pPr marL="400050" lvl="1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dirty="0"/>
              <a:t>need c &gt; 0 and n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 1 such that</a:t>
            </a:r>
            <a:r>
              <a:rPr lang="en-US" altLang="en-US" sz="2000" dirty="0"/>
              <a:t> 3n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 + 20n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+ 5 </a:t>
            </a:r>
            <a:r>
              <a:rPr lang="en-US" altLang="en-US" sz="2000" dirty="0">
                <a:sym typeface="Symbol" panose="05050102010706020507" pitchFamily="18" charset="2"/>
              </a:rPr>
              <a:t> c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•n</a:t>
            </a:r>
            <a:r>
              <a:rPr lang="en-US" altLang="en-US" sz="2000" baseline="30000" dirty="0"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 for n </a:t>
            </a:r>
            <a:r>
              <a:rPr lang="en-US" altLang="en-US" sz="2000" dirty="0">
                <a:sym typeface="Symbol" panose="05050102010706020507" pitchFamily="18" charset="2"/>
              </a:rPr>
              <a:t> n</a:t>
            </a:r>
            <a:r>
              <a:rPr lang="en-US" altLang="en-US" sz="2000" baseline="-25000" dirty="0">
                <a:sym typeface="Symbol" panose="05050102010706020507" pitchFamily="18" charset="2"/>
              </a:rPr>
              <a:t>0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marL="400050" lvl="1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this is true for c = 4 and </a:t>
            </a:r>
            <a:r>
              <a:rPr lang="en-US" altLang="en-US" sz="2000" dirty="0"/>
              <a:t>n</a:t>
            </a:r>
            <a:r>
              <a:rPr lang="en-US" altLang="en-US" sz="2000" baseline="-25000" dirty="0"/>
              <a:t>0</a:t>
            </a:r>
            <a:r>
              <a:rPr lang="en-US" altLang="en-US" sz="2000" dirty="0">
                <a:sym typeface="Symbol" panose="05050102010706020507" pitchFamily="18" charset="2"/>
              </a:rPr>
              <a:t> = 21</a:t>
            </a:r>
            <a:endParaRPr lang="en-US" altLang="en-US" sz="2000" dirty="0"/>
          </a:p>
        </p:txBody>
      </p:sp>
      <p:sp>
        <p:nvSpPr>
          <p:cNvPr id="18" name="Rectangle 1031"/>
          <p:cNvSpPr>
            <a:spLocks noChangeArrowheads="1"/>
          </p:cNvSpPr>
          <p:nvPr/>
        </p:nvSpPr>
        <p:spPr bwMode="auto">
          <a:xfrm>
            <a:off x="1022350" y="4419600"/>
            <a:ext cx="781843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62865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71550" indent="-17145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1714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17145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800" b="1" dirty="0"/>
              <a:t>3 log n + log </a:t>
            </a:r>
            <a:r>
              <a:rPr lang="en-US" altLang="en-US" sz="2800" b="1" dirty="0" err="1"/>
              <a:t>log</a:t>
            </a:r>
            <a:r>
              <a:rPr lang="en-US" altLang="en-US" sz="2800" b="1" dirty="0"/>
              <a:t> n</a:t>
            </a:r>
          </a:p>
        </p:txBody>
      </p:sp>
      <p:sp>
        <p:nvSpPr>
          <p:cNvPr id="19" name="Rectangle 1032"/>
          <p:cNvSpPr>
            <a:spLocks noChangeArrowheads="1"/>
          </p:cNvSpPr>
          <p:nvPr/>
        </p:nvSpPr>
        <p:spPr bwMode="auto">
          <a:xfrm>
            <a:off x="1714500" y="4997450"/>
            <a:ext cx="8458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62865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71550" indent="-17145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1714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17145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180975" lvl="1" indent="0" algn="l" eaLnBrk="1" hangingPunct="1">
              <a:buClr>
                <a:schemeClr val="accent2"/>
              </a:buClr>
              <a:buSzPct val="75000"/>
              <a:buNone/>
              <a:defRPr/>
            </a:pPr>
            <a:r>
              <a:rPr lang="en-US" altLang="en-US" sz="2000" dirty="0"/>
              <a:t>3 log n + log </a:t>
            </a:r>
            <a:r>
              <a:rPr lang="en-US" altLang="en-US" sz="2000" dirty="0" err="1"/>
              <a:t>log</a:t>
            </a:r>
            <a:r>
              <a:rPr lang="en-US" altLang="en-US" sz="2000" dirty="0"/>
              <a:t> n is O(log n)</a:t>
            </a:r>
          </a:p>
          <a:p>
            <a:pPr marL="180975" lvl="1" indent="0" algn="l" eaLnBrk="1" hangingPunct="1">
              <a:buClr>
                <a:schemeClr val="accent2"/>
              </a:buClr>
              <a:buSzPct val="75000"/>
              <a:buNone/>
              <a:defRPr/>
            </a:pPr>
            <a:r>
              <a:rPr lang="en-US" altLang="en-US" sz="2000" dirty="0"/>
              <a:t>need c &gt; 0 and n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 1 such that</a:t>
            </a:r>
            <a:r>
              <a:rPr lang="en-US" altLang="en-US" sz="2000" dirty="0"/>
              <a:t> 3 log n + log </a:t>
            </a:r>
            <a:r>
              <a:rPr lang="en-US" altLang="en-US" sz="2000" dirty="0" err="1"/>
              <a:t>log</a:t>
            </a:r>
            <a:r>
              <a:rPr lang="en-US" altLang="en-US" sz="2000" dirty="0"/>
              <a:t> n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dirty="0" err="1">
                <a:sym typeface="Symbol" panose="05050102010706020507" pitchFamily="18" charset="2"/>
              </a:rPr>
              <a:t>c</a:t>
            </a:r>
            <a:r>
              <a:rPr lang="en-US" altLang="en-US" sz="2000" dirty="0" err="1">
                <a:cs typeface="Arial" panose="020B0604020202020204" pitchFamily="34" charset="0"/>
                <a:sym typeface="Symbol" panose="05050102010706020507" pitchFamily="18" charset="2"/>
              </a:rPr>
              <a:t>•log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 n for n </a:t>
            </a:r>
            <a:r>
              <a:rPr lang="en-US" altLang="en-US" sz="2000" dirty="0">
                <a:sym typeface="Symbol" panose="05050102010706020507" pitchFamily="18" charset="2"/>
              </a:rPr>
              <a:t> n</a:t>
            </a:r>
            <a:r>
              <a:rPr lang="en-US" altLang="en-US" sz="2000" baseline="-25000" dirty="0">
                <a:sym typeface="Symbol" panose="05050102010706020507" pitchFamily="18" charset="2"/>
              </a:rPr>
              <a:t>0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marL="400050" lvl="1" indent="0" algn="l" eaLnBrk="1" hangingPunct="1">
              <a:buClr>
                <a:schemeClr val="accent2"/>
              </a:buClr>
              <a:buSzPct val="75000"/>
              <a:buNone/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this is true for c = 4 and </a:t>
            </a:r>
            <a:r>
              <a:rPr lang="en-US" altLang="en-US" sz="2000" dirty="0"/>
              <a:t>n</a:t>
            </a:r>
            <a:r>
              <a:rPr lang="en-US" altLang="en-US" sz="2000" baseline="-25000" dirty="0"/>
              <a:t>0</a:t>
            </a:r>
            <a:r>
              <a:rPr lang="en-US" altLang="en-US" sz="2000" dirty="0">
                <a:sym typeface="Symbol" panose="05050102010706020507" pitchFamily="18" charset="2"/>
              </a:rPr>
              <a:t> = 2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989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7" grpId="0" autoUpdateAnimBg="0"/>
      <p:bldP spid="1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07950" y="-93608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Big-Oh and Growth Rate</a:t>
            </a:r>
          </a:p>
        </p:txBody>
      </p:sp>
      <p:sp>
        <p:nvSpPr>
          <p:cNvPr id="2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869950" y="1496804"/>
            <a:ext cx="10267950" cy="2590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dirty="0"/>
              <a:t>- The big-Oh notation gives an upper bound on the growth rate of a function</a:t>
            </a:r>
          </a:p>
          <a:p>
            <a:pPr algn="l"/>
            <a:r>
              <a:rPr lang="en-US" altLang="en-US" dirty="0"/>
              <a:t>- The statement “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dirty="0"/>
              <a:t>is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en-US" dirty="0"/>
              <a:t>” means that the growth rate of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dirty="0"/>
              <a:t>is no more than the growth rate of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algn="l"/>
            <a:r>
              <a:rPr lang="en-US" altLang="en-US" dirty="0"/>
              <a:t>- We can use the big-Oh notation to rank functions according to their growth rate.</a:t>
            </a:r>
          </a:p>
        </p:txBody>
      </p:sp>
      <p:graphicFrame>
        <p:nvGraphicFramePr>
          <p:cNvPr id="21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964528"/>
              </p:ext>
            </p:extLst>
          </p:nvPr>
        </p:nvGraphicFramePr>
        <p:xfrm>
          <a:off x="1324864" y="3505557"/>
          <a:ext cx="7239000" cy="1895475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Same growth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296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38150" y="146050"/>
            <a:ext cx="396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Big-Oh Rules</a:t>
            </a: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217930" y="1589087"/>
            <a:ext cx="10345420" cy="411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1028700" algn="l"/>
              </a:tabLst>
            </a:pPr>
            <a:r>
              <a:rPr lang="en-US" altLang="en-US" sz="3200" dirty="0"/>
              <a:t>If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3200" dirty="0"/>
              <a:t> is a polynomial of degree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200" dirty="0"/>
              <a:t>, then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3200" dirty="0"/>
              <a:t> is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3200" dirty="0"/>
              <a:t>, i.e.,  </a:t>
            </a:r>
          </a:p>
          <a:p>
            <a:pPr algn="l">
              <a:tabLst>
                <a:tab pos="1028700" algn="l"/>
              </a:tabLst>
            </a:pPr>
            <a:r>
              <a:rPr lang="en-US" altLang="en-US" sz="2800" dirty="0"/>
              <a:t>	         Drop lower-order terms</a:t>
            </a:r>
          </a:p>
          <a:p>
            <a:pPr marL="1028700" lvl="1" algn="l">
              <a:tabLst>
                <a:tab pos="1028700" algn="l"/>
              </a:tabLst>
            </a:pPr>
            <a:r>
              <a:rPr lang="en-US" altLang="en-US" sz="2800" dirty="0"/>
              <a:t>         Drop constant factors</a:t>
            </a:r>
          </a:p>
          <a:p>
            <a:pPr algn="l">
              <a:tabLst>
                <a:tab pos="1028700" algn="l"/>
              </a:tabLst>
            </a:pPr>
            <a:endParaRPr lang="en-US" altLang="en-US" sz="3200" dirty="0"/>
          </a:p>
          <a:p>
            <a:pPr algn="l">
              <a:tabLst>
                <a:tab pos="1028700" algn="l"/>
              </a:tabLst>
            </a:pPr>
            <a:r>
              <a:rPr lang="en-US" altLang="en-US" sz="3200" dirty="0"/>
              <a:t>Use the smallest possible class of functions</a:t>
            </a:r>
          </a:p>
          <a:p>
            <a:pPr marL="1028700" lvl="1" algn="l">
              <a:tabLst>
                <a:tab pos="1028700" algn="l"/>
              </a:tabLst>
            </a:pPr>
            <a:r>
              <a:rPr lang="en-US" altLang="en-US" sz="2800" dirty="0"/>
              <a:t>         Say “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dirty="0">
                <a:sym typeface="Symbol" panose="05050102010706020507" pitchFamily="18" charset="2"/>
              </a:rPr>
              <a:t>”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/>
              <a:t>instead of “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dirty="0">
                <a:sym typeface="Symbol" panose="05050102010706020507" pitchFamily="18" charset="2"/>
              </a:rPr>
              <a:t>”</a:t>
            </a:r>
          </a:p>
          <a:p>
            <a:pPr algn="l">
              <a:tabLst>
                <a:tab pos="1028700" algn="l"/>
              </a:tabLst>
            </a:pPr>
            <a:endParaRPr lang="en-US" altLang="en-US" sz="3200" dirty="0">
              <a:sym typeface="Symbol" panose="05050102010706020507" pitchFamily="18" charset="2"/>
            </a:endParaRPr>
          </a:p>
          <a:p>
            <a:pPr algn="l">
              <a:tabLst>
                <a:tab pos="1028700" algn="l"/>
              </a:tabLst>
            </a:pPr>
            <a:r>
              <a:rPr lang="en-US" altLang="en-US" sz="3200" dirty="0">
                <a:sym typeface="Symbol" panose="05050102010706020507" pitchFamily="18" charset="2"/>
              </a:rPr>
              <a:t>Use the simplest expression of the class</a:t>
            </a:r>
          </a:p>
          <a:p>
            <a:pPr marL="1028700" lvl="1" algn="l">
              <a:tabLst>
                <a:tab pos="1028700" algn="l"/>
              </a:tabLst>
            </a:pPr>
            <a:r>
              <a:rPr lang="en-US" altLang="en-US" sz="2800" dirty="0"/>
              <a:t>         Say </a:t>
            </a:r>
            <a:r>
              <a:rPr lang="en-US" alt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“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  <a:sym typeface="Symbol" panose="05050102010706020507" pitchFamily="18" charset="2"/>
              </a:rPr>
              <a:t>”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/>
              <a:t>instead of </a:t>
            </a:r>
            <a:r>
              <a:rPr lang="en-US" alt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“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(3</a:t>
            </a:r>
            <a:r>
              <a:rPr lang="en-US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  <a:sym typeface="Symbol" panose="05050102010706020507" pitchFamily="18" charset="2"/>
              </a:rPr>
              <a:t>”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12028314" y="1784578"/>
            <a:ext cx="6303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tabLst>
                <a:tab pos="1028700" algn="l"/>
              </a:tabLst>
            </a:pPr>
            <a:r>
              <a:rPr lang="ar-SA" altLang="en-US" sz="800" dirty="0"/>
              <a:t>متعددة الحدود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869934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73050" y="259080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</a:rPr>
              <a:t>Asymptotic Algorithm Analysis</a:t>
            </a:r>
          </a:p>
        </p:txBody>
      </p:sp>
      <p:sp>
        <p:nvSpPr>
          <p:cNvPr id="13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17807" y="944879"/>
            <a:ext cx="10973608" cy="5547995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altLang="en-US" dirty="0"/>
              <a:t>-The asymptotic analysis of an algorithm determines the running time in big-Oh</a:t>
            </a:r>
          </a:p>
          <a:p>
            <a:pPr algn="l"/>
            <a:r>
              <a:rPr lang="en-US" altLang="en-US" dirty="0"/>
              <a:t>  notation</a:t>
            </a:r>
          </a:p>
          <a:p>
            <a:pPr algn="l"/>
            <a:r>
              <a:rPr lang="en-US" altLang="en-US" dirty="0"/>
              <a:t>- To perform the asymptotic analysis.</a:t>
            </a:r>
          </a:p>
          <a:p>
            <a:pPr marL="1028700" lvl="1" indent="-228600" algn="l"/>
            <a:r>
              <a:rPr lang="en-US" altLang="en-US" dirty="0"/>
              <a:t>     We find the worst-case number of primitive operations executed as a function of the </a:t>
            </a:r>
            <a:endParaRPr lang="ar-EG" altLang="en-US" dirty="0"/>
          </a:p>
          <a:p>
            <a:pPr marL="1028700" lvl="1" indent="-228600" algn="l"/>
            <a:r>
              <a:rPr lang="ar-EG" altLang="en-US" dirty="0"/>
              <a:t>  </a:t>
            </a:r>
            <a:r>
              <a:rPr lang="en-US" altLang="en-US" dirty="0"/>
              <a:t>input size,   We express this function with big-Oh notation</a:t>
            </a:r>
          </a:p>
          <a:p>
            <a:pPr algn="l"/>
            <a:r>
              <a:rPr lang="en-US" altLang="en-US" dirty="0"/>
              <a:t>- Example:</a:t>
            </a:r>
          </a:p>
          <a:p>
            <a:pPr marL="176213" lvl="1" algn="l"/>
            <a:r>
              <a:rPr lang="en-US" altLang="en-US" dirty="0"/>
              <a:t>                      We determine that algorithm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dirty="0"/>
              <a:t> executes at most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dirty="0"/>
              <a:t>primitive operations</a:t>
            </a:r>
          </a:p>
          <a:p>
            <a:pPr marL="1028700" lvl="1" indent="-228600" algn="l"/>
            <a:r>
              <a:rPr lang="en-US" altLang="en-US" dirty="0"/>
              <a:t>                      We say that algorithm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dirty="0"/>
              <a:t> “runs in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dirty="0"/>
              <a:t>time”</a:t>
            </a:r>
          </a:p>
          <a:p>
            <a:pPr algn="l"/>
            <a:r>
              <a:rPr lang="en-US" altLang="en-US" dirty="0"/>
              <a:t>Since constant factors and lower-order terms are eventually dropped anyhow, </a:t>
            </a:r>
          </a:p>
          <a:p>
            <a:pPr algn="l"/>
            <a:r>
              <a:rPr lang="en-US" altLang="en-US" dirty="0"/>
              <a:t>we can disregard/</a:t>
            </a:r>
            <a:r>
              <a:rPr lang="en-US" altLang="en-US" dirty="0" err="1"/>
              <a:t>Igno</a:t>
            </a:r>
            <a:r>
              <a:rPr lang="en-US" altLang="en-US" dirty="0"/>
              <a:t> them when counting primitive operations (</a:t>
            </a:r>
            <a:r>
              <a:rPr lang="en-US" altLang="en-US" sz="1600" dirty="0"/>
              <a:t>means the 7 and 1).</a:t>
            </a:r>
          </a:p>
          <a:p>
            <a:pPr algn="l"/>
            <a:endParaRPr lang="en-US" altLang="en-US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alt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summary</a:t>
            </a:r>
            <a:r>
              <a:rPr lang="en-US" altLang="en-US" dirty="0">
                <a:solidFill>
                  <a:srgbClr val="0070C0"/>
                </a:solidFill>
              </a:rPr>
              <a:t>, Asymptotic Algorithm Analysis helps in understanding the </a:t>
            </a:r>
          </a:p>
          <a:p>
            <a:pPr algn="l"/>
            <a:r>
              <a:rPr lang="en-US" altLang="en-US" dirty="0">
                <a:solidFill>
                  <a:srgbClr val="0070C0"/>
                </a:solidFill>
              </a:rPr>
              <a:t>efficiency of algorithms by describing their performance in terms of growth rates, </a:t>
            </a:r>
          </a:p>
          <a:p>
            <a:pPr algn="l"/>
            <a:r>
              <a:rPr lang="en-US" altLang="en-US" dirty="0">
                <a:solidFill>
                  <a:srgbClr val="0070C0"/>
                </a:solidFill>
              </a:rPr>
              <a:t>providing a clear comparison and evaluation of algorithms based on their scalability</a:t>
            </a:r>
          </a:p>
          <a:p>
            <a:pPr algn="l"/>
            <a:r>
              <a:rPr lang="en-US" altLang="en-US" dirty="0">
                <a:solidFill>
                  <a:srgbClr val="0070C0"/>
                </a:solidFill>
              </a:rPr>
              <a:t> with large inputs.</a:t>
            </a:r>
          </a:p>
        </p:txBody>
      </p:sp>
    </p:spTree>
    <p:extLst>
      <p:ext uri="{BB962C8B-B14F-4D97-AF65-F5344CB8AC3E}">
        <p14:creationId xmlns:p14="http://schemas.microsoft.com/office/powerpoint/2010/main" val="305365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-425450" y="127000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>
                <a:solidFill>
                  <a:schemeClr val="accent5">
                    <a:lumMod val="75000"/>
                  </a:schemeClr>
                </a:solidFill>
              </a:rPr>
              <a:t>Computing Prefix Averages</a:t>
            </a:r>
            <a:endParaRPr lang="en-US" altLang="en-US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08050" y="1347787"/>
            <a:ext cx="6807200" cy="404717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- We further illustrate asymptotic analysis with two algorithms for prefix averages</a:t>
            </a:r>
          </a:p>
          <a:p>
            <a:pPr algn="l"/>
            <a:r>
              <a:rPr lang="en-US" altLang="en-US" sz="2800" dirty="0"/>
              <a:t>- The 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800" dirty="0" err="1"/>
              <a:t>-th</a:t>
            </a:r>
            <a:r>
              <a:rPr lang="en-US" altLang="en-US" sz="2800" dirty="0"/>
              <a:t> prefix average of an array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800" dirty="0"/>
              <a:t> is average of the first 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1) </a:t>
            </a:r>
            <a:r>
              <a:rPr lang="en-US" altLang="en-US" sz="2800" dirty="0"/>
              <a:t>elements of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800" b="1" dirty="0">
                <a:latin typeface="Times New Roman" panose="02020603050405020304" pitchFamily="18" charset="0"/>
              </a:rPr>
              <a:t>:</a:t>
            </a:r>
            <a:endParaRPr lang="en-US" altLang="en-US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= 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[0]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[1]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…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])/(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+1)</a:t>
            </a:r>
          </a:p>
          <a:p>
            <a:pPr algn="l"/>
            <a:endParaRPr lang="en-US" altLang="en-US" sz="900" dirty="0"/>
          </a:p>
          <a:p>
            <a:pPr algn="l"/>
            <a:r>
              <a:rPr lang="en-US" altLang="en-US" sz="2800" dirty="0"/>
              <a:t>- Computing the array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A</a:t>
            </a:r>
            <a:r>
              <a:rPr lang="en-US" altLang="en-US" sz="2800" dirty="0"/>
              <a:t> of prefix averages of another array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800" dirty="0"/>
              <a:t> has applications to </a:t>
            </a:r>
            <a:r>
              <a:rPr lang="en-US" altLang="en-US" sz="2800" dirty="0">
                <a:solidFill>
                  <a:srgbClr val="009999"/>
                </a:solidFill>
              </a:rPr>
              <a:t>financial analysis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648664"/>
              </p:ext>
            </p:extLst>
          </p:nvPr>
        </p:nvGraphicFramePr>
        <p:xfrm>
          <a:off x="8329613" y="1072019"/>
          <a:ext cx="3778567" cy="3821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343656" imgH="4057904" progId="Excel.Sheet.8">
                  <p:embed/>
                </p:oleObj>
              </mc:Choice>
              <mc:Fallback>
                <p:oleObj name="Worksheet" r:id="rId4" imgW="3343656" imgH="4057904" progId="Excel.Sheet.8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9613" y="1072019"/>
                        <a:ext cx="3778567" cy="3821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8567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-196850" y="-444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chemeClr val="accent5">
                    <a:lumMod val="75000"/>
                  </a:schemeClr>
                </a:solidFill>
              </a:rPr>
              <a:t>Prefix Averages (Quadratic)</a:t>
            </a:r>
          </a:p>
        </p:txBody>
      </p:sp>
      <p:sp>
        <p:nvSpPr>
          <p:cNvPr id="13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339850" y="1343025"/>
            <a:ext cx="103568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The following algorithm computes prefix averages in quadratic time by applying the definition  see </a:t>
            </a:r>
            <a:r>
              <a:rPr lang="en-US" altLang="en-US" sz="2000" dirty="0">
                <a:solidFill>
                  <a:srgbClr val="C00000"/>
                </a:solidFill>
              </a:rPr>
              <a:t>page 32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351" y="2185288"/>
            <a:ext cx="8136732" cy="40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7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69900" y="336430"/>
            <a:ext cx="7772400" cy="806570"/>
          </a:xfrm>
          <a:prstGeom prst="rect">
            <a:avLst/>
          </a:prstGeom>
        </p:spPr>
        <p:txBody>
          <a:bodyPr vert="horz" lIns="91440" tIns="45720" rIns="91440" bIns="45720" rtlCol="1" anchor="b">
            <a:normAutofit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400" dirty="0">
                <a:solidFill>
                  <a:schemeClr val="accent5">
                    <a:lumMod val="75000"/>
                  </a:schemeClr>
                </a:solidFill>
              </a:rPr>
              <a:t>Arithmetic Progression</a:t>
            </a:r>
            <a:endParaRPr lang="en-US" altLang="en-US" sz="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179074" y="1441797"/>
            <a:ext cx="10883900" cy="4343400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200" dirty="0"/>
              <a:t>- The running time of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prefixAverages1 </a:t>
            </a:r>
            <a:r>
              <a:rPr lang="en-US" altLang="en-US" sz="3200" dirty="0"/>
              <a:t>is</a:t>
            </a:r>
            <a:br>
              <a:rPr lang="en-US" altLang="en-US" sz="3200" dirty="0"/>
            </a:br>
            <a:r>
              <a:rPr lang="en-US" altLang="en-US" sz="3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(1 </a:t>
            </a:r>
            <a:r>
              <a:rPr lang="en-US" altLang="en-US" sz="32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32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en-US" sz="32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3200" dirty="0"/>
          </a:p>
          <a:p>
            <a:pPr algn="l"/>
            <a:endParaRPr lang="en-US" altLang="en-US" sz="3200" dirty="0"/>
          </a:p>
          <a:p>
            <a:pPr algn="l"/>
            <a:r>
              <a:rPr lang="en-US" altLang="en-US" sz="3200" dirty="0"/>
              <a:t>- The sum of the first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dirty="0"/>
              <a:t> integers is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1) </a:t>
            </a:r>
            <a:r>
              <a:rPr lang="en-US" altLang="en-US" sz="3200" b="1" dirty="0">
                <a:latin typeface="Symbol" panose="05050102010706020507" pitchFamily="18" charset="2"/>
                <a:sym typeface="Symbol" panose="05050102010706020507" pitchFamily="18" charset="2"/>
              </a:rPr>
              <a:t>/ 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lvl="1" algn="l"/>
            <a:r>
              <a:rPr lang="en-US" altLang="en-US" sz="2800" dirty="0">
                <a:sym typeface="Symbol" panose="05050102010706020507" pitchFamily="18" charset="2"/>
              </a:rPr>
              <a:t>     There is a simple visual proof of this fact</a:t>
            </a:r>
          </a:p>
          <a:p>
            <a:pPr algn="l"/>
            <a:r>
              <a:rPr lang="en-US" altLang="en-US" sz="3200" dirty="0"/>
              <a:t>- Thus, algorithm </a:t>
            </a:r>
            <a:r>
              <a:rPr lang="en-US" altLang="en-US" sz="3200" b="1" i="1" dirty="0">
                <a:latin typeface="Times New Roman" panose="02020603050405020304" pitchFamily="18" charset="0"/>
              </a:rPr>
              <a:t>prefixAverages1 </a:t>
            </a:r>
            <a:r>
              <a:rPr lang="en-US" altLang="en-US" sz="3200" dirty="0"/>
              <a:t>runs in 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3200" dirty="0"/>
              <a:t>time  for inner loop  </a:t>
            </a:r>
          </a:p>
          <a:p>
            <a:pPr algn="l"/>
            <a:r>
              <a:rPr lang="en-US" altLang="en-US" dirty="0">
                <a:solidFill>
                  <a:srgbClr val="C00000"/>
                </a:solidFill>
              </a:rPr>
              <a:t>details are in page 32</a:t>
            </a:r>
          </a:p>
        </p:txBody>
      </p:sp>
    </p:spTree>
    <p:extLst>
      <p:ext uri="{BB962C8B-B14F-4D97-AF65-F5344CB8AC3E}">
        <p14:creationId xmlns:p14="http://schemas.microsoft.com/office/powerpoint/2010/main" val="3901673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78621" y="2667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chemeClr val="accent5">
                    <a:lumMod val="75000"/>
                  </a:schemeClr>
                </a:solidFill>
              </a:rPr>
              <a:t>Prefix Averages (Linear)</a:t>
            </a:r>
          </a:p>
        </p:txBody>
      </p:sp>
      <p:sp>
        <p:nvSpPr>
          <p:cNvPr id="12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297270"/>
            <a:ext cx="784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The following algorithm computes prefix averages in linear time by keeping a running sum</a:t>
            </a:r>
            <a:endParaRPr lang="en-US" altLang="en-US" sz="24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058275" y="5698556"/>
            <a:ext cx="7848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000" dirty="0"/>
              <a:t>Algorithm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prefixAverages2 </a:t>
            </a:r>
            <a:r>
              <a:rPr lang="en-US" altLang="en-US" sz="2000" dirty="0"/>
              <a:t>runs in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000" dirty="0"/>
              <a:t>time is much better than the time of prefix 1</a:t>
            </a:r>
          </a:p>
        </p:txBody>
      </p:sp>
      <p:pic>
        <p:nvPicPr>
          <p:cNvPr id="15" name="صورة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1" y="2506409"/>
            <a:ext cx="6574329" cy="293122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662" y="1416494"/>
            <a:ext cx="4285571" cy="214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13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10" name="Rectangle 8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90479" y="1168945"/>
            <a:ext cx="80772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- Summations  (Sec. 1.3.1)</a:t>
            </a: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- Logarithms and Exponents (Sec. 1.3.2)</a:t>
            </a: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>
              <a:solidFill>
                <a:srgbClr val="009999"/>
              </a:solidFill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>
              <a:solidFill>
                <a:srgbClr val="009999"/>
              </a:solidFill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>
              <a:solidFill>
                <a:srgbClr val="009999"/>
              </a:solidFill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>
              <a:solidFill>
                <a:srgbClr val="009999"/>
              </a:solidFill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>
              <a:solidFill>
                <a:srgbClr val="009999"/>
              </a:solidFill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- Proof techniques (Sec. 1.3.3)</a:t>
            </a: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- Basic probability (Sec. 1.3.4)</a:t>
            </a:r>
            <a:br>
              <a:rPr lang="en-US" altLang="en-US" sz="2400" dirty="0"/>
            </a:br>
            <a:endParaRPr lang="en-US" altLang="en-US" sz="1600" dirty="0"/>
          </a:p>
        </p:txBody>
      </p:sp>
      <p:sp>
        <p:nvSpPr>
          <p:cNvPr id="13" name="Rectangle 9"/>
          <p:cNvSpPr txBox="1">
            <a:spLocks noChangeArrowheads="1"/>
          </p:cNvSpPr>
          <p:nvPr/>
        </p:nvSpPr>
        <p:spPr>
          <a:xfrm>
            <a:off x="222522" y="-76668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>
                <a:solidFill>
                  <a:schemeClr val="accent5">
                    <a:lumMod val="75000"/>
                  </a:schemeClr>
                </a:solidFill>
              </a:rPr>
              <a:t>Math you need to Review</a:t>
            </a:r>
          </a:p>
        </p:txBody>
      </p:sp>
      <p:sp>
        <p:nvSpPr>
          <p:cNvPr id="1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6877009" y="1066331"/>
            <a:ext cx="4114800" cy="5230951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b="1" dirty="0">
                <a:solidFill>
                  <a:srgbClr val="FF1414"/>
                </a:solidFill>
              </a:rPr>
              <a:t>properties of logarithms:</a:t>
            </a:r>
            <a:endParaRPr lang="en-US" altLang="en-US" sz="2800" dirty="0"/>
          </a:p>
          <a:p>
            <a:pPr lvl="1" algn="l">
              <a:buFont typeface="Wingdings" panose="05000000000000000000" pitchFamily="2" charset="2"/>
              <a:buNone/>
            </a:pP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/>
              <a:t>(</a:t>
            </a:r>
            <a:r>
              <a:rPr lang="en-US" altLang="en-US" sz="2800" dirty="0" err="1"/>
              <a:t>xy</a:t>
            </a:r>
            <a:r>
              <a:rPr lang="en-US" altLang="en-US" sz="2800" dirty="0"/>
              <a:t>) = 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x</a:t>
            </a:r>
            <a:r>
              <a:rPr lang="en-US" altLang="en-US" sz="2800" dirty="0"/>
              <a:t> + 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y</a:t>
            </a:r>
            <a:endParaRPr lang="en-US" altLang="en-US" sz="2800" dirty="0"/>
          </a:p>
          <a:p>
            <a:pPr lvl="1" algn="l">
              <a:buFont typeface="Wingdings" panose="05000000000000000000" pitchFamily="2" charset="2"/>
              <a:buNone/>
            </a:pP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/>
              <a:t> (x/y) = 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x</a:t>
            </a:r>
            <a:r>
              <a:rPr lang="en-US" altLang="en-US" sz="2800" dirty="0"/>
              <a:t> - 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y</a:t>
            </a:r>
            <a:endParaRPr lang="en-US" altLang="en-US" sz="2800" dirty="0"/>
          </a:p>
          <a:p>
            <a:pPr lvl="1" algn="l">
              <a:buFont typeface="Wingdings" panose="05000000000000000000" pitchFamily="2" charset="2"/>
              <a:buNone/>
            </a:pP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x</a:t>
            </a:r>
            <a:r>
              <a:rPr lang="en-US" altLang="en-US" sz="2800" baseline="30000" dirty="0" err="1"/>
              <a:t>a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alog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x</a:t>
            </a:r>
            <a:endParaRPr lang="en-US" altLang="en-US" sz="2800" dirty="0"/>
          </a:p>
          <a:p>
            <a:pPr lvl="1" algn="l">
              <a:buFont typeface="Wingdings" panose="05000000000000000000" pitchFamily="2" charset="2"/>
              <a:buNone/>
            </a:pP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b</a:t>
            </a:r>
            <a:r>
              <a:rPr lang="en-US" altLang="en-US" sz="2800" dirty="0" err="1"/>
              <a:t>a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x</a:t>
            </a:r>
            <a:r>
              <a:rPr lang="en-US" altLang="en-US" sz="2800" dirty="0" err="1"/>
              <a:t>a</a:t>
            </a:r>
            <a:r>
              <a:rPr lang="en-US" altLang="en-US" sz="2800" dirty="0"/>
              <a:t>/</a:t>
            </a:r>
            <a:r>
              <a:rPr lang="en-US" altLang="en-US" sz="2800" dirty="0" err="1"/>
              <a:t>log</a:t>
            </a:r>
            <a:r>
              <a:rPr lang="en-US" altLang="en-US" sz="2800" baseline="-25000" dirty="0" err="1"/>
              <a:t>x</a:t>
            </a:r>
            <a:r>
              <a:rPr lang="en-US" altLang="en-US" sz="2800" dirty="0" err="1"/>
              <a:t>b</a:t>
            </a:r>
            <a:endParaRPr lang="en-US" altLang="en-US" sz="2800" dirty="0"/>
          </a:p>
          <a:p>
            <a:pPr algn="l"/>
            <a:r>
              <a:rPr lang="en-US" altLang="en-US" sz="2800" b="1" dirty="0">
                <a:solidFill>
                  <a:srgbClr val="3028FF"/>
                </a:solidFill>
              </a:rPr>
              <a:t>properties of exponentials</a:t>
            </a:r>
            <a:r>
              <a:rPr lang="en-US" altLang="en-US" sz="2800" dirty="0">
                <a:solidFill>
                  <a:srgbClr val="3028FF"/>
                </a:solidFill>
              </a:rPr>
              <a:t>:</a:t>
            </a:r>
            <a:endParaRPr lang="en-US" altLang="en-US" sz="2800" dirty="0"/>
          </a:p>
          <a:p>
            <a:pPr lvl="1"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a</a:t>
            </a:r>
            <a:r>
              <a:rPr lang="en-US" altLang="en-US" sz="2800" baseline="30000" dirty="0"/>
              <a:t>(</a:t>
            </a:r>
            <a:r>
              <a:rPr lang="en-US" altLang="en-US" sz="2800" baseline="30000" dirty="0" err="1"/>
              <a:t>b+c</a:t>
            </a:r>
            <a:r>
              <a:rPr lang="en-US" altLang="en-US" sz="2800" baseline="30000" dirty="0"/>
              <a:t>)</a:t>
            </a:r>
            <a:r>
              <a:rPr lang="en-US" altLang="en-US" sz="2800" dirty="0"/>
              <a:t> = a</a:t>
            </a:r>
            <a:r>
              <a:rPr lang="en-US" altLang="en-US" sz="2800" baseline="30000" dirty="0"/>
              <a:t>b</a:t>
            </a:r>
            <a:r>
              <a:rPr lang="en-US" altLang="en-US" sz="2800" dirty="0"/>
              <a:t>a </a:t>
            </a:r>
            <a:r>
              <a:rPr lang="en-US" altLang="en-US" sz="2800" baseline="30000" dirty="0"/>
              <a:t>c</a:t>
            </a:r>
            <a:endParaRPr lang="en-US" altLang="en-US" sz="2800" dirty="0"/>
          </a:p>
          <a:p>
            <a:pPr lvl="1"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/>
              <a:t>a</a:t>
            </a:r>
            <a:r>
              <a:rPr lang="en-US" altLang="en-US" sz="2800" baseline="30000" dirty="0" err="1"/>
              <a:t>bc</a:t>
            </a:r>
            <a:r>
              <a:rPr lang="en-US" altLang="en-US" sz="2800" dirty="0"/>
              <a:t> = (a</a:t>
            </a:r>
            <a:r>
              <a:rPr lang="en-US" altLang="en-US" sz="2800" baseline="30000" dirty="0"/>
              <a:t>b</a:t>
            </a:r>
            <a:r>
              <a:rPr lang="en-US" altLang="en-US" sz="2800" dirty="0"/>
              <a:t>)</a:t>
            </a:r>
            <a:r>
              <a:rPr lang="en-US" altLang="en-US" sz="2800" baseline="30000" dirty="0"/>
              <a:t>c</a:t>
            </a:r>
            <a:endParaRPr lang="en-US" altLang="en-US" sz="2800" dirty="0"/>
          </a:p>
          <a:p>
            <a:pPr lvl="1"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a</a:t>
            </a:r>
            <a:r>
              <a:rPr lang="en-US" altLang="en-US" sz="2800" baseline="30000" dirty="0"/>
              <a:t>b</a:t>
            </a:r>
            <a:r>
              <a:rPr lang="en-US" altLang="en-US" sz="2800" dirty="0"/>
              <a:t> /a</a:t>
            </a:r>
            <a:r>
              <a:rPr lang="en-US" altLang="en-US" sz="2800" baseline="30000" dirty="0"/>
              <a:t>c</a:t>
            </a:r>
            <a:r>
              <a:rPr lang="en-US" altLang="en-US" sz="2800" dirty="0"/>
              <a:t> = a</a:t>
            </a:r>
            <a:r>
              <a:rPr lang="en-US" altLang="en-US" sz="2800" baseline="30000" dirty="0"/>
              <a:t>(b-c)</a:t>
            </a:r>
            <a:endParaRPr lang="en-US" altLang="en-US" sz="2800" dirty="0"/>
          </a:p>
          <a:p>
            <a:pPr lvl="1"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b = a </a:t>
            </a:r>
            <a:r>
              <a:rPr lang="en-US" altLang="en-US" sz="2800" baseline="30000" dirty="0" err="1"/>
              <a:t>log</a:t>
            </a:r>
            <a:r>
              <a:rPr lang="en-US" altLang="en-US" sz="2800" baseline="-11000" dirty="0" err="1"/>
              <a:t>a</a:t>
            </a:r>
            <a:r>
              <a:rPr lang="en-US" altLang="en-US" sz="2800" baseline="30000" dirty="0" err="1"/>
              <a:t>b</a:t>
            </a:r>
            <a:endParaRPr lang="en-US" altLang="en-US" sz="2800" dirty="0"/>
          </a:p>
          <a:p>
            <a:pPr lvl="1"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/>
              <a:t>b</a:t>
            </a:r>
            <a:r>
              <a:rPr lang="en-US" altLang="en-US" sz="2800" baseline="30000" dirty="0" err="1"/>
              <a:t>c</a:t>
            </a:r>
            <a:r>
              <a:rPr lang="en-US" altLang="en-US" sz="2800" dirty="0"/>
              <a:t> = a </a:t>
            </a:r>
            <a:r>
              <a:rPr lang="en-US" altLang="en-US" sz="2800" baseline="30000" dirty="0"/>
              <a:t>c*</a:t>
            </a:r>
            <a:r>
              <a:rPr lang="en-US" altLang="en-US" sz="2800" baseline="30000" dirty="0" err="1"/>
              <a:t>log</a:t>
            </a:r>
            <a:r>
              <a:rPr lang="en-US" altLang="en-US" sz="2800" baseline="-11000" dirty="0" err="1"/>
              <a:t>a</a:t>
            </a:r>
            <a:r>
              <a:rPr lang="en-US" altLang="en-US" sz="2800" baseline="30000" dirty="0" err="1"/>
              <a:t>b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447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89560" y="209317"/>
            <a:ext cx="6629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4400" dirty="0">
                <a:solidFill>
                  <a:schemeClr val="accent5">
                    <a:lumMod val="75000"/>
                  </a:schemeClr>
                </a:solidFill>
              </a:rPr>
              <a:t>Relatives of Big-Oh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812852" y="944880"/>
            <a:ext cx="1112411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None/>
            </a:pPr>
            <a:r>
              <a:rPr lang="en-US" altLang="en-US" sz="2400" b="1" dirty="0"/>
              <a:t>- big-Omega</a:t>
            </a:r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    f(n) is </a:t>
            </a:r>
            <a:r>
              <a:rPr lang="en-US" altLang="en-US" sz="2400" dirty="0">
                <a:sym typeface="Symbol" panose="05050102010706020507" pitchFamily="18" charset="2"/>
              </a:rPr>
              <a:t>(g(n)) if there is a constant c &gt; 0 </a:t>
            </a:r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and an integer constant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 1 such that </a:t>
            </a:r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f(n)  </a:t>
            </a:r>
            <a:r>
              <a:rPr lang="en-US" altLang="en-US" sz="2400" dirty="0" err="1">
                <a:sym typeface="Symbol" panose="05050102010706020507" pitchFamily="18" charset="2"/>
              </a:rPr>
              <a:t>c</a:t>
            </a:r>
            <a:r>
              <a:rPr lang="en-US" altLang="en-US" sz="2400" dirty="0" err="1">
                <a:cs typeface="Arial" panose="020B0604020202020204" pitchFamily="34" charset="0"/>
                <a:sym typeface="Symbol" panose="05050102010706020507" pitchFamily="18" charset="2"/>
              </a:rPr>
              <a:t>•</a:t>
            </a:r>
            <a:r>
              <a:rPr lang="en-US" altLang="en-US" sz="2400" dirty="0" err="1"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sym typeface="Symbol" panose="05050102010706020507" pitchFamily="18" charset="2"/>
              </a:rPr>
              <a:t>(n) for n 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- big-Theta</a:t>
            </a:r>
          </a:p>
          <a:p>
            <a:pPr marL="457200" lvl="1" indent="0" algn="l">
              <a:lnSpc>
                <a:spcPct val="90000"/>
              </a:lnSpc>
              <a:buNone/>
            </a:pPr>
            <a:r>
              <a:rPr lang="en-US" altLang="en-US" sz="2400" dirty="0"/>
              <a:t>    f(n) is </a:t>
            </a:r>
            <a:r>
              <a:rPr lang="en-US" altLang="en-US" sz="2400" dirty="0">
                <a:sym typeface="Symbol" panose="05050102010706020507" pitchFamily="18" charset="2"/>
              </a:rPr>
              <a:t>(g(n)) if there are constants c’ &gt; 0 and c’’ &gt; 0    </a:t>
            </a:r>
          </a:p>
          <a:p>
            <a:pPr marL="457200" lvl="1" indent="0" algn="l">
              <a:lnSpc>
                <a:spcPct val="9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and an integer constant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 1 such that </a:t>
            </a:r>
            <a:r>
              <a:rPr lang="en-US" altLang="en-US" sz="2400" dirty="0" err="1">
                <a:sym typeface="Symbol" panose="05050102010706020507" pitchFamily="18" charset="2"/>
              </a:rPr>
              <a:t>c’</a:t>
            </a:r>
            <a:r>
              <a:rPr lang="en-US" altLang="en-US" sz="2400" dirty="0" err="1">
                <a:cs typeface="Arial" panose="020B0604020202020204" pitchFamily="34" charset="0"/>
                <a:sym typeface="Symbol" panose="05050102010706020507" pitchFamily="18" charset="2"/>
              </a:rPr>
              <a:t>•</a:t>
            </a:r>
            <a:r>
              <a:rPr lang="en-US" altLang="en-US" sz="2400" dirty="0" err="1"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sym typeface="Symbol" panose="05050102010706020507" pitchFamily="18" charset="2"/>
              </a:rPr>
              <a:t>(n)  f(n)  </a:t>
            </a:r>
            <a:r>
              <a:rPr lang="en-US" altLang="en-US" sz="2400" dirty="0" err="1">
                <a:sym typeface="Symbol" panose="05050102010706020507" pitchFamily="18" charset="2"/>
              </a:rPr>
              <a:t>c’’</a:t>
            </a:r>
            <a:r>
              <a:rPr lang="en-US" altLang="en-US" sz="2400" dirty="0" err="1">
                <a:cs typeface="Arial" panose="020B0604020202020204" pitchFamily="34" charset="0"/>
                <a:sym typeface="Symbol" panose="05050102010706020507" pitchFamily="18" charset="2"/>
              </a:rPr>
              <a:t>•</a:t>
            </a:r>
            <a:r>
              <a:rPr lang="en-US" altLang="en-US" sz="2400" dirty="0" err="1"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sym typeface="Symbol" panose="05050102010706020507" pitchFamily="18" charset="2"/>
              </a:rPr>
              <a:t>(n) for n 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 </a:t>
            </a:r>
            <a:endParaRPr lang="en-US" altLang="en-US" sz="2400" dirty="0"/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- little-oh</a:t>
            </a:r>
            <a:endParaRPr lang="en-US" altLang="en-US" sz="2400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    f(n) is </a:t>
            </a:r>
            <a:r>
              <a:rPr lang="en-US" altLang="en-US" sz="2400" dirty="0">
                <a:sym typeface="Symbol" panose="05050102010706020507" pitchFamily="18" charset="2"/>
              </a:rPr>
              <a:t>o(g(n)) if, for any constant c &gt; 0, there is an integer constant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 0 such that f(n)  </a:t>
            </a:r>
            <a:r>
              <a:rPr lang="en-US" altLang="en-US" sz="2400" dirty="0" err="1">
                <a:sym typeface="Symbol" panose="05050102010706020507" pitchFamily="18" charset="2"/>
              </a:rPr>
              <a:t>c</a:t>
            </a:r>
            <a:r>
              <a:rPr lang="en-US" altLang="en-US" sz="2400" dirty="0" err="1">
                <a:cs typeface="Arial" panose="020B0604020202020204" pitchFamily="34" charset="0"/>
                <a:sym typeface="Symbol" panose="05050102010706020507" pitchFamily="18" charset="2"/>
              </a:rPr>
              <a:t>•</a:t>
            </a:r>
            <a:r>
              <a:rPr lang="en-US" altLang="en-US" sz="2400" dirty="0" err="1"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sym typeface="Symbol" panose="05050102010706020507" pitchFamily="18" charset="2"/>
              </a:rPr>
              <a:t>(n) for n 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- little-omega</a:t>
            </a:r>
            <a:endParaRPr lang="en-US" altLang="en-US" sz="2400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(g(n)) if, for any constant c &gt; 0, there is an integer constant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 0 such that f(n)  </a:t>
            </a:r>
            <a:r>
              <a:rPr lang="en-US" altLang="en-US" sz="2400" dirty="0" err="1">
                <a:sym typeface="Symbol" panose="05050102010706020507" pitchFamily="18" charset="2"/>
              </a:rPr>
              <a:t>c</a:t>
            </a:r>
            <a:r>
              <a:rPr lang="en-US" altLang="en-US" sz="2400" dirty="0" err="1">
                <a:cs typeface="Arial" panose="020B0604020202020204" pitchFamily="34" charset="0"/>
                <a:sym typeface="Symbol" panose="05050102010706020507" pitchFamily="18" charset="2"/>
              </a:rPr>
              <a:t>•</a:t>
            </a:r>
            <a:r>
              <a:rPr lang="en-US" altLang="en-US" sz="2400" dirty="0" err="1">
                <a:sym typeface="Symbol" panose="05050102010706020507" pitchFamily="18" charset="2"/>
              </a:rPr>
              <a:t>g</a:t>
            </a:r>
            <a:r>
              <a:rPr lang="en-US" altLang="en-US" sz="2400" dirty="0">
                <a:sym typeface="Symbol" panose="05050102010706020507" pitchFamily="18" charset="2"/>
              </a:rPr>
              <a:t>(n) for n  n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66322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09600" y="304800"/>
            <a:ext cx="7010400" cy="6858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b="1" dirty="0">
                <a:solidFill>
                  <a:schemeClr val="accent5">
                    <a:lumMod val="75000"/>
                  </a:schemeClr>
                </a:solidFill>
              </a:rPr>
              <a:t>Asymptotic Notation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389893" y="1287625"/>
            <a:ext cx="10578172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algn="l" eaLnBrk="1" hangingPunct="1"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chemeClr val="tx2"/>
                </a:solidFill>
              </a:rPr>
              <a:t>Big-Oh</a:t>
            </a:r>
            <a:endParaRPr lang="en-US" altLang="en-US" sz="2400" b="1" dirty="0"/>
          </a:p>
          <a:p>
            <a:pPr marL="457200" lvl="1" indent="0" algn="l" eaLnBrk="1" hangingPunct="1"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O(g(n)) if f(n) is asymptotically </a:t>
            </a:r>
            <a:r>
              <a:rPr lang="en-US" altLang="en-US" sz="2400" b="1" dirty="0">
                <a:sym typeface="Symbol" panose="05050102010706020507" pitchFamily="18" charset="2"/>
              </a:rPr>
              <a:t>less than or equal</a:t>
            </a:r>
            <a:r>
              <a:rPr lang="en-US" altLang="en-US" sz="2400" dirty="0">
                <a:sym typeface="Symbol" panose="05050102010706020507" pitchFamily="18" charset="2"/>
              </a:rPr>
              <a:t> to g(n)</a:t>
            </a:r>
            <a:endParaRPr lang="en-US" altLang="en-US" sz="2000" b="1" dirty="0"/>
          </a:p>
          <a:p>
            <a:pPr marL="0" indent="0" algn="l" eaLnBrk="1" hangingPunct="1"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chemeClr val="tx2"/>
                </a:solidFill>
              </a:rPr>
              <a:t>big-Omega</a:t>
            </a:r>
            <a:endParaRPr lang="en-US" altLang="en-US" sz="2400" b="1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(g(n)) if f(n) is asymptotically </a:t>
            </a:r>
            <a:r>
              <a:rPr lang="en-US" altLang="en-US" sz="2400" b="1" dirty="0">
                <a:sym typeface="Symbol" panose="05050102010706020507" pitchFamily="18" charset="2"/>
              </a:rPr>
              <a:t>greater than or equal</a:t>
            </a:r>
            <a:r>
              <a:rPr lang="en-US" altLang="en-US" sz="2400" dirty="0">
                <a:sym typeface="Symbol" panose="05050102010706020507" pitchFamily="18" charset="2"/>
              </a:rPr>
              <a:t> to g(n)</a:t>
            </a:r>
            <a:endParaRPr lang="en-US" altLang="en-US" sz="2400" baseline="-25000" dirty="0">
              <a:sym typeface="Symbol" panose="05050102010706020507" pitchFamily="18" charset="2"/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chemeClr val="tx2"/>
                </a:solidFill>
              </a:rPr>
              <a:t>big-Theta</a:t>
            </a:r>
            <a:endParaRPr lang="en-US" altLang="en-US" sz="2400" b="1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(g(n)) if f(n) is asymptotically </a:t>
            </a:r>
            <a:r>
              <a:rPr lang="en-US" altLang="en-US" sz="2400" b="1" dirty="0">
                <a:sym typeface="Symbol" panose="05050102010706020507" pitchFamily="18" charset="2"/>
              </a:rPr>
              <a:t>equal</a:t>
            </a:r>
            <a:r>
              <a:rPr lang="en-US" altLang="en-US" sz="2400" dirty="0">
                <a:sym typeface="Symbol" panose="05050102010706020507" pitchFamily="18" charset="2"/>
              </a:rPr>
              <a:t> to g(n)</a:t>
            </a:r>
            <a:endParaRPr lang="en-US" altLang="en-US" sz="2400" dirty="0"/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chemeClr val="tx2"/>
                </a:solidFill>
              </a:rPr>
              <a:t>little-oh</a:t>
            </a:r>
            <a:endParaRPr lang="en-US" altLang="en-US" sz="2400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o(g(n)) if f(n) is asymptotically </a:t>
            </a:r>
            <a:r>
              <a:rPr lang="en-US" altLang="en-US" sz="2400" b="1" dirty="0">
                <a:sym typeface="Symbol" panose="05050102010706020507" pitchFamily="18" charset="2"/>
              </a:rPr>
              <a:t>strictly less</a:t>
            </a:r>
            <a:r>
              <a:rPr lang="en-US" altLang="en-US" sz="2400" dirty="0">
                <a:sym typeface="Symbol" panose="05050102010706020507" pitchFamily="18" charset="2"/>
              </a:rPr>
              <a:t> than g(n)</a:t>
            </a:r>
            <a:endParaRPr lang="en-US" altLang="en-US" sz="2400" baseline="-25000" dirty="0">
              <a:sym typeface="Symbol" panose="05050102010706020507" pitchFamily="18" charset="2"/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	</a:t>
            </a:r>
            <a:r>
              <a:rPr lang="en-US" altLang="en-US" sz="2400" b="1" dirty="0">
                <a:solidFill>
                  <a:schemeClr val="tx2"/>
                </a:solidFill>
              </a:rPr>
              <a:t>little-omega</a:t>
            </a:r>
            <a:endParaRPr lang="en-US" altLang="en-US" sz="2400" dirty="0"/>
          </a:p>
          <a:p>
            <a:pPr marL="457200" lvl="1" indent="0" algn="l" eaLnBrk="1" hangingPunct="1">
              <a:lnSpc>
                <a:spcPct val="90000"/>
              </a:lnSpc>
              <a:buNone/>
            </a:pPr>
            <a:r>
              <a:rPr lang="en-US" altLang="en-US" sz="2400" dirty="0"/>
              <a:t>f(n) is </a:t>
            </a:r>
            <a:r>
              <a:rPr lang="en-US" altLang="en-US" sz="2400" dirty="0">
                <a:sym typeface="Symbol" panose="05050102010706020507" pitchFamily="18" charset="2"/>
              </a:rPr>
              <a:t>(g(n)) if is asymptotically </a:t>
            </a:r>
            <a:r>
              <a:rPr lang="en-US" altLang="en-US" sz="2400" b="1" dirty="0">
                <a:sym typeface="Symbol" panose="05050102010706020507" pitchFamily="18" charset="2"/>
              </a:rPr>
              <a:t>strictly greater</a:t>
            </a:r>
            <a:r>
              <a:rPr lang="en-US" altLang="en-US" sz="2400" dirty="0">
                <a:sym typeface="Symbol" panose="05050102010706020507" pitchFamily="18" charset="2"/>
              </a:rPr>
              <a:t> than g(n)</a:t>
            </a:r>
          </a:p>
        </p:txBody>
      </p:sp>
    </p:spTree>
    <p:extLst>
      <p:ext uri="{BB962C8B-B14F-4D97-AF65-F5344CB8AC3E}">
        <p14:creationId xmlns:p14="http://schemas.microsoft.com/office/powerpoint/2010/main" val="2653292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90800" y="4133185"/>
            <a:ext cx="7010400" cy="68580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The End ..</a:t>
            </a:r>
          </a:p>
          <a:p>
            <a:endParaRPr lang="en-US" alt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This lecture was from</a:t>
            </a:r>
          </a:p>
          <a:p>
            <a:endParaRPr lang="en-US" alt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ar-SA" sz="2800" b="1" dirty="0">
                <a:solidFill>
                  <a:srgbClr val="009999"/>
                </a:solidFill>
              </a:rPr>
              <a:t>Algorithm Design: Foundations, Analysis, and Internet Examples</a:t>
            </a:r>
          </a:p>
          <a:p>
            <a:r>
              <a:rPr lang="en-US" altLang="ar-SA" sz="2800" dirty="0">
                <a:solidFill>
                  <a:srgbClr val="009999"/>
                </a:solidFill>
              </a:rPr>
              <a:t>By Michael T. Goodrich, Roberto </a:t>
            </a:r>
            <a:r>
              <a:rPr lang="en-US" altLang="ar-SA" sz="2800" dirty="0" err="1">
                <a:solidFill>
                  <a:srgbClr val="009999"/>
                </a:solidFill>
              </a:rPr>
              <a:t>Tamassia</a:t>
            </a:r>
            <a:endParaRPr lang="en-US" altLang="ar-SA" sz="2800" dirty="0">
              <a:solidFill>
                <a:srgbClr val="009999"/>
              </a:solidFill>
            </a:endParaRPr>
          </a:p>
          <a:p>
            <a:endParaRPr lang="en-US" altLang="ar-SA" sz="2800" dirty="0">
              <a:solidFill>
                <a:srgbClr val="009999"/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 chapter 1</a:t>
            </a:r>
          </a:p>
        </p:txBody>
      </p:sp>
    </p:spTree>
    <p:extLst>
      <p:ext uri="{BB962C8B-B14F-4D97-AF65-F5344CB8AC3E}">
        <p14:creationId xmlns:p14="http://schemas.microsoft.com/office/powerpoint/2010/main" val="316203889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2698</Words>
  <Application>Microsoft Office PowerPoint</Application>
  <PresentationFormat>Widescreen</PresentationFormat>
  <Paragraphs>354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Arabic Typesetting</vt:lpstr>
      <vt:lpstr>Arial</vt:lpstr>
      <vt:lpstr>Arial Narrow</vt:lpstr>
      <vt:lpstr>Aril</vt:lpstr>
      <vt:lpstr>Calibri</vt:lpstr>
      <vt:lpstr>Calibri Light</vt:lpstr>
      <vt:lpstr>Georgia</vt:lpstr>
      <vt:lpstr>Symbol</vt:lpstr>
      <vt:lpstr>Tahoma</vt:lpstr>
      <vt:lpstr>Times New Roman</vt:lpstr>
      <vt:lpstr>Wingdings</vt:lpstr>
      <vt:lpstr>Wingdings 2</vt:lpstr>
      <vt:lpstr>نسق Office</vt:lpstr>
      <vt:lpstr>Chart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Athar Al-wabel</dc:creator>
  <cp:lastModifiedBy>نواف محمد سويلم الحربى</cp:lastModifiedBy>
  <cp:revision>69</cp:revision>
  <dcterms:created xsi:type="dcterms:W3CDTF">2023-03-18T08:26:15Z</dcterms:created>
  <dcterms:modified xsi:type="dcterms:W3CDTF">2026-01-24T19:18:58Z</dcterms:modified>
</cp:coreProperties>
</file>